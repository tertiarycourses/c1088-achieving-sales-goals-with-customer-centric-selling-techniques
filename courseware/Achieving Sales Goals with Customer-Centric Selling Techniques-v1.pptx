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4" r:id="rId15"/>
    <p:sldId id="265" r:id="rId16"/>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21" r:id="rId172"/>
    <p:sldId id="422" r:id="rId1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 Id="rId58" Type="http://schemas.openxmlformats.org/officeDocument/2006/relationships/slide" Target="slides/slide44.xml"/><Relationship Id="rId59" Type="http://schemas.openxmlformats.org/officeDocument/2006/relationships/slide" Target="slides/slide45.xml"/><Relationship Id="rId60" Type="http://schemas.openxmlformats.org/officeDocument/2006/relationships/slide" Target="slides/slide46.xml"/><Relationship Id="rId61" Type="http://schemas.openxmlformats.org/officeDocument/2006/relationships/slide" Target="slides/slide47.xml"/><Relationship Id="rId62" Type="http://schemas.openxmlformats.org/officeDocument/2006/relationships/slide" Target="slides/slide48.xml"/><Relationship Id="rId63" Type="http://schemas.openxmlformats.org/officeDocument/2006/relationships/slide" Target="slides/slide49.xml"/><Relationship Id="rId64" Type="http://schemas.openxmlformats.org/officeDocument/2006/relationships/slide" Target="slides/slide50.xml"/><Relationship Id="rId65" Type="http://schemas.openxmlformats.org/officeDocument/2006/relationships/slide" Target="slides/slide51.xml"/><Relationship Id="rId66" Type="http://schemas.openxmlformats.org/officeDocument/2006/relationships/slide" Target="slides/slide52.xml"/><Relationship Id="rId67" Type="http://schemas.openxmlformats.org/officeDocument/2006/relationships/slide" Target="slides/slide53.xml"/><Relationship Id="rId68" Type="http://schemas.openxmlformats.org/officeDocument/2006/relationships/slide" Target="slides/slide54.xml"/><Relationship Id="rId69" Type="http://schemas.openxmlformats.org/officeDocument/2006/relationships/slide" Target="slides/slide55.xml"/><Relationship Id="rId70" Type="http://schemas.openxmlformats.org/officeDocument/2006/relationships/slide" Target="slides/slide56.xml"/><Relationship Id="rId71" Type="http://schemas.openxmlformats.org/officeDocument/2006/relationships/slide" Target="slides/slide57.xml"/><Relationship Id="rId72" Type="http://schemas.openxmlformats.org/officeDocument/2006/relationships/slide" Target="slides/slide58.xml"/><Relationship Id="rId73" Type="http://schemas.openxmlformats.org/officeDocument/2006/relationships/slide" Target="slides/slide59.xml"/><Relationship Id="rId74" Type="http://schemas.openxmlformats.org/officeDocument/2006/relationships/slide" Target="slides/slide60.xml"/><Relationship Id="rId75" Type="http://schemas.openxmlformats.org/officeDocument/2006/relationships/slide" Target="slides/slide61.xml"/><Relationship Id="rId76" Type="http://schemas.openxmlformats.org/officeDocument/2006/relationships/slide" Target="slides/slide62.xml"/><Relationship Id="rId77" Type="http://schemas.openxmlformats.org/officeDocument/2006/relationships/slide" Target="slides/slide63.xml"/><Relationship Id="rId78" Type="http://schemas.openxmlformats.org/officeDocument/2006/relationships/slide" Target="slides/slide64.xml"/><Relationship Id="rId79" Type="http://schemas.openxmlformats.org/officeDocument/2006/relationships/slide" Target="slides/slide65.xml"/><Relationship Id="rId80" Type="http://schemas.openxmlformats.org/officeDocument/2006/relationships/slide" Target="slides/slide66.xml"/><Relationship Id="rId81" Type="http://schemas.openxmlformats.org/officeDocument/2006/relationships/slide" Target="slides/slide67.xml"/><Relationship Id="rId82" Type="http://schemas.openxmlformats.org/officeDocument/2006/relationships/slide" Target="slides/slide68.xml"/><Relationship Id="rId83" Type="http://schemas.openxmlformats.org/officeDocument/2006/relationships/slide" Target="slides/slide69.xml"/><Relationship Id="rId84" Type="http://schemas.openxmlformats.org/officeDocument/2006/relationships/slide" Target="slides/slide70.xml"/><Relationship Id="rId85" Type="http://schemas.openxmlformats.org/officeDocument/2006/relationships/slide" Target="slides/slide71.xml"/><Relationship Id="rId86" Type="http://schemas.openxmlformats.org/officeDocument/2006/relationships/slide" Target="slides/slide72.xml"/><Relationship Id="rId87" Type="http://schemas.openxmlformats.org/officeDocument/2006/relationships/slide" Target="slides/slide73.xml"/><Relationship Id="rId88" Type="http://schemas.openxmlformats.org/officeDocument/2006/relationships/slide" Target="slides/slide74.xml"/><Relationship Id="rId89" Type="http://schemas.openxmlformats.org/officeDocument/2006/relationships/slide" Target="slides/slide75.xml"/><Relationship Id="rId90" Type="http://schemas.openxmlformats.org/officeDocument/2006/relationships/slide" Target="slides/slide76.xml"/><Relationship Id="rId91" Type="http://schemas.openxmlformats.org/officeDocument/2006/relationships/slide" Target="slides/slide77.xml"/><Relationship Id="rId92" Type="http://schemas.openxmlformats.org/officeDocument/2006/relationships/slide" Target="slides/slide78.xml"/><Relationship Id="rId93" Type="http://schemas.openxmlformats.org/officeDocument/2006/relationships/slide" Target="slides/slide79.xml"/><Relationship Id="rId94" Type="http://schemas.openxmlformats.org/officeDocument/2006/relationships/slide" Target="slides/slide80.xml"/><Relationship Id="rId95" Type="http://schemas.openxmlformats.org/officeDocument/2006/relationships/slide" Target="slides/slide81.xml"/><Relationship Id="rId96" Type="http://schemas.openxmlformats.org/officeDocument/2006/relationships/slide" Target="slides/slide82.xml"/><Relationship Id="rId97" Type="http://schemas.openxmlformats.org/officeDocument/2006/relationships/slide" Target="slides/slide83.xml"/><Relationship Id="rId98" Type="http://schemas.openxmlformats.org/officeDocument/2006/relationships/slide" Target="slides/slide84.xml"/><Relationship Id="rId99" Type="http://schemas.openxmlformats.org/officeDocument/2006/relationships/slide" Target="slides/slide85.xml"/><Relationship Id="rId100" Type="http://schemas.openxmlformats.org/officeDocument/2006/relationships/slide" Target="slides/slide86.xml"/><Relationship Id="rId101" Type="http://schemas.openxmlformats.org/officeDocument/2006/relationships/slide" Target="slides/slide87.xml"/><Relationship Id="rId102" Type="http://schemas.openxmlformats.org/officeDocument/2006/relationships/slide" Target="slides/slide88.xml"/><Relationship Id="rId103" Type="http://schemas.openxmlformats.org/officeDocument/2006/relationships/slide" Target="slides/slide89.xml"/><Relationship Id="rId104" Type="http://schemas.openxmlformats.org/officeDocument/2006/relationships/slide" Target="slides/slide90.xml"/><Relationship Id="rId105" Type="http://schemas.openxmlformats.org/officeDocument/2006/relationships/slide" Target="slides/slide91.xml"/><Relationship Id="rId106" Type="http://schemas.openxmlformats.org/officeDocument/2006/relationships/slide" Target="slides/slide92.xml"/><Relationship Id="rId107" Type="http://schemas.openxmlformats.org/officeDocument/2006/relationships/slide" Target="slides/slide93.xml"/><Relationship Id="rId108" Type="http://schemas.openxmlformats.org/officeDocument/2006/relationships/slide" Target="slides/slide94.xml"/><Relationship Id="rId109" Type="http://schemas.openxmlformats.org/officeDocument/2006/relationships/slide" Target="slides/slide95.xml"/><Relationship Id="rId110" Type="http://schemas.openxmlformats.org/officeDocument/2006/relationships/slide" Target="slides/slide96.xml"/><Relationship Id="rId111" Type="http://schemas.openxmlformats.org/officeDocument/2006/relationships/slide" Target="slides/slide97.xml"/><Relationship Id="rId112" Type="http://schemas.openxmlformats.org/officeDocument/2006/relationships/slide" Target="slides/slide98.xml"/><Relationship Id="rId113" Type="http://schemas.openxmlformats.org/officeDocument/2006/relationships/slide" Target="slides/slide99.xml"/><Relationship Id="rId114" Type="http://schemas.openxmlformats.org/officeDocument/2006/relationships/slide" Target="slides/slide100.xml"/><Relationship Id="rId115" Type="http://schemas.openxmlformats.org/officeDocument/2006/relationships/slide" Target="slides/slide101.xml"/><Relationship Id="rId116" Type="http://schemas.openxmlformats.org/officeDocument/2006/relationships/slide" Target="slides/slide102.xml"/><Relationship Id="rId117" Type="http://schemas.openxmlformats.org/officeDocument/2006/relationships/slide" Target="slides/slide103.xml"/><Relationship Id="rId118" Type="http://schemas.openxmlformats.org/officeDocument/2006/relationships/slide" Target="slides/slide104.xml"/><Relationship Id="rId119" Type="http://schemas.openxmlformats.org/officeDocument/2006/relationships/slide" Target="slides/slide105.xml"/><Relationship Id="rId120" Type="http://schemas.openxmlformats.org/officeDocument/2006/relationships/slide" Target="slides/slide106.xml"/><Relationship Id="rId121" Type="http://schemas.openxmlformats.org/officeDocument/2006/relationships/slide" Target="slides/slide107.xml"/><Relationship Id="rId122" Type="http://schemas.openxmlformats.org/officeDocument/2006/relationships/slide" Target="slides/slide108.xml"/><Relationship Id="rId123" Type="http://schemas.openxmlformats.org/officeDocument/2006/relationships/slide" Target="slides/slide109.xml"/><Relationship Id="rId124" Type="http://schemas.openxmlformats.org/officeDocument/2006/relationships/slide" Target="slides/slide110.xml"/><Relationship Id="rId125" Type="http://schemas.openxmlformats.org/officeDocument/2006/relationships/slide" Target="slides/slide111.xml"/><Relationship Id="rId126" Type="http://schemas.openxmlformats.org/officeDocument/2006/relationships/slide" Target="slides/slide112.xml"/><Relationship Id="rId127" Type="http://schemas.openxmlformats.org/officeDocument/2006/relationships/slide" Target="slides/slide113.xml"/><Relationship Id="rId128" Type="http://schemas.openxmlformats.org/officeDocument/2006/relationships/slide" Target="slides/slide114.xml"/><Relationship Id="rId129" Type="http://schemas.openxmlformats.org/officeDocument/2006/relationships/slide" Target="slides/slide115.xml"/><Relationship Id="rId130" Type="http://schemas.openxmlformats.org/officeDocument/2006/relationships/slide" Target="slides/slide116.xml"/><Relationship Id="rId131" Type="http://schemas.openxmlformats.org/officeDocument/2006/relationships/slide" Target="slides/slide117.xml"/><Relationship Id="rId132" Type="http://schemas.openxmlformats.org/officeDocument/2006/relationships/slide" Target="slides/slide118.xml"/><Relationship Id="rId133" Type="http://schemas.openxmlformats.org/officeDocument/2006/relationships/slide" Target="slides/slide119.xml"/><Relationship Id="rId134" Type="http://schemas.openxmlformats.org/officeDocument/2006/relationships/slide" Target="slides/slide120.xml"/><Relationship Id="rId135" Type="http://schemas.openxmlformats.org/officeDocument/2006/relationships/slide" Target="slides/slide121.xml"/><Relationship Id="rId136" Type="http://schemas.openxmlformats.org/officeDocument/2006/relationships/slide" Target="slides/slide122.xml"/><Relationship Id="rId137" Type="http://schemas.openxmlformats.org/officeDocument/2006/relationships/slide" Target="slides/slide123.xml"/><Relationship Id="rId138" Type="http://schemas.openxmlformats.org/officeDocument/2006/relationships/slide" Target="slides/slide124.xml"/><Relationship Id="rId139" Type="http://schemas.openxmlformats.org/officeDocument/2006/relationships/slide" Target="slides/slide125.xml"/><Relationship Id="rId140" Type="http://schemas.openxmlformats.org/officeDocument/2006/relationships/slide" Target="slides/slide126.xml"/><Relationship Id="rId141" Type="http://schemas.openxmlformats.org/officeDocument/2006/relationships/slide" Target="slides/slide127.xml"/><Relationship Id="rId142" Type="http://schemas.openxmlformats.org/officeDocument/2006/relationships/slide" Target="slides/slide128.xml"/><Relationship Id="rId143" Type="http://schemas.openxmlformats.org/officeDocument/2006/relationships/slide" Target="slides/slide129.xml"/><Relationship Id="rId144" Type="http://schemas.openxmlformats.org/officeDocument/2006/relationships/slide" Target="slides/slide130.xml"/><Relationship Id="rId145" Type="http://schemas.openxmlformats.org/officeDocument/2006/relationships/slide" Target="slides/slide131.xml"/><Relationship Id="rId146" Type="http://schemas.openxmlformats.org/officeDocument/2006/relationships/slide" Target="slides/slide132.xml"/><Relationship Id="rId147" Type="http://schemas.openxmlformats.org/officeDocument/2006/relationships/slide" Target="slides/slide133.xml"/><Relationship Id="rId148" Type="http://schemas.openxmlformats.org/officeDocument/2006/relationships/slide" Target="slides/slide134.xml"/><Relationship Id="rId149" Type="http://schemas.openxmlformats.org/officeDocument/2006/relationships/slide" Target="slides/slide135.xml"/><Relationship Id="rId150" Type="http://schemas.openxmlformats.org/officeDocument/2006/relationships/slide" Target="slides/slide136.xml"/><Relationship Id="rId151" Type="http://schemas.openxmlformats.org/officeDocument/2006/relationships/slide" Target="slides/slide137.xml"/><Relationship Id="rId152" Type="http://schemas.openxmlformats.org/officeDocument/2006/relationships/slide" Target="slides/slide138.xml"/><Relationship Id="rId153" Type="http://schemas.openxmlformats.org/officeDocument/2006/relationships/slide" Target="slides/slide139.xml"/><Relationship Id="rId154" Type="http://schemas.openxmlformats.org/officeDocument/2006/relationships/slide" Target="slides/slide140.xml"/><Relationship Id="rId155" Type="http://schemas.openxmlformats.org/officeDocument/2006/relationships/slide" Target="slides/slide141.xml"/><Relationship Id="rId156" Type="http://schemas.openxmlformats.org/officeDocument/2006/relationships/slide" Target="slides/slide142.xml"/><Relationship Id="rId157" Type="http://schemas.openxmlformats.org/officeDocument/2006/relationships/slide" Target="slides/slide143.xml"/><Relationship Id="rId158" Type="http://schemas.openxmlformats.org/officeDocument/2006/relationships/slide" Target="slides/slide144.xml"/><Relationship Id="rId159" Type="http://schemas.openxmlformats.org/officeDocument/2006/relationships/slide" Target="slides/slide145.xml"/><Relationship Id="rId160" Type="http://schemas.openxmlformats.org/officeDocument/2006/relationships/slide" Target="slides/slide146.xml"/><Relationship Id="rId161" Type="http://schemas.openxmlformats.org/officeDocument/2006/relationships/slide" Target="slides/slide147.xml"/><Relationship Id="rId162" Type="http://schemas.openxmlformats.org/officeDocument/2006/relationships/slide" Target="slides/slide148.xml"/><Relationship Id="rId163" Type="http://schemas.openxmlformats.org/officeDocument/2006/relationships/slide" Target="slides/slide149.xml"/><Relationship Id="rId164" Type="http://schemas.openxmlformats.org/officeDocument/2006/relationships/slide" Target="slides/slide150.xml"/><Relationship Id="rId165" Type="http://schemas.openxmlformats.org/officeDocument/2006/relationships/slide" Target="slides/slide151.xml"/><Relationship Id="rId166" Type="http://schemas.openxmlformats.org/officeDocument/2006/relationships/slide" Target="slides/slide152.xml"/><Relationship Id="rId167" Type="http://schemas.openxmlformats.org/officeDocument/2006/relationships/slide" Target="slides/slide153.xml"/><Relationship Id="rId168" Type="http://schemas.openxmlformats.org/officeDocument/2006/relationships/slide" Target="slides/slide154.xml"/><Relationship Id="rId169" Type="http://schemas.openxmlformats.org/officeDocument/2006/relationships/slide" Target="slides/slide155.xml"/><Relationship Id="rId172" Type="http://schemas.openxmlformats.org/officeDocument/2006/relationships/slide" Target="slides/slide156.xml"/><Relationship Id="rId173" Type="http://schemas.openxmlformats.org/officeDocument/2006/relationships/slide" Target="slides/slide15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Illustrative Attach Rate (%)</c:v>
                </c:pt>
              </c:strCache>
            </c:strRef>
          </c:tx>
          <c:spPr>
            <a:solidFill>
              <a:srgbClr val="1F6FEB"/>
            </a:solidFill>
            <a:ln>
              <a:noFill/>
            </a:ln>
          </c:spPr>
          <c:cat>
            <c:strRef>
              <c:f>Sheet1!$A$2:$A$3</c:f>
              <c:strCache>
                <c:ptCount val="2"/>
                <c:pt idx="0">
                  <c:v>Generic Pitch</c:v>
                </c:pt>
                <c:pt idx="1">
                  <c:v>Personalised, Value-Earned Pitch</c:v>
                </c:pt>
              </c:strCache>
            </c:strRef>
          </c:cat>
          <c:val>
            <c:numRef>
              <c:f>Sheet1!$B$2:$B$3</c:f>
              <c:numCache>
                <c:formatCode>General</c:formatCode>
                <c:ptCount val="2"/>
                <c:pt idx="0">
                  <c:v>18</c:v>
                </c:pt>
                <c:pt idx="1">
                  <c:v>42</c:v>
                </c:pt>
              </c:numCache>
            </c:numRef>
          </c:val>
        </c:ser>
        <c:dLbls>
          <c:numFmt formatCode="0&quot;%&quot;" sourceLinked="0"/>
          <c:txPr>
            <a:bodyPr/>
            <a:lstStyle/>
            <a:p>
              <a:pPr>
                <a:defRPr sz="1000" b="1">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E2E8F0"/>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E2E8F0"/>
            </a:solidFill>
          </a:ln>
        </c:spPr>
        <c:crossAx val="-2068027336"/>
        <c:crosses val="autoZero"/>
      </c:valAx>
    </c:plotArea>
    <c:dispBlanksAs val="gap"/>
  </c:chart>
  <c:txPr>
    <a:bodyPr/>
    <a:lstStyle/>
    <a:p>
      <a:pPr>
        <a:defRPr sz="1000">
          <a:solidFill>
            <a:srgbClr val="5B6372"/>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cat>
            <c:strRef>
              <c:f>Sheet1!$A$2:$A$4</c:f>
              <c:strCache>
                <c:ptCount val="3"/>
                <c:pt idx="0">
                  <c:v>Buyer indecision</c:v>
                </c:pt>
                <c:pt idx="1">
                  <c:v>Lost to a competitor</c:v>
                </c:pt>
                <c:pt idx="2">
                  <c:v>Budget withdrawn</c:v>
                </c:pt>
              </c:strCache>
            </c:strRef>
          </c:cat>
          <c:val>
            <c:numRef>
              <c:f>Sheet1!$B$2:$B$4</c:f>
              <c:numCache>
                <c:formatCode>General</c:formatCode>
                <c:ptCount val="3"/>
                <c:pt idx="0">
                  <c:v>61.0</c:v>
                </c:pt>
                <c:pt idx="1">
                  <c:v>24.0</c:v>
                </c:pt>
                <c:pt idx="2">
                  <c:v>15.0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100">
              <a:solidFill>
                <a:srgbClr val="161B26"/>
              </a:solidFill>
            </a:defRPr>
          </a:pPr>
        </a:p>
      </c:txPr>
    </c:legend>
    <c:plotVisOnly val="1"/>
    <c:dispBlanksAs val="gap"/>
    <c:showDLblsOverMax val="0"/>
  </c:chart>
  <c:txPr>
    <a:bodyPr/>
    <a:lstStyle/>
    <a:p>
      <a:pPr>
        <a:defRPr sz="1100">
          <a:solidFill>
            <a:srgbClr val="5B6372"/>
          </a:solidFill>
          <a:latin typeface="Arial"/>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ver-handshake.jpg"/>
          <p:cNvPicPr>
            <a:picLocks noChangeAspect="1"/>
          </p:cNvPicPr>
          <p:nvPr/>
        </p:nvPicPr>
        <p:blipFill>
          <a:blip r:embed="rId2"/>
          <a:srcRect l="27338" r="27338"/>
          <a:stretch>
            <a:fillRect/>
          </a:stretch>
        </p:blipFill>
        <p:spPr>
          <a:xfrm>
            <a:off x="7818120" y="201168"/>
            <a:ext cx="4370832" cy="6455664"/>
          </a:xfrm>
          <a:prstGeom prst="rect">
            <a:avLst/>
          </a:prstGeom>
        </p:spPr>
      </p:pic>
      <p:pic>
        <p:nvPicPr>
          <p:cNvPr id="6" name="Picture 5"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7" name="Rectangle 6"/>
          <p:cNvSpPr/>
          <p:nvPr/>
        </p:nvSpPr>
        <p:spPr>
          <a:xfrm>
            <a:off x="777240" y="2103120"/>
            <a:ext cx="12801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03120"/>
            <a:ext cx="649224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NON-WSQ</a:t>
            </a:r>
          </a:p>
        </p:txBody>
      </p:sp>
      <p:sp>
        <p:nvSpPr>
          <p:cNvPr id="9" name="TextBox 8"/>
          <p:cNvSpPr txBox="1"/>
          <p:nvPr/>
        </p:nvSpPr>
        <p:spPr>
          <a:xfrm>
            <a:off x="822960" y="2606040"/>
            <a:ext cx="6766560" cy="1737360"/>
          </a:xfrm>
          <a:prstGeom prst="rect">
            <a:avLst/>
          </a:prstGeom>
          <a:noFill/>
        </p:spPr>
        <p:txBody>
          <a:bodyPr wrap="square" anchor="t">
            <a:spAutoFit/>
          </a:bodyPr>
          <a:lstStyle/>
          <a:p>
            <a:pPr algn="l">
              <a:spcAft>
                <a:spcPts val="400"/>
              </a:spcAft>
            </a:pPr>
            <a:r>
              <a:rPr sz="3400" b="1">
                <a:solidFill>
                  <a:srgbClr val="161B26"/>
                </a:solidFill>
                <a:latin typeface="Arial"/>
              </a:rPr>
              <a:t>Achieving Sales Goals with Customer-Centric Selling Techniques</a:t>
            </a:r>
          </a:p>
        </p:txBody>
      </p:sp>
      <p:sp>
        <p:nvSpPr>
          <p:cNvPr id="10" name="Rectangle 9"/>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617720"/>
            <a:ext cx="676656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C1088</a:t>
            </a:r>
          </a:p>
          <a:p>
            <a:r>
              <a:rPr sz="1600" b="0">
                <a:latin typeface="Arial"/>
              </a:rPr>
              <a:t>Trainer: Dr. Alfred Ang</a:t>
            </a:r>
          </a:p>
          <a:p>
            <a:r>
              <a:rPr sz="1600" b="0">
                <a:latin typeface="Arial"/>
              </a:rPr>
              <a:t>Conducted by Tertiary Infotech Academy Pte Ltd  ·  UEN 201200696W</a:t>
            </a:r>
          </a:p>
        </p:txBody>
      </p:sp>
      <p:sp>
        <p:nvSpPr>
          <p:cNvPr id="12" name="TextBox 11"/>
          <p:cNvSpPr txBox="1"/>
          <p:nvPr/>
        </p:nvSpPr>
        <p:spPr>
          <a:xfrm>
            <a:off x="822960" y="5943600"/>
            <a:ext cx="6766560" cy="365760"/>
          </a:xfrm>
          <a:prstGeom prst="rect">
            <a:avLst/>
          </a:prstGeom>
          <a:noFill/>
        </p:spPr>
        <p:txBody>
          <a:bodyPr wrap="square" anchor="t">
            <a:spAutoFit/>
          </a:bodyPr>
          <a:lstStyle/>
          <a:p>
            <a:pPr algn="l">
              <a:spcAft>
                <a:spcPts val="400"/>
              </a:spcAft>
            </a:pPr>
            <a:r>
              <a:rPr sz="1200" b="0">
                <a:solidFill>
                  <a:srgbClr val="5B6372"/>
                </a:solidFill>
                <a:latin typeface="Arial"/>
              </a:rPr>
              <a:t>Version v1  ·  2 October 2026</a:t>
            </a:r>
          </a:p>
        </p:txBody>
      </p:sp>
      <p:sp>
        <p:nvSpPr>
          <p:cNvPr id="13" name="TextBox 12"/>
          <p:cNvSpPr txBox="1"/>
          <p:nvPr/>
        </p:nvSpPr>
        <p:spPr>
          <a:xfrm>
            <a:off x="822960" y="6263640"/>
            <a:ext cx="676656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zoom/>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 / CREDENTIALS</a:t>
            </a:r>
          </a:p>
          <a:p>
            <a:pPr algn="l">
              <a:spcAft>
                <a:spcPts val="300"/>
              </a:spcAft>
            </a:pPr>
            <a:r>
              <a:rPr sz="1400" b="0">
                <a:solidFill>
                  <a:srgbClr val="161B26"/>
                </a:solidFill>
                <a:latin typeface="Arial"/>
              </a:rPr>
              <a:t>20+ years of training and sales-industry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Courses on consultative selling, sales closing techniques and empathy-driven customer communication.</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name and organisation / role.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10712"/>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experience with sales, closing or customer-facing conversations (if any).</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46904"/>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A salesperson (or a sale) that genuinely won you over — and why it worked.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Actively participate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Full attendance — attend both days to get the most from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4 LEARNING UNITS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LU1 — Foundations of Selling</a:t>
            </a:r>
          </a:p>
          <a:p>
            <a:pPr algn="l">
              <a:spcAft>
                <a:spcPts val="300"/>
              </a:spcAft>
            </a:pPr>
            <a:r>
              <a:rPr sz="1200" b="0">
                <a:solidFill>
                  <a:srgbClr val="5B6372"/>
                </a:solidFill>
                <a:latin typeface="Arial"/>
              </a:rPr>
              <a:t>Mindset · Empathy · Sales Strategy · Buyer Psychology · Discovery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LU2 — Selling Techniques &amp; Problem-Solving</a:t>
            </a:r>
          </a:p>
          <a:p>
            <a:pPr algn="l">
              <a:spcAft>
                <a:spcPts val="300"/>
              </a:spcAft>
            </a:pPr>
            <a:r>
              <a:rPr sz="1200" b="0">
                <a:solidFill>
                  <a:srgbClr val="5B6372"/>
                </a:solidFill>
                <a:latin typeface="Arial"/>
              </a:rPr>
              <a:t>Problem-Based Selling · Demos · Upselling &amp; Cross-Selling · Personalisation · Champions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LU3 — Closing the Sale</a:t>
            </a:r>
          </a:p>
          <a:p>
            <a:pPr algn="l">
              <a:spcAft>
                <a:spcPts val="300"/>
              </a:spcAft>
            </a:pPr>
            <a:r>
              <a:rPr sz="1200" b="0">
                <a:solidFill>
                  <a:srgbClr val="5B6372"/>
                </a:solidFill>
                <a:latin typeface="Arial"/>
              </a:rPr>
              <a:t>Buying Signals · Closing Techniques · Justifying Price · Easy to Buy · Follow-Up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LU4 — Handling Objections &amp; Rejections</a:t>
            </a:r>
          </a:p>
          <a:p>
            <a:pPr algn="l">
              <a:spcAft>
                <a:spcPts val="300"/>
              </a:spcAft>
            </a:pPr>
            <a:r>
              <a:rPr sz="1200" b="0">
                <a:solidFill>
                  <a:srgbClr val="5B6372"/>
                </a:solidFill>
                <a:latin typeface="Arial"/>
              </a:rPr>
              <a:t>Objection vs Deflection vs Rejection · Answer &amp; Ask · Composure · Testimonials · Metrics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2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Foundations of Selling &amp; Selling Techniques and Problem-Solving</a:t>
            </a:r>
          </a:p>
          <a:p>
            <a:pPr>
              <a:spcAft>
                <a:spcPts val="1000"/>
              </a:spcAft>
            </a:pPr>
            <a:r>
              <a:rPr sz="1400" b="0">
                <a:solidFill>
                  <a:srgbClr val="5B6372"/>
                </a:solidFill>
                <a:latin typeface="Arial"/>
              </a:rPr>
              <a:t>–  LU1: Foundations of Selling + Role Play (09:35–13:55)</a:t>
            </a:r>
          </a:p>
          <a:p>
            <a:pPr>
              <a:spcAft>
                <a:spcPts val="1000"/>
              </a:spcAft>
            </a:pPr>
            <a:r>
              <a:rPr sz="1400" b="0">
                <a:solidFill>
                  <a:srgbClr val="5B6372"/>
                </a:solidFill>
                <a:latin typeface="Arial"/>
              </a:rPr>
              <a:t>–  LU2: Selling Techniques &amp; Problem-Solving + Role Play (13:55–17:25)</a:t>
            </a:r>
          </a:p>
          <a:p>
            <a:pPr>
              <a:spcAft>
                <a:spcPts val="1000"/>
              </a:spcAft>
            </a:pPr>
            <a:r>
              <a:rPr sz="1400" b="0">
                <a:solidFill>
                  <a:srgbClr val="5B6372"/>
                </a:solidFill>
                <a:latin typeface="Arial"/>
              </a:rPr>
              <a:t>–  Day 1 recap and close (17:25–17:30)</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Closing the Sale and Handling Objections &amp; Rejections</a:t>
            </a:r>
          </a:p>
          <a:p>
            <a:pPr>
              <a:spcAft>
                <a:spcPts val="1000"/>
              </a:spcAft>
            </a:pPr>
            <a:r>
              <a:rPr sz="1400" b="0">
                <a:solidFill>
                  <a:srgbClr val="5B6372"/>
                </a:solidFill>
                <a:latin typeface="Arial"/>
              </a:rPr>
              <a:t>–  LU3: Closing the Sale + Role Play (09:35–14:00)</a:t>
            </a:r>
          </a:p>
          <a:p>
            <a:pPr>
              <a:spcAft>
                <a:spcPts val="1000"/>
              </a:spcAft>
            </a:pPr>
            <a:r>
              <a:rPr sz="1400" b="0">
                <a:solidFill>
                  <a:srgbClr val="5B6372"/>
                </a:solidFill>
                <a:latin typeface="Arial"/>
              </a:rPr>
              <a:t>–  LU4: Handling Objections &amp; Rejections + Role Play, Course Feedback (14:00–17:30)</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Both days run 9:30am–5:30pm: 7.5 instructional hours plus a 30-minute lunch.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Foundations of Selling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Mindset · Empathy · Sales Strategy · Buyer Psychology · Discovery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push dir="l"/>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Foundations of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Selling is a human, empathy-driven conversation — mindset shapes the outcome before any technique does.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Empathy is a trainable skill, not a personality trait: see their world, suspend judgement, and name the emotion out loud (affect labelling).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sales strategy starts with the math of sales — leads to conversations to proposals to closes — and a written goal for every call.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Buyer psychology (Cialdini's principles, the buyer's matrix, the illusion of choice) shapes how a prospect actually decides.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Discovery uses Bucket, Why-Why-Why, SPIN and Gap questions, always with permission, to uncover the real need before recommending anything.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PSYCHOLOGY OF INFLUENCE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Cialdini's 7 Principles of Persuasion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Robert Cialdini identified seven levers that drive human decisions. Ground every discovery call and close in these — and never use them to manipulate.</a:t>
            </a:r>
          </a:p>
        </p:txBody>
      </p:sp>
      <p:sp>
        <p:nvSpPr>
          <p:cNvPr id="8" name="Rectangle 7"/>
          <p:cNvSpPr/>
          <p:nvPr/>
        </p:nvSpPr>
        <p:spPr>
          <a:xfrm>
            <a:off x="777240" y="2103120"/>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103120"/>
            <a:ext cx="2452878" cy="713232"/>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46915" y="2202972"/>
            <a:ext cx="513527" cy="513527"/>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eart 10"/>
          <p:cNvSpPr/>
          <p:nvPr/>
        </p:nvSpPr>
        <p:spPr>
          <a:xfrm>
            <a:off x="1834215" y="2300542"/>
            <a:ext cx="338927" cy="318386"/>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2944368"/>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Reciprocity</a:t>
            </a:r>
          </a:p>
        </p:txBody>
      </p:sp>
      <p:sp>
        <p:nvSpPr>
          <p:cNvPr id="13" name="TextBox 12"/>
          <p:cNvSpPr txBox="1"/>
          <p:nvPr/>
        </p:nvSpPr>
        <p:spPr>
          <a:xfrm>
            <a:off x="941832" y="3346704"/>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Give genuine value before asking for anything.</a:t>
            </a:r>
          </a:p>
        </p:txBody>
      </p:sp>
      <p:sp>
        <p:nvSpPr>
          <p:cNvPr id="14" name="Rectangle 13"/>
          <p:cNvSpPr/>
          <p:nvPr/>
        </p:nvSpPr>
        <p:spPr>
          <a:xfrm>
            <a:off x="3504438" y="2103120"/>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103120"/>
            <a:ext cx="2452878" cy="713232"/>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74113" y="2202972"/>
            <a:ext cx="513527" cy="513527"/>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rot="2700000">
            <a:off x="4589657" y="2464871"/>
            <a:ext cx="128381" cy="4108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rot="18900000">
            <a:off x="4658983" y="2434059"/>
            <a:ext cx="236222" cy="4108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2944368"/>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Commitment</a:t>
            </a:r>
          </a:p>
        </p:txBody>
      </p:sp>
      <p:sp>
        <p:nvSpPr>
          <p:cNvPr id="20" name="TextBox 19"/>
          <p:cNvSpPr txBox="1"/>
          <p:nvPr/>
        </p:nvSpPr>
        <p:spPr>
          <a:xfrm>
            <a:off x="3669030" y="3346704"/>
            <a:ext cx="2123694" cy="461772"/>
          </a:xfrm>
          <a:prstGeom prst="rect">
            <a:avLst/>
          </a:prstGeom>
          <a:noFill/>
        </p:spPr>
        <p:txBody>
          <a:bodyPr wrap="square" anchor="t">
            <a:spAutoFit/>
          </a:bodyPr>
          <a:lstStyle/>
          <a:p>
            <a:pPr algn="ctr">
              <a:spcAft>
                <a:spcPts val="400"/>
              </a:spcAft>
            </a:pPr>
            <a:r>
              <a:rPr sz="1000" b="0">
                <a:solidFill>
                  <a:srgbClr val="5B6372"/>
                </a:solidFill>
                <a:latin typeface="Arial"/>
              </a:rPr>
              <a:t>Small agreed steps make a bigger yes feel safe.</a:t>
            </a:r>
          </a:p>
        </p:txBody>
      </p:sp>
      <p:sp>
        <p:nvSpPr>
          <p:cNvPr id="21" name="Rectangle 20"/>
          <p:cNvSpPr/>
          <p:nvPr/>
        </p:nvSpPr>
        <p:spPr>
          <a:xfrm>
            <a:off x="6231636" y="2103120"/>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103120"/>
            <a:ext cx="2452878" cy="713232"/>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01311" y="2202972"/>
            <a:ext cx="513527" cy="513527"/>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78340" y="2300542"/>
            <a:ext cx="141219" cy="14121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496589" y="2300542"/>
            <a:ext cx="141219" cy="14121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257799" y="2464871"/>
            <a:ext cx="179734" cy="159193"/>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478616" y="2464871"/>
            <a:ext cx="179734" cy="159193"/>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96228" y="2944368"/>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Social Proof</a:t>
            </a:r>
          </a:p>
        </p:txBody>
      </p:sp>
      <p:sp>
        <p:nvSpPr>
          <p:cNvPr id="29" name="TextBox 28"/>
          <p:cNvSpPr txBox="1"/>
          <p:nvPr/>
        </p:nvSpPr>
        <p:spPr>
          <a:xfrm>
            <a:off x="6396228" y="3346704"/>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People follow similar others when uncertain.</a:t>
            </a:r>
          </a:p>
        </p:txBody>
      </p:sp>
      <p:sp>
        <p:nvSpPr>
          <p:cNvPr id="30" name="Rectangle 29"/>
          <p:cNvSpPr/>
          <p:nvPr/>
        </p:nvSpPr>
        <p:spPr>
          <a:xfrm>
            <a:off x="8958834" y="2103120"/>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58834" y="2103120"/>
            <a:ext cx="2452878" cy="713232"/>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28509" y="2202972"/>
            <a:ext cx="513527" cy="513527"/>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entagon 32"/>
          <p:cNvSpPr/>
          <p:nvPr/>
        </p:nvSpPr>
        <p:spPr>
          <a:xfrm rot="5400000">
            <a:off x="10036350" y="2310813"/>
            <a:ext cx="297845" cy="297845"/>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23426" y="2944368"/>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Authority</a:t>
            </a:r>
          </a:p>
        </p:txBody>
      </p:sp>
      <p:sp>
        <p:nvSpPr>
          <p:cNvPr id="35" name="TextBox 34"/>
          <p:cNvSpPr txBox="1"/>
          <p:nvPr/>
        </p:nvSpPr>
        <p:spPr>
          <a:xfrm>
            <a:off x="9123426" y="3346704"/>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Credible expertise, shown rather than claimed.</a:t>
            </a:r>
          </a:p>
        </p:txBody>
      </p:sp>
      <p:sp>
        <p:nvSpPr>
          <p:cNvPr id="36" name="Rectangle 35"/>
          <p:cNvSpPr/>
          <p:nvPr/>
        </p:nvSpPr>
        <p:spPr>
          <a:xfrm>
            <a:off x="777240" y="4174236"/>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77240" y="4174236"/>
            <a:ext cx="2452878" cy="713232"/>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746915" y="4274088"/>
            <a:ext cx="513527" cy="513527"/>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ular Callout 38"/>
          <p:cNvSpPr/>
          <p:nvPr/>
        </p:nvSpPr>
        <p:spPr>
          <a:xfrm>
            <a:off x="1834215" y="4381929"/>
            <a:ext cx="338927" cy="256763"/>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41832" y="5015484"/>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Liking</a:t>
            </a:r>
          </a:p>
        </p:txBody>
      </p:sp>
      <p:sp>
        <p:nvSpPr>
          <p:cNvPr id="41" name="TextBox 40"/>
          <p:cNvSpPr txBox="1"/>
          <p:nvPr/>
        </p:nvSpPr>
        <p:spPr>
          <a:xfrm>
            <a:off x="941832" y="5417820"/>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Genuine rapport makes agreement feel easier.</a:t>
            </a:r>
          </a:p>
        </p:txBody>
      </p:sp>
      <p:sp>
        <p:nvSpPr>
          <p:cNvPr id="42" name="Rectangle 41"/>
          <p:cNvSpPr/>
          <p:nvPr/>
        </p:nvSpPr>
        <p:spPr>
          <a:xfrm>
            <a:off x="3504438" y="4174236"/>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504438" y="4174236"/>
            <a:ext cx="2452878" cy="713232"/>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474113" y="4274088"/>
            <a:ext cx="513527" cy="513527"/>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onut 44"/>
          <p:cNvSpPr/>
          <p:nvPr/>
        </p:nvSpPr>
        <p:spPr>
          <a:xfrm>
            <a:off x="4546007" y="4345982"/>
            <a:ext cx="369739" cy="369739"/>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715471" y="4397334"/>
            <a:ext cx="30811" cy="1437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4715471" y="4515446"/>
            <a:ext cx="118111" cy="308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669030" y="5015484"/>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Scarcity</a:t>
            </a:r>
          </a:p>
        </p:txBody>
      </p:sp>
      <p:sp>
        <p:nvSpPr>
          <p:cNvPr id="49" name="TextBox 48"/>
          <p:cNvSpPr txBox="1"/>
          <p:nvPr/>
        </p:nvSpPr>
        <p:spPr>
          <a:xfrm>
            <a:off x="3669030" y="5417820"/>
            <a:ext cx="2123694" cy="461772"/>
          </a:xfrm>
          <a:prstGeom prst="rect">
            <a:avLst/>
          </a:prstGeom>
          <a:noFill/>
        </p:spPr>
        <p:txBody>
          <a:bodyPr wrap="square" anchor="t">
            <a:spAutoFit/>
          </a:bodyPr>
          <a:lstStyle/>
          <a:p>
            <a:pPr algn="ctr">
              <a:spcAft>
                <a:spcPts val="400"/>
              </a:spcAft>
            </a:pPr>
            <a:r>
              <a:rPr sz="1000" b="0">
                <a:solidFill>
                  <a:srgbClr val="5B6372"/>
                </a:solidFill>
                <a:latin typeface="Arial"/>
              </a:rPr>
              <a:t>Real, honest limits only — never fabricate one.</a:t>
            </a:r>
          </a:p>
        </p:txBody>
      </p:sp>
      <p:sp>
        <p:nvSpPr>
          <p:cNvPr id="50" name="Rectangle 49"/>
          <p:cNvSpPr/>
          <p:nvPr/>
        </p:nvSpPr>
        <p:spPr>
          <a:xfrm>
            <a:off x="6231636" y="4174236"/>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231636" y="4174236"/>
            <a:ext cx="2452878" cy="713232"/>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201311" y="4274088"/>
            <a:ext cx="513527" cy="513527"/>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5-Point Star 52"/>
          <p:cNvSpPr/>
          <p:nvPr/>
        </p:nvSpPr>
        <p:spPr>
          <a:xfrm>
            <a:off x="7273205" y="4345982"/>
            <a:ext cx="369739" cy="369739"/>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396228" y="5015484"/>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Unity (2016)</a:t>
            </a:r>
          </a:p>
        </p:txBody>
      </p:sp>
      <p:sp>
        <p:nvSpPr>
          <p:cNvPr id="55" name="TextBox 54"/>
          <p:cNvSpPr txBox="1"/>
          <p:nvPr/>
        </p:nvSpPr>
        <p:spPr>
          <a:xfrm>
            <a:off x="6396228" y="5417820"/>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A shared identity beats surface-level liking.</a:t>
            </a:r>
          </a:p>
        </p:txBody>
      </p:sp>
      <p:sp>
        <p:nvSpPr>
          <p:cNvPr id="56" name="TextBox 5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Cialdini, R. — Influence (1984); Pre-Suasion (2016)</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THE EI EDGE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The Five Competencies of Emotional Intelligence in Sales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Technical skill gets you the meeting. These five decide whether you leave it with a deal.</a:t>
            </a:r>
          </a:p>
        </p:txBody>
      </p:sp>
      <p:sp>
        <p:nvSpPr>
          <p:cNvPr id="8" name="Hexagon 7"/>
          <p:cNvSpPr/>
          <p:nvPr/>
        </p:nvSpPr>
        <p:spPr>
          <a:xfrm>
            <a:off x="1004925" y="2240280"/>
            <a:ext cx="1481328" cy="1333195"/>
          </a:xfrm>
          <a:prstGeom prst="hexagon">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4925"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Rectangle 9"/>
          <p:cNvSpPr/>
          <p:nvPr/>
        </p:nvSpPr>
        <p:spPr>
          <a:xfrm>
            <a:off x="777240" y="3792931"/>
            <a:ext cx="1936699"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792931"/>
            <a:ext cx="1936699" cy="640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975811"/>
            <a:ext cx="1644091" cy="512064"/>
          </a:xfrm>
          <a:prstGeom prst="rect">
            <a:avLst/>
          </a:prstGeom>
          <a:noFill/>
        </p:spPr>
        <p:txBody>
          <a:bodyPr wrap="square" anchor="t">
            <a:spAutoFit/>
          </a:bodyPr>
          <a:lstStyle/>
          <a:p>
            <a:pPr algn="ctr">
              <a:spcAft>
                <a:spcPts val="400"/>
              </a:spcAft>
            </a:pPr>
            <a:r>
              <a:rPr sz="1350" b="1">
                <a:solidFill>
                  <a:srgbClr val="161B26"/>
                </a:solidFill>
                <a:latin typeface="Arial"/>
              </a:rPr>
              <a:t>Self-Awareness</a:t>
            </a:r>
          </a:p>
        </p:txBody>
      </p:sp>
      <p:sp>
        <p:nvSpPr>
          <p:cNvPr id="13" name="TextBox 12"/>
          <p:cNvSpPr txBox="1"/>
          <p:nvPr/>
        </p:nvSpPr>
        <p:spPr>
          <a:xfrm>
            <a:off x="923544" y="4506163"/>
            <a:ext cx="1644091" cy="1236269"/>
          </a:xfrm>
          <a:prstGeom prst="rect">
            <a:avLst/>
          </a:prstGeom>
          <a:noFill/>
        </p:spPr>
        <p:txBody>
          <a:bodyPr wrap="square" anchor="t">
            <a:spAutoFit/>
          </a:bodyPr>
          <a:lstStyle/>
          <a:p>
            <a:pPr algn="ctr">
              <a:spcAft>
                <a:spcPts val="400"/>
              </a:spcAft>
            </a:pPr>
            <a:r>
              <a:rPr sz="1150" b="0">
                <a:solidFill>
                  <a:srgbClr val="5B6372"/>
                </a:solidFill>
                <a:latin typeface="Arial"/>
              </a:rPr>
              <a:t>Know your own triggers before the call starts.</a:t>
            </a:r>
          </a:p>
        </p:txBody>
      </p:sp>
      <p:sp>
        <p:nvSpPr>
          <p:cNvPr id="14" name="Hexagon 13"/>
          <p:cNvSpPr/>
          <p:nvPr/>
        </p:nvSpPr>
        <p:spPr>
          <a:xfrm>
            <a:off x="3179368" y="2240280"/>
            <a:ext cx="1481328" cy="1333195"/>
          </a:xfrm>
          <a:prstGeom prst="hexagon">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179368"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Rectangle 15"/>
          <p:cNvSpPr/>
          <p:nvPr/>
        </p:nvSpPr>
        <p:spPr>
          <a:xfrm>
            <a:off x="2951683" y="3792931"/>
            <a:ext cx="1936699"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3792931"/>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97987" y="3975811"/>
            <a:ext cx="1644091" cy="512064"/>
          </a:xfrm>
          <a:prstGeom prst="rect">
            <a:avLst/>
          </a:prstGeom>
          <a:noFill/>
        </p:spPr>
        <p:txBody>
          <a:bodyPr wrap="square" anchor="t">
            <a:spAutoFit/>
          </a:bodyPr>
          <a:lstStyle/>
          <a:p>
            <a:pPr algn="ctr">
              <a:spcAft>
                <a:spcPts val="400"/>
              </a:spcAft>
            </a:pPr>
            <a:r>
              <a:rPr sz="1350" b="1">
                <a:solidFill>
                  <a:srgbClr val="161B26"/>
                </a:solidFill>
                <a:latin typeface="Arial"/>
              </a:rPr>
              <a:t>Self-Regulation</a:t>
            </a:r>
          </a:p>
        </p:txBody>
      </p:sp>
      <p:sp>
        <p:nvSpPr>
          <p:cNvPr id="19" name="TextBox 18"/>
          <p:cNvSpPr txBox="1"/>
          <p:nvPr/>
        </p:nvSpPr>
        <p:spPr>
          <a:xfrm>
            <a:off x="3097987" y="4506163"/>
            <a:ext cx="1644091" cy="1236269"/>
          </a:xfrm>
          <a:prstGeom prst="rect">
            <a:avLst/>
          </a:prstGeom>
          <a:noFill/>
        </p:spPr>
        <p:txBody>
          <a:bodyPr wrap="square" anchor="t">
            <a:spAutoFit/>
          </a:bodyPr>
          <a:lstStyle/>
          <a:p>
            <a:pPr algn="ctr">
              <a:spcAft>
                <a:spcPts val="400"/>
              </a:spcAft>
            </a:pPr>
            <a:r>
              <a:rPr sz="1150" b="0">
                <a:solidFill>
                  <a:srgbClr val="5B6372"/>
                </a:solidFill>
                <a:latin typeface="Arial"/>
              </a:rPr>
              <a:t>Control the impulse to interrupt or concede.</a:t>
            </a:r>
          </a:p>
        </p:txBody>
      </p:sp>
      <p:sp>
        <p:nvSpPr>
          <p:cNvPr id="20" name="Hexagon 19"/>
          <p:cNvSpPr/>
          <p:nvPr/>
        </p:nvSpPr>
        <p:spPr>
          <a:xfrm>
            <a:off x="5353811" y="2240280"/>
            <a:ext cx="1481328" cy="1333195"/>
          </a:xfrm>
          <a:prstGeom prst="hexagon">
            <a:avLst/>
          </a:prstGeom>
          <a:solidFill>
            <a:srgbClr val="7C3AED"/>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53811"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Rectangle 21"/>
          <p:cNvSpPr/>
          <p:nvPr/>
        </p:nvSpPr>
        <p:spPr>
          <a:xfrm>
            <a:off x="5126126" y="3792931"/>
            <a:ext cx="1936699"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3792931"/>
            <a:ext cx="1936699"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72430" y="3975811"/>
            <a:ext cx="1644091" cy="512064"/>
          </a:xfrm>
          <a:prstGeom prst="rect">
            <a:avLst/>
          </a:prstGeom>
          <a:noFill/>
        </p:spPr>
        <p:txBody>
          <a:bodyPr wrap="square" anchor="t">
            <a:spAutoFit/>
          </a:bodyPr>
          <a:lstStyle/>
          <a:p>
            <a:pPr algn="ctr">
              <a:spcAft>
                <a:spcPts val="400"/>
              </a:spcAft>
            </a:pPr>
            <a:r>
              <a:rPr sz="1350" b="1">
                <a:solidFill>
                  <a:srgbClr val="161B26"/>
                </a:solidFill>
                <a:latin typeface="Arial"/>
              </a:rPr>
              <a:t>Empathy</a:t>
            </a:r>
          </a:p>
        </p:txBody>
      </p:sp>
      <p:sp>
        <p:nvSpPr>
          <p:cNvPr id="25" name="TextBox 24"/>
          <p:cNvSpPr txBox="1"/>
          <p:nvPr/>
        </p:nvSpPr>
        <p:spPr>
          <a:xfrm>
            <a:off x="5272430" y="4506163"/>
            <a:ext cx="1644091" cy="1236269"/>
          </a:xfrm>
          <a:prstGeom prst="rect">
            <a:avLst/>
          </a:prstGeom>
          <a:noFill/>
        </p:spPr>
        <p:txBody>
          <a:bodyPr wrap="square" anchor="t">
            <a:spAutoFit/>
          </a:bodyPr>
          <a:lstStyle/>
          <a:p>
            <a:pPr algn="ctr">
              <a:spcAft>
                <a:spcPts val="400"/>
              </a:spcAft>
            </a:pPr>
            <a:r>
              <a:rPr sz="1150" b="0">
                <a:solidFill>
                  <a:srgbClr val="5B6372"/>
                </a:solidFill>
                <a:latin typeface="Arial"/>
              </a:rPr>
              <a:t>Understand the buyer's world accurately.</a:t>
            </a:r>
          </a:p>
        </p:txBody>
      </p:sp>
      <p:sp>
        <p:nvSpPr>
          <p:cNvPr id="26" name="Hexagon 25"/>
          <p:cNvSpPr/>
          <p:nvPr/>
        </p:nvSpPr>
        <p:spPr>
          <a:xfrm>
            <a:off x="7528254" y="2240280"/>
            <a:ext cx="1481328" cy="1333195"/>
          </a:xfrm>
          <a:prstGeom prst="hexagon">
            <a:avLst/>
          </a:prstGeom>
          <a:solidFill>
            <a:srgbClr val="F59E0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528254"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Rectangle 27"/>
          <p:cNvSpPr/>
          <p:nvPr/>
        </p:nvSpPr>
        <p:spPr>
          <a:xfrm>
            <a:off x="7300569" y="3792931"/>
            <a:ext cx="1936699"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3792931"/>
            <a:ext cx="1936699"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46873" y="3975811"/>
            <a:ext cx="1644091" cy="512064"/>
          </a:xfrm>
          <a:prstGeom prst="rect">
            <a:avLst/>
          </a:prstGeom>
          <a:noFill/>
        </p:spPr>
        <p:txBody>
          <a:bodyPr wrap="square" anchor="t">
            <a:spAutoFit/>
          </a:bodyPr>
          <a:lstStyle/>
          <a:p>
            <a:pPr algn="ctr">
              <a:spcAft>
                <a:spcPts val="400"/>
              </a:spcAft>
            </a:pPr>
            <a:r>
              <a:rPr sz="1350" b="1">
                <a:solidFill>
                  <a:srgbClr val="161B26"/>
                </a:solidFill>
                <a:latin typeface="Arial"/>
              </a:rPr>
              <a:t>Social Skills</a:t>
            </a:r>
          </a:p>
        </p:txBody>
      </p:sp>
      <p:sp>
        <p:nvSpPr>
          <p:cNvPr id="31" name="TextBox 30"/>
          <p:cNvSpPr txBox="1"/>
          <p:nvPr/>
        </p:nvSpPr>
        <p:spPr>
          <a:xfrm>
            <a:off x="7446873" y="4506163"/>
            <a:ext cx="1644091" cy="1236269"/>
          </a:xfrm>
          <a:prstGeom prst="rect">
            <a:avLst/>
          </a:prstGeom>
          <a:noFill/>
        </p:spPr>
        <p:txBody>
          <a:bodyPr wrap="square" anchor="t">
            <a:spAutoFit/>
          </a:bodyPr>
          <a:lstStyle/>
          <a:p>
            <a:pPr algn="ctr">
              <a:spcAft>
                <a:spcPts val="400"/>
              </a:spcAft>
            </a:pPr>
            <a:r>
              <a:rPr sz="1150" b="0">
                <a:solidFill>
                  <a:srgbClr val="5B6372"/>
                </a:solidFill>
                <a:latin typeface="Arial"/>
              </a:rPr>
              <a:t>Build rapport and steer toward mutual gain.</a:t>
            </a:r>
          </a:p>
        </p:txBody>
      </p:sp>
      <p:sp>
        <p:nvSpPr>
          <p:cNvPr id="32" name="Hexagon 31"/>
          <p:cNvSpPr/>
          <p:nvPr/>
        </p:nvSpPr>
        <p:spPr>
          <a:xfrm>
            <a:off x="9702697" y="2240280"/>
            <a:ext cx="1481328" cy="1333195"/>
          </a:xfrm>
          <a:prstGeom prst="hexagon">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02697"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Rectangle 33"/>
          <p:cNvSpPr/>
          <p:nvPr/>
        </p:nvSpPr>
        <p:spPr>
          <a:xfrm>
            <a:off x="9475012" y="3792931"/>
            <a:ext cx="1936699"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3792931"/>
            <a:ext cx="1936699" cy="640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21316" y="3975811"/>
            <a:ext cx="1644091" cy="512064"/>
          </a:xfrm>
          <a:prstGeom prst="rect">
            <a:avLst/>
          </a:prstGeom>
          <a:noFill/>
        </p:spPr>
        <p:txBody>
          <a:bodyPr wrap="square" anchor="t">
            <a:spAutoFit/>
          </a:bodyPr>
          <a:lstStyle/>
          <a:p>
            <a:pPr algn="ctr">
              <a:spcAft>
                <a:spcPts val="400"/>
              </a:spcAft>
            </a:pPr>
            <a:r>
              <a:rPr sz="1350" b="1">
                <a:solidFill>
                  <a:srgbClr val="161B26"/>
                </a:solidFill>
                <a:latin typeface="Arial"/>
              </a:rPr>
              <a:t>Motivation</a:t>
            </a:r>
          </a:p>
        </p:txBody>
      </p:sp>
      <p:sp>
        <p:nvSpPr>
          <p:cNvPr id="37" name="TextBox 36"/>
          <p:cNvSpPr txBox="1"/>
          <p:nvPr/>
        </p:nvSpPr>
        <p:spPr>
          <a:xfrm>
            <a:off x="9621316" y="4506163"/>
            <a:ext cx="1644091" cy="1236269"/>
          </a:xfrm>
          <a:prstGeom prst="rect">
            <a:avLst/>
          </a:prstGeom>
          <a:noFill/>
        </p:spPr>
        <p:txBody>
          <a:bodyPr wrap="square" anchor="t">
            <a:spAutoFit/>
          </a:bodyPr>
          <a:lstStyle/>
          <a:p>
            <a:pPr algn="ctr">
              <a:spcAft>
                <a:spcPts val="400"/>
              </a:spcAft>
            </a:pPr>
            <a:r>
              <a:rPr sz="1150" b="0">
                <a:solidFill>
                  <a:srgbClr val="5B6372"/>
                </a:solidFill>
                <a:latin typeface="Arial"/>
              </a:rPr>
              <a:t>Sustain persistence through the noes.</a:t>
            </a:r>
          </a:p>
        </p:txBody>
      </p:sp>
      <p:sp>
        <p:nvSpPr>
          <p:cNvPr id="38" name="TextBox 37"/>
          <p:cNvSpPr txBox="1"/>
          <p:nvPr/>
        </p:nvSpPr>
        <p:spPr>
          <a:xfrm>
            <a:off x="777240" y="5989320"/>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Goleman-style EI competencies applied to selling (Paperflite; EI-in-sales literature)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THE EVIDENCE BASE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SPIN Selling — The Largest Study of Sales Behaviour Ever Run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Neil Rackham's Huthwaite team observed real sales calls to find what top performers actually do differently.</a:t>
            </a:r>
          </a:p>
        </p:txBody>
      </p:sp>
      <p:sp>
        <p:nvSpPr>
          <p:cNvPr id="8" name="Rectangle 7"/>
          <p:cNvSpPr/>
          <p:nvPr/>
        </p:nvSpPr>
        <p:spPr>
          <a:xfrm>
            <a:off x="777240"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330098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3300984" cy="1188720"/>
          </a:xfrm>
          <a:prstGeom prst="rect">
            <a:avLst/>
          </a:prstGeom>
          <a:noFill/>
        </p:spPr>
        <p:txBody>
          <a:bodyPr wrap="square" anchor="t">
            <a:spAutoFit/>
          </a:bodyPr>
          <a:lstStyle/>
          <a:p>
            <a:pPr algn="ctr">
              <a:spcAft>
                <a:spcPts val="400"/>
              </a:spcAft>
            </a:pPr>
            <a:r>
              <a:rPr sz="3000" b="1">
                <a:solidFill>
                  <a:srgbClr val="1F6FEB"/>
                </a:solidFill>
                <a:latin typeface="Arial"/>
              </a:rPr>
              <a:t>35,000+</a:t>
            </a:r>
          </a:p>
        </p:txBody>
      </p:sp>
      <p:sp>
        <p:nvSpPr>
          <p:cNvPr id="11" name="TextBox 10"/>
          <p:cNvSpPr txBox="1"/>
          <p:nvPr/>
        </p:nvSpPr>
        <p:spPr>
          <a:xfrm>
            <a:off x="960120"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Sales calls observed in the Huthwaite research programme</a:t>
            </a:r>
          </a:p>
        </p:txBody>
      </p:sp>
      <p:sp>
        <p:nvSpPr>
          <p:cNvPr id="12" name="Rectangle 11"/>
          <p:cNvSpPr/>
          <p:nvPr/>
        </p:nvSpPr>
        <p:spPr>
          <a:xfrm>
            <a:off x="4443984"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43984" y="2240280"/>
            <a:ext cx="330098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2651760"/>
            <a:ext cx="3300984" cy="1188720"/>
          </a:xfrm>
          <a:prstGeom prst="rect">
            <a:avLst/>
          </a:prstGeom>
          <a:noFill/>
        </p:spPr>
        <p:txBody>
          <a:bodyPr wrap="square" anchor="t">
            <a:spAutoFit/>
          </a:bodyPr>
          <a:lstStyle/>
          <a:p>
            <a:pPr algn="ctr">
              <a:spcAft>
                <a:spcPts val="400"/>
              </a:spcAft>
            </a:pPr>
            <a:r>
              <a:rPr sz="4400" b="1">
                <a:solidFill>
                  <a:srgbClr val="10B981"/>
                </a:solidFill>
                <a:latin typeface="Arial"/>
              </a:rPr>
              <a:t>12 yrs</a:t>
            </a:r>
          </a:p>
        </p:txBody>
      </p:sp>
      <p:sp>
        <p:nvSpPr>
          <p:cNvPr id="15" name="TextBox 14"/>
          <p:cNvSpPr txBox="1"/>
          <p:nvPr/>
        </p:nvSpPr>
        <p:spPr>
          <a:xfrm>
            <a:off x="4626864"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Duration of the study behind SPIN Selling (published 1988)</a:t>
            </a:r>
          </a:p>
        </p:txBody>
      </p:sp>
      <p:sp>
        <p:nvSpPr>
          <p:cNvPr id="16" name="Rectangle 15"/>
          <p:cNvSpPr/>
          <p:nvPr/>
        </p:nvSpPr>
        <p:spPr>
          <a:xfrm>
            <a:off x="8110728"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0728" y="2240280"/>
            <a:ext cx="330098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0728" y="2651760"/>
            <a:ext cx="3300984" cy="1188720"/>
          </a:xfrm>
          <a:prstGeom prst="rect">
            <a:avLst/>
          </a:prstGeom>
          <a:noFill/>
        </p:spPr>
        <p:txBody>
          <a:bodyPr wrap="square" anchor="t">
            <a:spAutoFit/>
          </a:bodyPr>
          <a:lstStyle/>
          <a:p>
            <a:pPr algn="ctr">
              <a:spcAft>
                <a:spcPts val="400"/>
              </a:spcAft>
            </a:pPr>
            <a:r>
              <a:rPr sz="4400" b="1">
                <a:solidFill>
                  <a:srgbClr val="7C3AED"/>
                </a:solidFill>
                <a:latin typeface="Arial"/>
              </a:rPr>
              <a:t>4</a:t>
            </a:r>
          </a:p>
        </p:txBody>
      </p:sp>
      <p:sp>
        <p:nvSpPr>
          <p:cNvPr id="19" name="TextBox 18"/>
          <p:cNvSpPr txBox="1"/>
          <p:nvPr/>
        </p:nvSpPr>
        <p:spPr>
          <a:xfrm>
            <a:off x="8293608"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Question types — Situation, Problem, Implication, Need-Payoff</a:t>
            </a:r>
          </a:p>
        </p:txBody>
      </p:sp>
      <p:sp>
        <p:nvSpPr>
          <p:cNvPr id="20" name="Rectangle 19"/>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The core finding: top performers ask more Implication and Need-Payoff questions — they get the BUYER to state the value, rather than claiming it themselves.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the Selling Mindset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the Selling Mindset?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Before a single technique matters, the buyer is reading who you are. Mindset is not a warm-up — it is the first thing you sell.</a:t>
            </a:r>
          </a:p>
        </p:txBody>
      </p:sp>
      <p:sp>
        <p:nvSpPr>
          <p:cNvPr id="8" name="Rectangle 7"/>
          <p:cNvSpPr/>
          <p:nvPr/>
        </p:nvSpPr>
        <p:spPr>
          <a:xfrm>
            <a:off x="777240" y="2318004"/>
            <a:ext cx="2452878" cy="345643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318004"/>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455164"/>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eart 10"/>
          <p:cNvSpPr/>
          <p:nvPr/>
        </p:nvSpPr>
        <p:spPr>
          <a:xfrm>
            <a:off x="1816592" y="2562880"/>
            <a:ext cx="374172" cy="351495"/>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34213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Sell Like a Human</a:t>
            </a:r>
          </a:p>
        </p:txBody>
      </p:sp>
      <p:sp>
        <p:nvSpPr>
          <p:cNvPr id="13" name="TextBox 12"/>
          <p:cNvSpPr txBox="1"/>
          <p:nvPr/>
        </p:nvSpPr>
        <p:spPr>
          <a:xfrm>
            <a:off x="941832" y="3945636"/>
            <a:ext cx="2123694" cy="1719072"/>
          </a:xfrm>
          <a:prstGeom prst="rect">
            <a:avLst/>
          </a:prstGeom>
          <a:noFill/>
        </p:spPr>
        <p:txBody>
          <a:bodyPr wrap="square" anchor="t">
            <a:spAutoFit/>
          </a:bodyPr>
          <a:lstStyle/>
          <a:p>
            <a:pPr algn="ctr">
              <a:spcAft>
                <a:spcPts val="400"/>
              </a:spcAft>
            </a:pPr>
            <a:r>
              <a:rPr sz="1000" b="0">
                <a:solidFill>
                  <a:srgbClr val="5B6372"/>
                </a:solidFill>
                <a:latin typeface="Arial"/>
              </a:rPr>
              <a:t>Talk to a person solving a problem, not a quota to close.</a:t>
            </a:r>
          </a:p>
        </p:txBody>
      </p:sp>
      <p:sp>
        <p:nvSpPr>
          <p:cNvPr id="14" name="Rectangle 13"/>
          <p:cNvSpPr/>
          <p:nvPr/>
        </p:nvSpPr>
        <p:spPr>
          <a:xfrm>
            <a:off x="3504438" y="2318004"/>
            <a:ext cx="2452878" cy="345643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318004"/>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47413" y="2455164"/>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nut 16"/>
          <p:cNvSpPr/>
          <p:nvPr/>
        </p:nvSpPr>
        <p:spPr>
          <a:xfrm>
            <a:off x="4515444" y="2523195"/>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657176" y="2664927"/>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34213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Want It Genuinely</a:t>
            </a:r>
          </a:p>
        </p:txBody>
      </p:sp>
      <p:sp>
        <p:nvSpPr>
          <p:cNvPr id="20" name="TextBox 19"/>
          <p:cNvSpPr txBox="1"/>
          <p:nvPr/>
        </p:nvSpPr>
        <p:spPr>
          <a:xfrm>
            <a:off x="3669030" y="3945636"/>
            <a:ext cx="2123694" cy="1719072"/>
          </a:xfrm>
          <a:prstGeom prst="rect">
            <a:avLst/>
          </a:prstGeom>
          <a:noFill/>
        </p:spPr>
        <p:txBody>
          <a:bodyPr wrap="square" anchor="t">
            <a:spAutoFit/>
          </a:bodyPr>
          <a:lstStyle/>
          <a:p>
            <a:pPr algn="ctr">
              <a:spcAft>
                <a:spcPts val="400"/>
              </a:spcAft>
            </a:pPr>
            <a:r>
              <a:rPr sz="1000" b="0">
                <a:solidFill>
                  <a:srgbClr val="5B6372"/>
                </a:solidFill>
                <a:latin typeface="Arial"/>
              </a:rPr>
              <a:t>Real desire to help the buyer win is what sustains persistence.</a:t>
            </a:r>
          </a:p>
        </p:txBody>
      </p:sp>
      <p:sp>
        <p:nvSpPr>
          <p:cNvPr id="21" name="Rectangle 20"/>
          <p:cNvSpPr/>
          <p:nvPr/>
        </p:nvSpPr>
        <p:spPr>
          <a:xfrm>
            <a:off x="6231636" y="2318004"/>
            <a:ext cx="2452878" cy="345643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318004"/>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455164"/>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entagon 23"/>
          <p:cNvSpPr/>
          <p:nvPr/>
        </p:nvSpPr>
        <p:spPr>
          <a:xfrm rot="5400000">
            <a:off x="7293665" y="2574218"/>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96228" y="334213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Confidence From Prep</a:t>
            </a:r>
          </a:p>
        </p:txBody>
      </p:sp>
      <p:sp>
        <p:nvSpPr>
          <p:cNvPr id="26" name="TextBox 25"/>
          <p:cNvSpPr txBox="1"/>
          <p:nvPr/>
        </p:nvSpPr>
        <p:spPr>
          <a:xfrm>
            <a:off x="6396228" y="3945636"/>
            <a:ext cx="2123694" cy="1719072"/>
          </a:xfrm>
          <a:prstGeom prst="rect">
            <a:avLst/>
          </a:prstGeom>
          <a:noFill/>
        </p:spPr>
        <p:txBody>
          <a:bodyPr wrap="square" anchor="t">
            <a:spAutoFit/>
          </a:bodyPr>
          <a:lstStyle/>
          <a:p>
            <a:pPr algn="ctr">
              <a:spcAft>
                <a:spcPts val="400"/>
              </a:spcAft>
            </a:pPr>
            <a:r>
              <a:rPr sz="1000" b="0">
                <a:solidFill>
                  <a:srgbClr val="5B6372"/>
                </a:solidFill>
                <a:latin typeface="Arial"/>
              </a:rPr>
              <a:t>Confidence comes from preparation, not from volume or bravado.</a:t>
            </a:r>
          </a:p>
        </p:txBody>
      </p:sp>
      <p:sp>
        <p:nvSpPr>
          <p:cNvPr id="27" name="Rectangle 26"/>
          <p:cNvSpPr/>
          <p:nvPr/>
        </p:nvSpPr>
        <p:spPr>
          <a:xfrm>
            <a:off x="8958834" y="2318004"/>
            <a:ext cx="2452878" cy="345643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58834" y="2318004"/>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01809" y="2455164"/>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ightning Bolt 29"/>
          <p:cNvSpPr/>
          <p:nvPr/>
        </p:nvSpPr>
        <p:spPr>
          <a:xfrm>
            <a:off x="10043541" y="2534533"/>
            <a:ext cx="283464" cy="408188"/>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23426" y="334213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Reduce the Fear</a:t>
            </a:r>
          </a:p>
        </p:txBody>
      </p:sp>
      <p:sp>
        <p:nvSpPr>
          <p:cNvPr id="32" name="TextBox 31"/>
          <p:cNvSpPr txBox="1"/>
          <p:nvPr/>
        </p:nvSpPr>
        <p:spPr>
          <a:xfrm>
            <a:off x="9123426" y="3945636"/>
            <a:ext cx="2123694" cy="1719072"/>
          </a:xfrm>
          <a:prstGeom prst="rect">
            <a:avLst/>
          </a:prstGeom>
          <a:noFill/>
        </p:spPr>
        <p:txBody>
          <a:bodyPr wrap="square" anchor="t">
            <a:spAutoFit/>
          </a:bodyPr>
          <a:lstStyle/>
          <a:p>
            <a:pPr algn="ctr">
              <a:spcAft>
                <a:spcPts val="400"/>
              </a:spcAft>
            </a:pPr>
            <a:r>
              <a:rPr sz="1000" b="0">
                <a:solidFill>
                  <a:srgbClr val="5B6372"/>
                </a:solidFill>
                <a:latin typeface="Arial"/>
              </a:rPr>
              <a:t>A 'no' is information about fit — never a verdict on your worth.</a:t>
            </a:r>
          </a:p>
        </p:txBody>
      </p:sp>
      <p:sp>
        <p:nvSpPr>
          <p:cNvPr id="33" name="TextBox 32"/>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sales-mindset coaching practice; emotional-intelligence components (self-awareness, self-regulation, motivation)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How Mindset Shapes the Call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Prepare With Intent</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Know the buyer's likely world, not just your pitch.</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Lead With Curiosity</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Open with a real question, never a script.</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Regulate Yourself</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Pause, name your own reaction, then respond.</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Stay Outcome-Focused</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Keep attention on their goal, not your commission.</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Self-regulation is the skill: the pause between what you feel and what you say is where the deal is protected.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sales-mindset coaching practice; EI self-regulation research</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Fear-Driven vs Confidence-Driven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ft Arrow 6"/>
          <p:cNvSpPr/>
          <p:nvPr/>
        </p:nvSpPr>
        <p:spPr>
          <a:xfrm>
            <a:off x="777240" y="2103120"/>
            <a:ext cx="5134356" cy="658368"/>
          </a:xfrm>
          <a:prstGeom prst="leftArrow">
            <a:avLst/>
          </a:prstGeom>
          <a:solidFill>
            <a:srgbClr val="C03939"/>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234440" y="2103120"/>
            <a:ext cx="4219956" cy="658368"/>
          </a:xfrm>
          <a:prstGeom prst="rect">
            <a:avLst/>
          </a:prstGeom>
          <a:noFill/>
        </p:spPr>
        <p:txBody>
          <a:bodyPr wrap="square" anchor="ctr">
            <a:spAutoFit/>
          </a:bodyPr>
          <a:lstStyle/>
          <a:p>
            <a:pPr algn="ctr">
              <a:spcAft>
                <a:spcPts val="400"/>
              </a:spcAft>
            </a:pPr>
            <a:r>
              <a:rPr sz="1500" b="1">
                <a:solidFill>
                  <a:srgbClr val="FFFFFF"/>
                </a:solidFill>
                <a:latin typeface="Arial"/>
              </a:rPr>
              <a:t>FEAR-DRIVEN</a:t>
            </a:r>
          </a:p>
        </p:txBody>
      </p:sp>
      <p:sp>
        <p:nvSpPr>
          <p:cNvPr id="9" name="Rectangle 8"/>
          <p:cNvSpPr/>
          <p:nvPr/>
        </p:nvSpPr>
        <p:spPr>
          <a:xfrm>
            <a:off x="777240" y="297180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97180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 y="316992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ightning Bolt 11"/>
          <p:cNvSpPr/>
          <p:nvPr/>
        </p:nvSpPr>
        <p:spPr>
          <a:xfrm>
            <a:off x="1229868" y="3233928"/>
            <a:ext cx="228600" cy="32918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764792" y="297180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Rushes to Pitch</a:t>
            </a:r>
          </a:p>
          <a:p>
            <a:pPr algn="l">
              <a:spcAft>
                <a:spcPts val="200"/>
              </a:spcAft>
            </a:pPr>
            <a:r>
              <a:rPr sz="1100" b="0">
                <a:solidFill>
                  <a:srgbClr val="5B6372"/>
                </a:solidFill>
                <a:latin typeface="Arial"/>
              </a:rPr>
              <a:t>Fills every silence with more features.</a:t>
            </a:r>
          </a:p>
        </p:txBody>
      </p:sp>
      <p:sp>
        <p:nvSpPr>
          <p:cNvPr id="14" name="Rectangle 13"/>
          <p:cNvSpPr/>
          <p:nvPr/>
        </p:nvSpPr>
        <p:spPr>
          <a:xfrm>
            <a:off x="777240" y="400812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00812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15568" y="420624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entagon 16"/>
          <p:cNvSpPr/>
          <p:nvPr/>
        </p:nvSpPr>
        <p:spPr>
          <a:xfrm rot="5400000">
            <a:off x="1211580" y="4302252"/>
            <a:ext cx="265176" cy="265176"/>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764792" y="400812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Takes It Personally</a:t>
            </a:r>
          </a:p>
          <a:p>
            <a:pPr algn="l">
              <a:spcAft>
                <a:spcPts val="200"/>
              </a:spcAft>
            </a:pPr>
            <a:r>
              <a:rPr sz="1100" b="0">
                <a:solidFill>
                  <a:srgbClr val="5B6372"/>
                </a:solidFill>
                <a:latin typeface="Arial"/>
              </a:rPr>
              <a:t>Hears an objection as a personal judgement.</a:t>
            </a:r>
          </a:p>
        </p:txBody>
      </p:sp>
      <p:sp>
        <p:nvSpPr>
          <p:cNvPr id="19" name="Rectangle 18"/>
          <p:cNvSpPr/>
          <p:nvPr/>
        </p:nvSpPr>
        <p:spPr>
          <a:xfrm>
            <a:off x="777240" y="504444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04444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5568" y="524256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2436" y="5498592"/>
            <a:ext cx="64008" cy="114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298448" y="5418582"/>
            <a:ext cx="64008" cy="19431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394460" y="5350002"/>
            <a:ext cx="64008" cy="2628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764792" y="504444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Over-Promises</a:t>
            </a:r>
          </a:p>
          <a:p>
            <a:pPr algn="l">
              <a:spcAft>
                <a:spcPts val="200"/>
              </a:spcAft>
            </a:pPr>
            <a:r>
              <a:rPr sz="1100" b="0">
                <a:solidFill>
                  <a:srgbClr val="5B6372"/>
                </a:solidFill>
                <a:latin typeface="Arial"/>
              </a:rPr>
              <a:t>Says yes to anything rather than lose the deal.</a:t>
            </a:r>
          </a:p>
        </p:txBody>
      </p:sp>
      <p:sp>
        <p:nvSpPr>
          <p:cNvPr id="26" name="Right Arrow 25"/>
          <p:cNvSpPr/>
          <p:nvPr/>
        </p:nvSpPr>
        <p:spPr>
          <a:xfrm>
            <a:off x="6277356" y="2103120"/>
            <a:ext cx="5134356" cy="658368"/>
          </a:xfrm>
          <a:prstGeom prst="rightArrow">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734556" y="2103120"/>
            <a:ext cx="4219956" cy="658368"/>
          </a:xfrm>
          <a:prstGeom prst="rect">
            <a:avLst/>
          </a:prstGeom>
          <a:noFill/>
        </p:spPr>
        <p:txBody>
          <a:bodyPr wrap="square" anchor="ctr">
            <a:spAutoFit/>
          </a:bodyPr>
          <a:lstStyle/>
          <a:p>
            <a:pPr algn="ctr">
              <a:spcAft>
                <a:spcPts val="400"/>
              </a:spcAft>
            </a:pPr>
            <a:r>
              <a:rPr sz="1500" b="1">
                <a:solidFill>
                  <a:srgbClr val="FFFFFF"/>
                </a:solidFill>
                <a:latin typeface="Arial"/>
              </a:rPr>
              <a:t>CONFIDENCE-DRIVEN</a:t>
            </a:r>
          </a:p>
        </p:txBody>
      </p:sp>
      <p:sp>
        <p:nvSpPr>
          <p:cNvPr id="28" name="Rectangle 27"/>
          <p:cNvSpPr/>
          <p:nvPr/>
        </p:nvSpPr>
        <p:spPr>
          <a:xfrm>
            <a:off x="6277356" y="297180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77356" y="297180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15684" y="316992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ular Callout 30"/>
          <p:cNvSpPr/>
          <p:nvPr/>
        </p:nvSpPr>
        <p:spPr>
          <a:xfrm>
            <a:off x="6693408" y="3265932"/>
            <a:ext cx="301752" cy="228600"/>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264908" y="297180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Asks, Then Waits</a:t>
            </a:r>
          </a:p>
          <a:p>
            <a:pPr algn="l">
              <a:spcAft>
                <a:spcPts val="200"/>
              </a:spcAft>
            </a:pPr>
            <a:r>
              <a:rPr sz="1100" b="0">
                <a:solidFill>
                  <a:srgbClr val="5B6372"/>
                </a:solidFill>
                <a:latin typeface="Arial"/>
              </a:rPr>
              <a:t>Asks a real question and can sit with the pause.</a:t>
            </a:r>
          </a:p>
        </p:txBody>
      </p:sp>
      <p:sp>
        <p:nvSpPr>
          <p:cNvPr id="33" name="Rectangle 32"/>
          <p:cNvSpPr/>
          <p:nvPr/>
        </p:nvSpPr>
        <p:spPr>
          <a:xfrm>
            <a:off x="6277356" y="400812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77356" y="400812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15684" y="42062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eart 35"/>
          <p:cNvSpPr/>
          <p:nvPr/>
        </p:nvSpPr>
        <p:spPr>
          <a:xfrm>
            <a:off x="6693408" y="4293108"/>
            <a:ext cx="301752" cy="283464"/>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264908" y="400812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Hears a Request</a:t>
            </a:r>
          </a:p>
          <a:p>
            <a:pPr algn="l">
              <a:spcAft>
                <a:spcPts val="200"/>
              </a:spcAft>
            </a:pPr>
            <a:r>
              <a:rPr sz="1100" b="0">
                <a:solidFill>
                  <a:srgbClr val="5B6372"/>
                </a:solidFill>
                <a:latin typeface="Arial"/>
              </a:rPr>
              <a:t>Treats an objection as a request for information.</a:t>
            </a:r>
          </a:p>
        </p:txBody>
      </p:sp>
      <p:sp>
        <p:nvSpPr>
          <p:cNvPr id="38" name="Rectangle 37"/>
          <p:cNvSpPr/>
          <p:nvPr/>
        </p:nvSpPr>
        <p:spPr>
          <a:xfrm>
            <a:off x="6277356" y="504444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77356" y="504444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615684" y="524256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rot="2700000">
            <a:off x="6718554" y="5475732"/>
            <a:ext cx="114300" cy="365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rot="18900000">
            <a:off x="6780276" y="5448300"/>
            <a:ext cx="210312" cy="365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264908" y="504444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States Limits Honestly</a:t>
            </a:r>
          </a:p>
          <a:p>
            <a:pPr algn="l">
              <a:spcAft>
                <a:spcPts val="200"/>
              </a:spcAft>
            </a:pPr>
            <a:r>
              <a:rPr sz="1100" b="0">
                <a:solidFill>
                  <a:srgbClr val="5B6372"/>
                </a:solidFill>
                <a:latin typeface="Arial"/>
              </a:rPr>
              <a:t>Trust outlasts any single transaction.</a:t>
            </a:r>
          </a:p>
        </p:txBody>
      </p:sp>
      <p:sp>
        <p:nvSpPr>
          <p:cNvPr id="44" name="TextBox 43"/>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sales-mindset coaching practice</a:t>
            </a:r>
          </a:p>
        </p:txBody>
      </p:sp>
      <p:sp>
        <p:nvSpPr>
          <p:cNvPr id="45" name="TextBox 4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6" name="TextBox 4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Mindset Comes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numbers behind 'people buy from people' — treat these as directional, not precise.</a:t>
            </a:r>
          </a:p>
        </p:txBody>
      </p:sp>
      <p:sp>
        <p:nvSpPr>
          <p:cNvPr id="8" name="Rectangle 7"/>
          <p:cNvSpPr/>
          <p:nvPr/>
        </p:nvSpPr>
        <p:spPr>
          <a:xfrm>
            <a:off x="777240"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286000"/>
            <a:ext cx="3337560" cy="128016"/>
          </a:xfrm>
          <a:prstGeom prst="roundRect">
            <a:avLst/>
          </a:prstGeom>
          <a:gradFill rotWithShape="1">
            <a:gsLst>
              <a:gs pos="0">
                <a:srgbClr val="2A76EC"/>
              </a:gs>
              <a:gs pos="100000">
                <a:srgbClr val="1856B7"/>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61488"/>
            <a:ext cx="3337560" cy="1097280"/>
          </a:xfrm>
          <a:prstGeom prst="rect">
            <a:avLst/>
          </a:prstGeom>
          <a:noFill/>
        </p:spPr>
        <p:txBody>
          <a:bodyPr wrap="square" anchor="t">
            <a:spAutoFit/>
          </a:bodyPr>
          <a:lstStyle/>
          <a:p>
            <a:pPr algn="ctr">
              <a:spcAft>
                <a:spcPts val="400"/>
              </a:spcAft>
            </a:pPr>
            <a:r>
              <a:rPr sz="4600" b="1">
                <a:solidFill>
                  <a:srgbClr val="1F6FEB"/>
                </a:solidFill>
                <a:latin typeface="Arial"/>
              </a:rPr>
              <a:t>70%</a:t>
            </a:r>
          </a:p>
        </p:txBody>
      </p:sp>
      <p:sp>
        <p:nvSpPr>
          <p:cNvPr id="11" name="TextBox 10"/>
          <p:cNvSpPr txBox="1"/>
          <p:nvPr/>
        </p:nvSpPr>
        <p:spPr>
          <a:xfrm>
            <a:off x="960120"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Buy on feeling</a:t>
            </a:r>
          </a:p>
        </p:txBody>
      </p:sp>
      <p:sp>
        <p:nvSpPr>
          <p:cNvPr id="12" name="TextBox 11"/>
          <p:cNvSpPr txBox="1"/>
          <p:nvPr/>
        </p:nvSpPr>
        <p:spPr>
          <a:xfrm>
            <a:off x="960120" y="4507992"/>
            <a:ext cx="2971800" cy="457200"/>
          </a:xfrm>
          <a:prstGeom prst="rect">
            <a:avLst/>
          </a:prstGeom>
          <a:noFill/>
        </p:spPr>
        <p:txBody>
          <a:bodyPr wrap="square" anchor="t">
            <a:spAutoFit/>
          </a:bodyPr>
          <a:lstStyle/>
          <a:p>
            <a:pPr algn="ctr">
              <a:spcAft>
                <a:spcPts val="400"/>
              </a:spcAft>
            </a:pPr>
            <a:r>
              <a:rPr sz="1200" b="1">
                <a:solidFill>
                  <a:srgbClr val="5B6372"/>
                </a:solidFill>
                <a:latin typeface="Arial"/>
              </a:rPr>
              <a:t>●  </a:t>
            </a:r>
            <a:r>
              <a:rPr sz="1150" b="0">
                <a:solidFill>
                  <a:srgbClr val="5B6372"/>
                </a:solidFill>
                <a:latin typeface="Arial"/>
              </a:rPr>
              <a:t>of customers buy based on how they feel about the seller</a:t>
            </a:r>
          </a:p>
        </p:txBody>
      </p:sp>
      <p:sp>
        <p:nvSpPr>
          <p:cNvPr id="13" name="Rectangle 12"/>
          <p:cNvSpPr/>
          <p:nvPr/>
        </p:nvSpPr>
        <p:spPr>
          <a:xfrm>
            <a:off x="4425696"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2286000"/>
            <a:ext cx="3337560" cy="128016"/>
          </a:xfrm>
          <a:prstGeom prst="roundRect">
            <a:avLst/>
          </a:prstGeom>
          <a:gradFill rotWithShape="1">
            <a:gsLst>
              <a:gs pos="0">
                <a:srgbClr val="1BBC87"/>
              </a:gs>
              <a:gs pos="100000">
                <a:srgbClr val="0C9064"/>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2761488"/>
            <a:ext cx="3337560" cy="1097280"/>
          </a:xfrm>
          <a:prstGeom prst="rect">
            <a:avLst/>
          </a:prstGeom>
          <a:noFill/>
        </p:spPr>
        <p:txBody>
          <a:bodyPr wrap="square" anchor="t">
            <a:spAutoFit/>
          </a:bodyPr>
          <a:lstStyle/>
          <a:p>
            <a:pPr algn="ctr">
              <a:spcAft>
                <a:spcPts val="400"/>
              </a:spcAft>
            </a:pPr>
            <a:r>
              <a:rPr sz="4600" b="1">
                <a:solidFill>
                  <a:srgbClr val="10B981"/>
                </a:solidFill>
                <a:latin typeface="Arial"/>
              </a:rPr>
              <a:t>+50%</a:t>
            </a:r>
          </a:p>
        </p:txBody>
      </p:sp>
      <p:sp>
        <p:nvSpPr>
          <p:cNvPr id="16" name="TextBox 15"/>
          <p:cNvSpPr txBox="1"/>
          <p:nvPr/>
        </p:nvSpPr>
        <p:spPr>
          <a:xfrm>
            <a:off x="4608576"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High-EQ advantage</a:t>
            </a:r>
          </a:p>
        </p:txBody>
      </p:sp>
      <p:sp>
        <p:nvSpPr>
          <p:cNvPr id="17" name="TextBox 16"/>
          <p:cNvSpPr txBox="1"/>
          <p:nvPr/>
        </p:nvSpPr>
        <p:spPr>
          <a:xfrm>
            <a:off x="4608576" y="4507992"/>
            <a:ext cx="2971800" cy="457200"/>
          </a:xfrm>
          <a:prstGeom prst="rect">
            <a:avLst/>
          </a:prstGeom>
          <a:noFill/>
        </p:spPr>
        <p:txBody>
          <a:bodyPr wrap="square" anchor="t">
            <a:spAutoFit/>
          </a:bodyPr>
          <a:lstStyle/>
          <a:p>
            <a:pPr algn="ctr">
              <a:spcAft>
                <a:spcPts val="400"/>
              </a:spcAft>
            </a:pPr>
            <a:r>
              <a:rPr sz="1200" b="1">
                <a:solidFill>
                  <a:srgbClr val="10B981"/>
                </a:solidFill>
                <a:latin typeface="Arial"/>
              </a:rPr>
              <a:t>▲  </a:t>
            </a:r>
            <a:r>
              <a:rPr sz="1150" b="0">
                <a:solidFill>
                  <a:srgbClr val="5B6372"/>
                </a:solidFill>
                <a:latin typeface="Arial"/>
              </a:rPr>
              <a:t>reported outperformance of high-EQ sellers vs peers</a:t>
            </a:r>
          </a:p>
        </p:txBody>
      </p:sp>
      <p:sp>
        <p:nvSpPr>
          <p:cNvPr id="18" name="Rectangle 17"/>
          <p:cNvSpPr/>
          <p:nvPr/>
        </p:nvSpPr>
        <p:spPr>
          <a:xfrm>
            <a:off x="8074152"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74152" y="2286000"/>
            <a:ext cx="3337560" cy="128016"/>
          </a:xfrm>
          <a:prstGeom prst="roundRect">
            <a:avLst/>
          </a:prstGeom>
          <a:gradFill rotWithShape="1">
            <a:gsLst>
              <a:gs pos="0">
                <a:srgbClr val="8243ED"/>
              </a:gs>
              <a:gs pos="100000">
                <a:srgbClr val="602DB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2761488"/>
            <a:ext cx="3337560" cy="1097280"/>
          </a:xfrm>
          <a:prstGeom prst="rect">
            <a:avLst/>
          </a:prstGeom>
          <a:noFill/>
        </p:spPr>
        <p:txBody>
          <a:bodyPr wrap="square" anchor="t">
            <a:spAutoFit/>
          </a:bodyPr>
          <a:lstStyle/>
          <a:p>
            <a:pPr algn="ctr">
              <a:spcAft>
                <a:spcPts val="400"/>
              </a:spcAft>
            </a:pPr>
            <a:r>
              <a:rPr sz="4600" b="1">
                <a:solidFill>
                  <a:srgbClr val="7C3AED"/>
                </a:solidFill>
                <a:latin typeface="Arial"/>
              </a:rPr>
              <a:t>93%</a:t>
            </a:r>
          </a:p>
        </p:txBody>
      </p:sp>
      <p:sp>
        <p:nvSpPr>
          <p:cNvPr id="21" name="TextBox 20"/>
          <p:cNvSpPr txBox="1"/>
          <p:nvPr/>
        </p:nvSpPr>
        <p:spPr>
          <a:xfrm>
            <a:off x="8257032"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Non-verbal</a:t>
            </a:r>
          </a:p>
        </p:txBody>
      </p:sp>
      <p:sp>
        <p:nvSpPr>
          <p:cNvPr id="22" name="TextBox 21"/>
          <p:cNvSpPr txBox="1"/>
          <p:nvPr/>
        </p:nvSpPr>
        <p:spPr>
          <a:xfrm>
            <a:off x="8257032" y="4507992"/>
            <a:ext cx="2971800" cy="457200"/>
          </a:xfrm>
          <a:prstGeom prst="rect">
            <a:avLst/>
          </a:prstGeom>
          <a:noFill/>
        </p:spPr>
        <p:txBody>
          <a:bodyPr wrap="square" anchor="t">
            <a:spAutoFit/>
          </a:bodyPr>
          <a:lstStyle/>
          <a:p>
            <a:pPr algn="ctr">
              <a:spcAft>
                <a:spcPts val="400"/>
              </a:spcAft>
            </a:pPr>
            <a:r>
              <a:rPr sz="1200" b="1">
                <a:solidFill>
                  <a:srgbClr val="5B6372"/>
                </a:solidFill>
                <a:latin typeface="Arial"/>
              </a:rPr>
              <a:t>●  </a:t>
            </a:r>
            <a:r>
              <a:rPr sz="1150" b="0">
                <a:solidFill>
                  <a:srgbClr val="5B6372"/>
                </a:solidFill>
                <a:latin typeface="Arial"/>
              </a:rPr>
              <a:t>commonly-cited share of meaning carried beyond the words</a:t>
            </a:r>
          </a:p>
        </p:txBody>
      </p:sp>
      <p:sp>
        <p:nvSpPr>
          <p:cNvPr id="23" name="Rectangle 22"/>
          <p:cNvSpPr/>
          <p:nvPr/>
        </p:nvSpPr>
        <p:spPr>
          <a:xfrm>
            <a:off x="777240" y="562356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623560"/>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623560"/>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Directional figures, widely cited in sales-EI literature — use them to make the point, not as precise benchmarks.</a:t>
            </a:r>
          </a:p>
        </p:txBody>
      </p:sp>
      <p:sp>
        <p:nvSpPr>
          <p:cNvPr id="26" name="TextBox 2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emotional-intelligence-in-sales literature (Cerda Dubó, LinkedIn, 2025; Paperflite) — commonly-cited industry figures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Empathy in Selling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Empathy in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Empathy is not being nice. It is the disciplined skill of understanding the buyer's world accurately enough to be genuinely useful in it.</a:t>
            </a:r>
          </a:p>
        </p:txBody>
      </p:sp>
      <p:sp>
        <p:nvSpPr>
          <p:cNvPr id="8" name="Rectangle 7"/>
          <p:cNvSpPr/>
          <p:nvPr/>
        </p:nvSpPr>
        <p:spPr>
          <a:xfrm>
            <a:off x="777240" y="2354580"/>
            <a:ext cx="2452878" cy="338328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354580"/>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491740"/>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nut 10"/>
          <p:cNvSpPr/>
          <p:nvPr/>
        </p:nvSpPr>
        <p:spPr>
          <a:xfrm>
            <a:off x="1827931" y="2588117"/>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rot="2700000">
            <a:off x="2049033" y="2831896"/>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1832" y="337870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See Their World</a:t>
            </a:r>
          </a:p>
        </p:txBody>
      </p:sp>
      <p:sp>
        <p:nvSpPr>
          <p:cNvPr id="14" name="TextBox 13"/>
          <p:cNvSpPr txBox="1"/>
          <p:nvPr/>
        </p:nvSpPr>
        <p:spPr>
          <a:xfrm>
            <a:off x="941832" y="3982212"/>
            <a:ext cx="2123694" cy="1645920"/>
          </a:xfrm>
          <a:prstGeom prst="rect">
            <a:avLst/>
          </a:prstGeom>
          <a:noFill/>
        </p:spPr>
        <p:txBody>
          <a:bodyPr wrap="square" anchor="t">
            <a:spAutoFit/>
          </a:bodyPr>
          <a:lstStyle/>
          <a:p>
            <a:pPr algn="ctr">
              <a:spcAft>
                <a:spcPts val="400"/>
              </a:spcAft>
            </a:pPr>
            <a:r>
              <a:rPr sz="1000" b="0">
                <a:solidFill>
                  <a:srgbClr val="5B6372"/>
                </a:solidFill>
                <a:latin typeface="Arial"/>
              </a:rPr>
              <a:t>Take the buyer's perspective as they actually experience it.</a:t>
            </a:r>
          </a:p>
        </p:txBody>
      </p:sp>
      <p:sp>
        <p:nvSpPr>
          <p:cNvPr id="15" name="Rectangle 14"/>
          <p:cNvSpPr/>
          <p:nvPr/>
        </p:nvSpPr>
        <p:spPr>
          <a:xfrm>
            <a:off x="3504438" y="2354580"/>
            <a:ext cx="2452878" cy="338328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04438" y="2354580"/>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47413" y="2491740"/>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entagon 17"/>
          <p:cNvSpPr/>
          <p:nvPr/>
        </p:nvSpPr>
        <p:spPr>
          <a:xfrm rot="5400000">
            <a:off x="4566467" y="2610794"/>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37870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Stay Non-Judgemental</a:t>
            </a:r>
          </a:p>
        </p:txBody>
      </p:sp>
      <p:sp>
        <p:nvSpPr>
          <p:cNvPr id="20" name="TextBox 19"/>
          <p:cNvSpPr txBox="1"/>
          <p:nvPr/>
        </p:nvSpPr>
        <p:spPr>
          <a:xfrm>
            <a:off x="3669030" y="3982212"/>
            <a:ext cx="2123694" cy="1645920"/>
          </a:xfrm>
          <a:prstGeom prst="rect">
            <a:avLst/>
          </a:prstGeom>
          <a:noFill/>
        </p:spPr>
        <p:txBody>
          <a:bodyPr wrap="square" anchor="t">
            <a:spAutoFit/>
          </a:bodyPr>
          <a:lstStyle/>
          <a:p>
            <a:pPr algn="ctr">
              <a:spcAft>
                <a:spcPts val="400"/>
              </a:spcAft>
            </a:pPr>
            <a:r>
              <a:rPr sz="1000" b="0">
                <a:solidFill>
                  <a:srgbClr val="5B6372"/>
                </a:solidFill>
                <a:latin typeface="Arial"/>
              </a:rPr>
              <a:t>Drop the verdict on whether their concern is reasonable.</a:t>
            </a:r>
          </a:p>
        </p:txBody>
      </p:sp>
      <p:sp>
        <p:nvSpPr>
          <p:cNvPr id="21" name="Rectangle 20"/>
          <p:cNvSpPr/>
          <p:nvPr/>
        </p:nvSpPr>
        <p:spPr>
          <a:xfrm>
            <a:off x="6231636" y="2354580"/>
            <a:ext cx="2452878" cy="338328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354580"/>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491740"/>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59650" y="2599456"/>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500594" y="2599456"/>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236973" y="2780873"/>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480752" y="2780873"/>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96228" y="337870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Separate Your Feelings</a:t>
            </a:r>
          </a:p>
        </p:txBody>
      </p:sp>
      <p:sp>
        <p:nvSpPr>
          <p:cNvPr id="29" name="TextBox 28"/>
          <p:cNvSpPr txBox="1"/>
          <p:nvPr/>
        </p:nvSpPr>
        <p:spPr>
          <a:xfrm>
            <a:off x="6396228" y="3982212"/>
            <a:ext cx="2123694" cy="1645920"/>
          </a:xfrm>
          <a:prstGeom prst="rect">
            <a:avLst/>
          </a:prstGeom>
          <a:noFill/>
        </p:spPr>
        <p:txBody>
          <a:bodyPr wrap="square" anchor="t">
            <a:spAutoFit/>
          </a:bodyPr>
          <a:lstStyle/>
          <a:p>
            <a:pPr algn="ctr">
              <a:spcAft>
                <a:spcPts val="400"/>
              </a:spcAft>
            </a:pPr>
            <a:r>
              <a:rPr sz="1000" b="0">
                <a:solidFill>
                  <a:srgbClr val="5B6372"/>
                </a:solidFill>
                <a:latin typeface="Arial"/>
              </a:rPr>
              <a:t>Recognise your own reaction as yours, not theirs.</a:t>
            </a:r>
          </a:p>
        </p:txBody>
      </p:sp>
      <p:sp>
        <p:nvSpPr>
          <p:cNvPr id="30" name="Rectangle 29"/>
          <p:cNvSpPr/>
          <p:nvPr/>
        </p:nvSpPr>
        <p:spPr>
          <a:xfrm>
            <a:off x="8958834" y="2354580"/>
            <a:ext cx="2452878" cy="338328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58834" y="2354580"/>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01809" y="2491740"/>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ular Callout 32"/>
          <p:cNvSpPr/>
          <p:nvPr/>
        </p:nvSpPr>
        <p:spPr>
          <a:xfrm>
            <a:off x="9998186" y="2610794"/>
            <a:ext cx="374172" cy="283464"/>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23426" y="337870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Prioritise Their Story</a:t>
            </a:r>
          </a:p>
        </p:txBody>
      </p:sp>
      <p:sp>
        <p:nvSpPr>
          <p:cNvPr id="35" name="TextBox 34"/>
          <p:cNvSpPr txBox="1"/>
          <p:nvPr/>
        </p:nvSpPr>
        <p:spPr>
          <a:xfrm>
            <a:off x="9123426" y="3982212"/>
            <a:ext cx="2123694" cy="1645920"/>
          </a:xfrm>
          <a:prstGeom prst="rect">
            <a:avLst/>
          </a:prstGeom>
          <a:noFill/>
        </p:spPr>
        <p:txBody>
          <a:bodyPr wrap="square" anchor="t">
            <a:spAutoFit/>
          </a:bodyPr>
          <a:lstStyle/>
          <a:p>
            <a:pPr algn="ctr">
              <a:spcAft>
                <a:spcPts val="400"/>
              </a:spcAft>
            </a:pPr>
            <a:r>
              <a:rPr sz="1000" b="0">
                <a:solidFill>
                  <a:srgbClr val="5B6372"/>
                </a:solidFill>
                <a:latin typeface="Arial"/>
              </a:rPr>
              <a:t>Their account of the problem outranks your pitch.</a:t>
            </a:r>
          </a:p>
        </p:txBody>
      </p:sp>
      <p:sp>
        <p:nvSpPr>
          <p:cNvPr id="36" name="TextBox 3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Brené Brown's four attributes of empathy, applied to selling (via empathy-driven sales-closing practice)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Affect Labelling — Noll's 'Listen to the Emotions'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Listen Beneath the Words</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Track the feeling driving the sentence, not its content.</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Name the Emotion</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Reflect it back plainly: "You're frustrated by the delays."</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Let It Land</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Say nothing. Recognition needs a moment to register.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Resume Rationally</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Once the reaction settles, the problem-solving can start.</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Affect labelling dampens the brain's reactive centres — Doug Noll reports it can restore rational dialogue in under 90 seconds.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Doug Noll, affect labelling / the 90-Second Power Move; neuroscience of emotion labelling and amygdala reactivity</a:t>
            </a:r>
          </a:p>
        </p:txBody>
      </p:sp>
    </p:spTree>
  </p:cSld>
  <p:clrMapOvr>
    <a:masterClrMapping/>
  </p:clrMapOvr>
  <p:transition spd="fast" advClick="1">
    <p:wipe dir="l"/>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Sympathy vs Empathy — Only One of Them Sells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5134356" cy="37947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5134356" cy="1234440"/>
          </a:xfrm>
          <a:prstGeom prst="roundRect">
            <a:avLst/>
          </a:prstGeom>
          <a:gradFill rotWithShape="1">
            <a:gsLst>
              <a:gs pos="0">
                <a:srgbClr val="307AEC"/>
              </a:gs>
              <a:gs pos="100000">
                <a:srgbClr val="1858BC"/>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49424"/>
            <a:ext cx="1371600" cy="914400"/>
          </a:xfrm>
          <a:prstGeom prst="rect">
            <a:avLst/>
          </a:prstGeom>
          <a:noFill/>
        </p:spPr>
        <p:txBody>
          <a:bodyPr wrap="square" anchor="ctr">
            <a:spAutoFit/>
          </a:bodyPr>
          <a:lstStyle/>
          <a:p>
            <a:pPr algn="l">
              <a:spcAft>
                <a:spcPts val="400"/>
              </a:spcAft>
            </a:pPr>
            <a:r>
              <a:rPr sz="4400" b="1">
                <a:solidFill>
                  <a:srgbClr val="FFFFFF"/>
                </a:solidFill>
                <a:latin typeface="Arial"/>
              </a:rPr>
              <a:t>S</a:t>
            </a:r>
          </a:p>
        </p:txBody>
      </p:sp>
      <p:sp>
        <p:nvSpPr>
          <p:cNvPr id="10" name="TextBox 9"/>
          <p:cNvSpPr txBox="1"/>
          <p:nvPr/>
        </p:nvSpPr>
        <p:spPr>
          <a:xfrm>
            <a:off x="2514600" y="2249424"/>
            <a:ext cx="3122676" cy="914400"/>
          </a:xfrm>
          <a:prstGeom prst="rect">
            <a:avLst/>
          </a:prstGeom>
          <a:noFill/>
        </p:spPr>
        <p:txBody>
          <a:bodyPr wrap="square" anchor="ctr">
            <a:spAutoFit/>
          </a:bodyPr>
          <a:lstStyle/>
          <a:p>
            <a:pPr algn="l">
              <a:spcAft>
                <a:spcPts val="400"/>
              </a:spcAft>
            </a:pPr>
            <a:r>
              <a:rPr sz="1700" b="1">
                <a:solidFill>
                  <a:srgbClr val="FFFFFF"/>
                </a:solidFill>
                <a:latin typeface="Arial"/>
              </a:rPr>
              <a:t>Sympathy</a:t>
            </a:r>
          </a:p>
        </p:txBody>
      </p:sp>
      <p:sp>
        <p:nvSpPr>
          <p:cNvPr id="11" name="TextBox 10"/>
          <p:cNvSpPr txBox="1"/>
          <p:nvPr/>
        </p:nvSpPr>
        <p:spPr>
          <a:xfrm>
            <a:off x="1106424" y="3584448"/>
            <a:ext cx="4494276" cy="2148840"/>
          </a:xfrm>
          <a:prstGeom prst="rect">
            <a:avLst/>
          </a:prstGeom>
          <a:noFill/>
        </p:spPr>
        <p:txBody>
          <a:bodyPr wrap="square">
            <a:spAutoFit/>
          </a:bodyPr>
          <a:lstStyle/>
          <a:p>
            <a:pPr>
              <a:spcAft>
                <a:spcPts val="800"/>
              </a:spcAft>
            </a:pPr>
            <a:r>
              <a:rPr sz="1300" b="0">
                <a:solidFill>
                  <a:srgbClr val="161B26"/>
                </a:solidFill>
                <a:latin typeface="Arial"/>
              </a:rPr>
              <a:t>•  "I'm sorry you're dealing with that."</a:t>
            </a:r>
          </a:p>
          <a:p>
            <a:pPr>
              <a:spcAft>
                <a:spcPts val="800"/>
              </a:spcAft>
            </a:pPr>
            <a:r>
              <a:rPr sz="1300" b="0">
                <a:solidFill>
                  <a:srgbClr val="161B26"/>
                </a:solidFill>
                <a:latin typeface="Arial"/>
              </a:rPr>
              <a:t>•  Feels AT the buyer, from a distance.</a:t>
            </a:r>
          </a:p>
          <a:p>
            <a:pPr>
              <a:spcAft>
                <a:spcPts val="800"/>
              </a:spcAft>
            </a:pPr>
            <a:r>
              <a:rPr sz="1300" b="0">
                <a:solidFill>
                  <a:srgbClr val="161B26"/>
                </a:solidFill>
                <a:latin typeface="Arial"/>
              </a:rPr>
              <a:t>•  Closes the topic and moves on to the pitch.</a:t>
            </a:r>
          </a:p>
          <a:p>
            <a:pPr>
              <a:spcAft>
                <a:spcPts val="800"/>
              </a:spcAft>
            </a:pPr>
            <a:r>
              <a:rPr sz="1300" b="0">
                <a:solidFill>
                  <a:srgbClr val="161B26"/>
                </a:solidFill>
                <a:latin typeface="Arial"/>
              </a:rPr>
              <a:t>•  Leaves the buyer still holding the problem alone.</a:t>
            </a:r>
          </a:p>
        </p:txBody>
      </p:sp>
      <p:sp>
        <p:nvSpPr>
          <p:cNvPr id="12" name="Rectangle 11"/>
          <p:cNvSpPr/>
          <p:nvPr/>
        </p:nvSpPr>
        <p:spPr>
          <a:xfrm>
            <a:off x="6277356" y="2103120"/>
            <a:ext cx="5134356" cy="37947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77356" y="2103120"/>
            <a:ext cx="5134356" cy="1234440"/>
          </a:xfrm>
          <a:prstGeom prst="roundRect">
            <a:avLst/>
          </a:prstGeom>
          <a:gradFill rotWithShape="1">
            <a:gsLst>
              <a:gs pos="0">
                <a:srgbClr val="23BE8B"/>
              </a:gs>
              <a:gs pos="100000">
                <a:srgbClr val="0C9467"/>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1676" y="2249424"/>
            <a:ext cx="1371600" cy="914400"/>
          </a:xfrm>
          <a:prstGeom prst="rect">
            <a:avLst/>
          </a:prstGeom>
          <a:noFill/>
        </p:spPr>
        <p:txBody>
          <a:bodyPr wrap="square" anchor="ctr">
            <a:spAutoFit/>
          </a:bodyPr>
          <a:lstStyle/>
          <a:p>
            <a:pPr algn="l">
              <a:spcAft>
                <a:spcPts val="400"/>
              </a:spcAft>
            </a:pPr>
            <a:r>
              <a:rPr sz="4400" b="1">
                <a:solidFill>
                  <a:srgbClr val="FFFFFF"/>
                </a:solidFill>
                <a:latin typeface="Arial"/>
              </a:rPr>
              <a:t>E</a:t>
            </a:r>
          </a:p>
        </p:txBody>
      </p:sp>
      <p:sp>
        <p:nvSpPr>
          <p:cNvPr id="15" name="TextBox 14"/>
          <p:cNvSpPr txBox="1"/>
          <p:nvPr/>
        </p:nvSpPr>
        <p:spPr>
          <a:xfrm>
            <a:off x="8014716" y="2249424"/>
            <a:ext cx="3122676" cy="914400"/>
          </a:xfrm>
          <a:prstGeom prst="rect">
            <a:avLst/>
          </a:prstGeom>
          <a:noFill/>
        </p:spPr>
        <p:txBody>
          <a:bodyPr wrap="square" anchor="ctr">
            <a:spAutoFit/>
          </a:bodyPr>
          <a:lstStyle/>
          <a:p>
            <a:pPr algn="l">
              <a:spcAft>
                <a:spcPts val="400"/>
              </a:spcAft>
            </a:pPr>
            <a:r>
              <a:rPr sz="1700" b="1">
                <a:solidFill>
                  <a:srgbClr val="FFFFFF"/>
                </a:solidFill>
                <a:latin typeface="Arial"/>
              </a:rPr>
              <a:t>Empathy</a:t>
            </a:r>
          </a:p>
        </p:txBody>
      </p:sp>
      <p:sp>
        <p:nvSpPr>
          <p:cNvPr id="16" name="TextBox 15"/>
          <p:cNvSpPr txBox="1"/>
          <p:nvPr/>
        </p:nvSpPr>
        <p:spPr>
          <a:xfrm>
            <a:off x="6606540" y="3584448"/>
            <a:ext cx="4494276" cy="2148840"/>
          </a:xfrm>
          <a:prstGeom prst="rect">
            <a:avLst/>
          </a:prstGeom>
          <a:noFill/>
        </p:spPr>
        <p:txBody>
          <a:bodyPr wrap="square">
            <a:spAutoFit/>
          </a:bodyPr>
          <a:lstStyle/>
          <a:p>
            <a:pPr>
              <a:spcAft>
                <a:spcPts val="800"/>
              </a:spcAft>
            </a:pPr>
            <a:r>
              <a:rPr sz="1300" b="0">
                <a:solidFill>
                  <a:srgbClr val="161B26"/>
                </a:solidFill>
                <a:latin typeface="Arial"/>
              </a:rPr>
              <a:t>•  "So the deadline slipped and you took the heat."</a:t>
            </a:r>
          </a:p>
          <a:p>
            <a:pPr>
              <a:spcAft>
                <a:spcPts val="800"/>
              </a:spcAft>
            </a:pPr>
            <a:r>
              <a:rPr sz="1300" b="0">
                <a:solidFill>
                  <a:srgbClr val="161B26"/>
                </a:solidFill>
                <a:latin typeface="Arial"/>
              </a:rPr>
              <a:t>•  Feels WITH the buyer, from beside them.</a:t>
            </a:r>
          </a:p>
          <a:p>
            <a:pPr>
              <a:spcAft>
                <a:spcPts val="800"/>
              </a:spcAft>
            </a:pPr>
            <a:r>
              <a:rPr sz="1300" b="0">
                <a:solidFill>
                  <a:srgbClr val="161B26"/>
                </a:solidFill>
                <a:latin typeface="Arial"/>
              </a:rPr>
              <a:t>•  Opens the topic so the real need can surface.</a:t>
            </a:r>
          </a:p>
          <a:p>
            <a:pPr>
              <a:spcAft>
                <a:spcPts val="800"/>
              </a:spcAft>
            </a:pPr>
            <a:r>
              <a:rPr sz="1300" b="0">
                <a:solidFill>
                  <a:srgbClr val="161B26"/>
                </a:solidFill>
                <a:latin typeface="Arial"/>
              </a:rPr>
              <a:t>•  Makes the buyer feel accurately understood.</a:t>
            </a:r>
          </a:p>
        </p:txBody>
      </p:sp>
      <p:sp>
        <p:nvSpPr>
          <p:cNvPr id="17" name="TextBox 16"/>
          <p:cNvSpPr txBox="1"/>
          <p:nvPr/>
        </p:nvSpPr>
        <p:spPr>
          <a:xfrm>
            <a:off x="777240" y="605332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empathy-in-sales practice; Brené Brown on empathy vs sympathy</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Empathy Map — John, the Buyer You'll Meet in the Role Play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Build this map BEFORE you build the pitch. Everything in the role play later today comes from reading this correctly.</a:t>
            </a:r>
          </a:p>
        </p:txBody>
      </p:sp>
      <p:sp>
        <p:nvSpPr>
          <p:cNvPr id="8" name="Rectangle 7"/>
          <p:cNvSpPr/>
          <p:nvPr/>
        </p:nvSpPr>
        <p:spPr>
          <a:xfrm>
            <a:off x="777240" y="2103120"/>
            <a:ext cx="5189220" cy="177850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03120"/>
            <a:ext cx="518922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4128" y="235000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ular Callout 10"/>
          <p:cNvSpPr/>
          <p:nvPr/>
        </p:nvSpPr>
        <p:spPr>
          <a:xfrm>
            <a:off x="1101852" y="2446020"/>
            <a:ext cx="301752" cy="228600"/>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618488" y="2359152"/>
            <a:ext cx="4183380" cy="402336"/>
          </a:xfrm>
          <a:prstGeom prst="rect">
            <a:avLst/>
          </a:prstGeom>
          <a:noFill/>
        </p:spPr>
        <p:txBody>
          <a:bodyPr wrap="square" anchor="t">
            <a:spAutoFit/>
          </a:bodyPr>
          <a:lstStyle/>
          <a:p>
            <a:pPr algn="l">
              <a:spcAft>
                <a:spcPts val="400"/>
              </a:spcAft>
            </a:pPr>
            <a:r>
              <a:rPr sz="1300" b="1">
                <a:solidFill>
                  <a:srgbClr val="1F6FEB"/>
                </a:solidFill>
                <a:latin typeface="Arial"/>
              </a:rPr>
              <a:t>SAYS</a:t>
            </a:r>
          </a:p>
        </p:txBody>
      </p:sp>
      <p:sp>
        <p:nvSpPr>
          <p:cNvPr id="13" name="TextBox 12"/>
          <p:cNvSpPr txBox="1"/>
          <p:nvPr/>
        </p:nvSpPr>
        <p:spPr>
          <a:xfrm>
            <a:off x="1088136" y="2889504"/>
            <a:ext cx="4622292" cy="864108"/>
          </a:xfrm>
          <a:prstGeom prst="rect">
            <a:avLst/>
          </a:prstGeom>
          <a:noFill/>
        </p:spPr>
        <p:txBody>
          <a:bodyPr wrap="square">
            <a:spAutoFit/>
          </a:bodyPr>
          <a:lstStyle/>
          <a:p>
            <a:pPr>
              <a:spcAft>
                <a:spcPts val="600"/>
              </a:spcAft>
            </a:pPr>
            <a:r>
              <a:rPr sz="1200" b="0">
                <a:solidFill>
                  <a:srgbClr val="161B26"/>
                </a:solidFill>
                <a:latin typeface="Arial"/>
              </a:rPr>
              <a:t>•  "We're missing deadlines we used to hit."</a:t>
            </a:r>
          </a:p>
          <a:p>
            <a:pPr>
              <a:spcAft>
                <a:spcPts val="600"/>
              </a:spcAft>
            </a:pPr>
            <a:r>
              <a:rPr sz="1200" b="0">
                <a:solidFill>
                  <a:srgbClr val="161B26"/>
                </a:solidFill>
                <a:latin typeface="Arial"/>
              </a:rPr>
              <a:t>•  "I've sat through a lot of these demos."</a:t>
            </a:r>
          </a:p>
        </p:txBody>
      </p:sp>
      <p:sp>
        <p:nvSpPr>
          <p:cNvPr id="14" name="Rectangle 13"/>
          <p:cNvSpPr/>
          <p:nvPr/>
        </p:nvSpPr>
        <p:spPr>
          <a:xfrm>
            <a:off x="6222492" y="2103120"/>
            <a:ext cx="5189220" cy="177850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22492" y="2103120"/>
            <a:ext cx="518922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69380" y="235000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92824" y="2418588"/>
            <a:ext cx="210312" cy="2103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647688" y="2638044"/>
            <a:ext cx="100584" cy="685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063740" y="2359152"/>
            <a:ext cx="4183380" cy="402336"/>
          </a:xfrm>
          <a:prstGeom prst="rect">
            <a:avLst/>
          </a:prstGeom>
          <a:noFill/>
        </p:spPr>
        <p:txBody>
          <a:bodyPr wrap="square" anchor="t">
            <a:spAutoFit/>
          </a:bodyPr>
          <a:lstStyle/>
          <a:p>
            <a:pPr algn="l">
              <a:spcAft>
                <a:spcPts val="400"/>
              </a:spcAft>
            </a:pPr>
            <a:r>
              <a:rPr sz="1300" b="1">
                <a:solidFill>
                  <a:srgbClr val="7C3AED"/>
                </a:solidFill>
                <a:latin typeface="Arial"/>
              </a:rPr>
              <a:t>THINKS</a:t>
            </a:r>
          </a:p>
        </p:txBody>
      </p:sp>
      <p:sp>
        <p:nvSpPr>
          <p:cNvPr id="20" name="TextBox 19"/>
          <p:cNvSpPr txBox="1"/>
          <p:nvPr/>
        </p:nvSpPr>
        <p:spPr>
          <a:xfrm>
            <a:off x="6533388" y="2889504"/>
            <a:ext cx="4622292" cy="864108"/>
          </a:xfrm>
          <a:prstGeom prst="rect">
            <a:avLst/>
          </a:prstGeom>
          <a:noFill/>
        </p:spPr>
        <p:txBody>
          <a:bodyPr wrap="square">
            <a:spAutoFit/>
          </a:bodyPr>
          <a:lstStyle/>
          <a:p>
            <a:pPr>
              <a:spcAft>
                <a:spcPts val="600"/>
              </a:spcAft>
            </a:pPr>
            <a:r>
              <a:rPr sz="1200" b="0">
                <a:solidFill>
                  <a:srgbClr val="161B26"/>
                </a:solidFill>
                <a:latin typeface="Arial"/>
              </a:rPr>
              <a:t>•  "Will this be another tool nobody adopts?"</a:t>
            </a:r>
          </a:p>
          <a:p>
            <a:pPr>
              <a:spcAft>
                <a:spcPts val="600"/>
              </a:spcAft>
            </a:pPr>
            <a:r>
              <a:rPr sz="1200" b="0">
                <a:solidFill>
                  <a:srgbClr val="161B26"/>
                </a:solidFill>
                <a:latin typeface="Arial"/>
              </a:rPr>
              <a:t>•  "Is this rep actually listening to me?"</a:t>
            </a:r>
          </a:p>
        </p:txBody>
      </p:sp>
      <p:sp>
        <p:nvSpPr>
          <p:cNvPr id="21" name="Rectangle 20"/>
          <p:cNvSpPr/>
          <p:nvPr/>
        </p:nvSpPr>
        <p:spPr>
          <a:xfrm>
            <a:off x="777240" y="4119372"/>
            <a:ext cx="5189220" cy="177850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119372"/>
            <a:ext cx="518922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36626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ear 6 23"/>
          <p:cNvSpPr/>
          <p:nvPr/>
        </p:nvSpPr>
        <p:spPr>
          <a:xfrm>
            <a:off x="1101852" y="4443984"/>
            <a:ext cx="301752" cy="301752"/>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618488" y="4375404"/>
            <a:ext cx="4183380" cy="402336"/>
          </a:xfrm>
          <a:prstGeom prst="rect">
            <a:avLst/>
          </a:prstGeom>
          <a:noFill/>
        </p:spPr>
        <p:txBody>
          <a:bodyPr wrap="square" anchor="t">
            <a:spAutoFit/>
          </a:bodyPr>
          <a:lstStyle/>
          <a:p>
            <a:pPr algn="l">
              <a:spcAft>
                <a:spcPts val="400"/>
              </a:spcAft>
            </a:pPr>
            <a:r>
              <a:rPr sz="1300" b="1">
                <a:solidFill>
                  <a:srgbClr val="10B981"/>
                </a:solidFill>
                <a:latin typeface="Arial"/>
              </a:rPr>
              <a:t>DOES</a:t>
            </a:r>
          </a:p>
        </p:txBody>
      </p:sp>
      <p:sp>
        <p:nvSpPr>
          <p:cNvPr id="26" name="TextBox 25"/>
          <p:cNvSpPr txBox="1"/>
          <p:nvPr/>
        </p:nvSpPr>
        <p:spPr>
          <a:xfrm>
            <a:off x="1088136" y="4905756"/>
            <a:ext cx="4622292" cy="864108"/>
          </a:xfrm>
          <a:prstGeom prst="rect">
            <a:avLst/>
          </a:prstGeom>
          <a:noFill/>
        </p:spPr>
        <p:txBody>
          <a:bodyPr wrap="square">
            <a:spAutoFit/>
          </a:bodyPr>
          <a:lstStyle/>
          <a:p>
            <a:pPr>
              <a:spcAft>
                <a:spcPts val="600"/>
              </a:spcAft>
            </a:pPr>
            <a:r>
              <a:rPr sz="1200" b="0">
                <a:solidFill>
                  <a:srgbClr val="161B26"/>
                </a:solidFill>
                <a:latin typeface="Arial"/>
              </a:rPr>
              <a:t>•  Tracks every job on shared spreadsheets.</a:t>
            </a:r>
          </a:p>
          <a:p>
            <a:pPr>
              <a:spcAft>
                <a:spcPts val="600"/>
              </a:spcAft>
            </a:pPr>
            <a:r>
              <a:rPr sz="1200" b="0">
                <a:solidFill>
                  <a:srgbClr val="161B26"/>
                </a:solidFill>
                <a:latin typeface="Arial"/>
              </a:rPr>
              <a:t>•  Chases his team manually for status updates.</a:t>
            </a:r>
          </a:p>
        </p:txBody>
      </p:sp>
      <p:sp>
        <p:nvSpPr>
          <p:cNvPr id="27" name="Rectangle 26"/>
          <p:cNvSpPr/>
          <p:nvPr/>
        </p:nvSpPr>
        <p:spPr>
          <a:xfrm>
            <a:off x="6222492" y="4119372"/>
            <a:ext cx="5189220" cy="177850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2492" y="4119372"/>
            <a:ext cx="518922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69380" y="436626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eart 29"/>
          <p:cNvSpPr/>
          <p:nvPr/>
        </p:nvSpPr>
        <p:spPr>
          <a:xfrm>
            <a:off x="6547104" y="4453128"/>
            <a:ext cx="301752" cy="283464"/>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063740" y="4375404"/>
            <a:ext cx="4183380" cy="402336"/>
          </a:xfrm>
          <a:prstGeom prst="rect">
            <a:avLst/>
          </a:prstGeom>
          <a:noFill/>
        </p:spPr>
        <p:txBody>
          <a:bodyPr wrap="square" anchor="t">
            <a:spAutoFit/>
          </a:bodyPr>
          <a:lstStyle/>
          <a:p>
            <a:pPr algn="l">
              <a:spcAft>
                <a:spcPts val="400"/>
              </a:spcAft>
            </a:pPr>
            <a:r>
              <a:rPr sz="1300" b="1">
                <a:solidFill>
                  <a:srgbClr val="F59E0B"/>
                </a:solidFill>
                <a:latin typeface="Arial"/>
              </a:rPr>
              <a:t>FEELS</a:t>
            </a:r>
          </a:p>
        </p:txBody>
      </p:sp>
      <p:sp>
        <p:nvSpPr>
          <p:cNvPr id="32" name="TextBox 31"/>
          <p:cNvSpPr txBox="1"/>
          <p:nvPr/>
        </p:nvSpPr>
        <p:spPr>
          <a:xfrm>
            <a:off x="6533388" y="4905756"/>
            <a:ext cx="4622292" cy="864108"/>
          </a:xfrm>
          <a:prstGeom prst="rect">
            <a:avLst/>
          </a:prstGeom>
          <a:noFill/>
        </p:spPr>
        <p:txBody>
          <a:bodyPr wrap="square">
            <a:spAutoFit/>
          </a:bodyPr>
          <a:lstStyle/>
          <a:p>
            <a:pPr>
              <a:spcAft>
                <a:spcPts val="600"/>
              </a:spcAft>
            </a:pPr>
            <a:r>
              <a:rPr sz="1200" b="0">
                <a:solidFill>
                  <a:srgbClr val="161B26"/>
                </a:solidFill>
                <a:latin typeface="Arial"/>
              </a:rPr>
              <a:t>•  Exposed when a deadline slips publicly.</a:t>
            </a:r>
          </a:p>
          <a:p>
            <a:pPr>
              <a:spcAft>
                <a:spcPts val="600"/>
              </a:spcAft>
            </a:pPr>
            <a:r>
              <a:rPr sz="1200" b="0">
                <a:solidFill>
                  <a:srgbClr val="161B26"/>
                </a:solidFill>
                <a:latin typeface="Arial"/>
              </a:rPr>
              <a:t>•  Wary of being sold to after past regrets.</a:t>
            </a:r>
          </a:p>
        </p:txBody>
      </p:sp>
      <p:sp>
        <p:nvSpPr>
          <p:cNvPr id="33" name="Oval 32"/>
          <p:cNvSpPr/>
          <p:nvPr/>
        </p:nvSpPr>
        <p:spPr>
          <a:xfrm>
            <a:off x="5564124" y="3470148"/>
            <a:ext cx="1060704" cy="1060704"/>
          </a:xfrm>
          <a:prstGeom prst="ellipse">
            <a:avLst/>
          </a:prstGeom>
          <a:solidFill>
            <a:srgbClr val="161B26"/>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64124" y="3470148"/>
            <a:ext cx="1060704" cy="1060704"/>
          </a:xfrm>
          <a:prstGeom prst="rect">
            <a:avLst/>
          </a:prstGeom>
          <a:noFill/>
        </p:spPr>
        <p:txBody>
          <a:bodyPr wrap="square" anchor="ctr">
            <a:spAutoFit/>
          </a:bodyPr>
          <a:lstStyle/>
          <a:p>
            <a:pPr algn="ctr">
              <a:spcAft>
                <a:spcPts val="400"/>
              </a:spcAft>
            </a:pPr>
            <a:r>
              <a:rPr sz="1300" b="1">
                <a:solidFill>
                  <a:srgbClr val="FFFFFF"/>
                </a:solidFill>
                <a:latin typeface="Arial"/>
              </a:rPr>
              <a:t>John</a:t>
            </a:r>
          </a:p>
        </p:txBody>
      </p:sp>
      <p:sp>
        <p:nvSpPr>
          <p:cNvPr id="35" name="TextBox 34"/>
          <p:cNvSpPr txBox="1"/>
          <p:nvPr/>
        </p:nvSpPr>
        <p:spPr>
          <a:xfrm>
            <a:off x="777240" y="605332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empathy-mapping practice, grounded in this course's role-play persona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First Formal 'Ask Before You Pitch' Sales Method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Xerox</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Xerox's Professional Selling Skills (PSS) programme, developed in the 1960s-70s, was among the first to formalise buyer-centred questioning over a hard pitch — the direct ancestor of the discovery-led, empathy-aware selling taught in this course.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Sales Strategy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Sales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Hope is not a strategy. Know your numbers, and you know exactly which part of your selling to fix.</a:t>
            </a:r>
          </a:p>
        </p:txBody>
      </p:sp>
      <p:sp>
        <p:nvSpPr>
          <p:cNvPr id="8" name="Rectangle 7"/>
          <p:cNvSpPr/>
          <p:nvPr/>
        </p:nvSpPr>
        <p:spPr>
          <a:xfrm>
            <a:off x="777240"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09444"/>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46604"/>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7931" y="2864083"/>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946986" y="2764871"/>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066041" y="2679832"/>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41832"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Math of Sales</a:t>
            </a:r>
          </a:p>
        </p:txBody>
      </p:sp>
      <p:sp>
        <p:nvSpPr>
          <p:cNvPr id="15" name="TextBox 14"/>
          <p:cNvSpPr txBox="1"/>
          <p:nvPr/>
        </p:nvSpPr>
        <p:spPr>
          <a:xfrm>
            <a:off x="941832"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Every sale is a chain of ratios — know yours by heart.</a:t>
            </a:r>
          </a:p>
        </p:txBody>
      </p:sp>
      <p:sp>
        <p:nvSpPr>
          <p:cNvPr id="16" name="Rectangle 15"/>
          <p:cNvSpPr/>
          <p:nvPr/>
        </p:nvSpPr>
        <p:spPr>
          <a:xfrm>
            <a:off x="3504438"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4438" y="2409444"/>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447413" y="2546604"/>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nut 18"/>
          <p:cNvSpPr/>
          <p:nvPr/>
        </p:nvSpPr>
        <p:spPr>
          <a:xfrm>
            <a:off x="4515444" y="2614635"/>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4657176" y="2756367"/>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69030"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Written Call Goals</a:t>
            </a:r>
          </a:p>
        </p:txBody>
      </p:sp>
      <p:sp>
        <p:nvSpPr>
          <p:cNvPr id="22" name="TextBox 21"/>
          <p:cNvSpPr txBox="1"/>
          <p:nvPr/>
        </p:nvSpPr>
        <p:spPr>
          <a:xfrm>
            <a:off x="3669030"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One specific, stated aim per call beats 'try to sell'.</a:t>
            </a:r>
          </a:p>
        </p:txBody>
      </p:sp>
      <p:sp>
        <p:nvSpPr>
          <p:cNvPr id="23" name="Rectangle 22"/>
          <p:cNvSpPr/>
          <p:nvPr/>
        </p:nvSpPr>
        <p:spPr>
          <a:xfrm>
            <a:off x="6231636"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1636" y="2409444"/>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74611" y="2546604"/>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nut 25"/>
          <p:cNvSpPr/>
          <p:nvPr/>
        </p:nvSpPr>
        <p:spPr>
          <a:xfrm>
            <a:off x="7282327" y="2642981"/>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rot="2700000">
            <a:off x="7503429" y="2886760"/>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96228"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Find the Bottleneck</a:t>
            </a:r>
          </a:p>
        </p:txBody>
      </p:sp>
      <p:sp>
        <p:nvSpPr>
          <p:cNvPr id="29" name="TextBox 28"/>
          <p:cNvSpPr txBox="1"/>
          <p:nvPr/>
        </p:nvSpPr>
        <p:spPr>
          <a:xfrm>
            <a:off x="6396228"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Fix the weakest ratio, not the loudest complaint.</a:t>
            </a:r>
          </a:p>
        </p:txBody>
      </p:sp>
      <p:sp>
        <p:nvSpPr>
          <p:cNvPr id="30" name="Rectangle 29"/>
          <p:cNvSpPr/>
          <p:nvPr/>
        </p:nvSpPr>
        <p:spPr>
          <a:xfrm>
            <a:off x="8958834"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58834" y="2409444"/>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01809" y="2546604"/>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onut 32"/>
          <p:cNvSpPr/>
          <p:nvPr/>
        </p:nvSpPr>
        <p:spPr>
          <a:xfrm>
            <a:off x="9981178" y="2625973"/>
            <a:ext cx="408188" cy="408188"/>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0168265" y="2682666"/>
            <a:ext cx="34015" cy="1587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0168265" y="2813060"/>
            <a:ext cx="130393" cy="34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123426"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Protect the Pipeline</a:t>
            </a:r>
          </a:p>
        </p:txBody>
      </p:sp>
      <p:sp>
        <p:nvSpPr>
          <p:cNvPr id="37" name="TextBox 36"/>
          <p:cNvSpPr txBox="1"/>
          <p:nvPr/>
        </p:nvSpPr>
        <p:spPr>
          <a:xfrm>
            <a:off x="9123426"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Today's prospecting is next quarter's commission.</a:t>
            </a:r>
          </a:p>
        </p:txBody>
      </p:sp>
      <p:sp>
        <p:nvSpPr>
          <p:cNvPr id="38" name="TextBox 37"/>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sales-pipeline management practice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Math of Sales — Where Deals Actually Leak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Illustrative weekly pipeline. The ratio between two stages tells you precisely which skill to work on next.</a:t>
            </a:r>
          </a:p>
        </p:txBody>
      </p:sp>
      <p:sp>
        <p:nvSpPr>
          <p:cNvPr id="8" name="Rectangle 7"/>
          <p:cNvSpPr/>
          <p:nvPr/>
        </p:nvSpPr>
        <p:spPr>
          <a:xfrm>
            <a:off x="1005840" y="2148840"/>
            <a:ext cx="5120640" cy="806958"/>
          </a:xfrm>
          <a:prstGeom prst="rect">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2148840"/>
            <a:ext cx="5120640" cy="806958"/>
          </a:xfrm>
          <a:prstGeom prst="rect">
            <a:avLst/>
          </a:prstGeom>
          <a:noFill/>
        </p:spPr>
        <p:txBody>
          <a:bodyPr wrap="square" anchor="ctr">
            <a:spAutoFit/>
          </a:bodyPr>
          <a:lstStyle/>
          <a:p>
            <a:pPr algn="ctr">
              <a:spcAft>
                <a:spcPts val="400"/>
              </a:spcAft>
            </a:pPr>
            <a:r>
              <a:rPr sz="1350" b="1">
                <a:solidFill>
                  <a:srgbClr val="FFFFFF"/>
                </a:solidFill>
                <a:latin typeface="Arial"/>
              </a:rPr>
              <a:t>Leads   </a:t>
            </a:r>
            <a:r>
              <a:rPr sz="1700" b="1">
                <a:solidFill>
                  <a:srgbClr val="FFFFFF"/>
                </a:solidFill>
                <a:latin typeface="Arial"/>
              </a:rPr>
              <a:t>100</a:t>
            </a:r>
          </a:p>
        </p:txBody>
      </p:sp>
      <p:sp>
        <p:nvSpPr>
          <p:cNvPr id="10" name="Rectangle 9"/>
          <p:cNvSpPr/>
          <p:nvPr/>
        </p:nvSpPr>
        <p:spPr>
          <a:xfrm>
            <a:off x="6583680" y="2148840"/>
            <a:ext cx="4828032" cy="806958"/>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0" y="2148840"/>
            <a:ext cx="73152" cy="80695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21424" y="2148840"/>
            <a:ext cx="4480560" cy="806958"/>
          </a:xfrm>
          <a:prstGeom prst="rect">
            <a:avLst/>
          </a:prstGeom>
          <a:noFill/>
        </p:spPr>
        <p:txBody>
          <a:bodyPr wrap="square" anchor="ctr">
            <a:spAutoFit/>
          </a:bodyPr>
          <a:lstStyle/>
          <a:p>
            <a:pPr algn="l">
              <a:spcAft>
                <a:spcPts val="400"/>
              </a:spcAft>
            </a:pPr>
            <a:r>
              <a:rPr sz="1200" b="0">
                <a:solidFill>
                  <a:srgbClr val="161B26"/>
                </a:solidFill>
                <a:latin typeface="Arial"/>
              </a:rPr>
              <a:t>Prospects entering the pipeline this week.</a:t>
            </a:r>
          </a:p>
        </p:txBody>
      </p:sp>
      <p:sp>
        <p:nvSpPr>
          <p:cNvPr id="13" name="Rectangle 12"/>
          <p:cNvSpPr/>
          <p:nvPr/>
        </p:nvSpPr>
        <p:spPr>
          <a:xfrm>
            <a:off x="1554480" y="3028950"/>
            <a:ext cx="4023360" cy="806958"/>
          </a:xfrm>
          <a:prstGeom prst="rect">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554480" y="3028950"/>
            <a:ext cx="4023360" cy="806958"/>
          </a:xfrm>
          <a:prstGeom prst="rect">
            <a:avLst/>
          </a:prstGeom>
          <a:noFill/>
        </p:spPr>
        <p:txBody>
          <a:bodyPr wrap="square" anchor="ctr">
            <a:spAutoFit/>
          </a:bodyPr>
          <a:lstStyle/>
          <a:p>
            <a:pPr algn="ctr">
              <a:spcAft>
                <a:spcPts val="400"/>
              </a:spcAft>
            </a:pPr>
            <a:r>
              <a:rPr sz="1350" b="1">
                <a:solidFill>
                  <a:srgbClr val="FFFFFF"/>
                </a:solidFill>
                <a:latin typeface="Arial"/>
              </a:rPr>
              <a:t>Conversations   </a:t>
            </a:r>
            <a:r>
              <a:rPr sz="1700" b="1">
                <a:solidFill>
                  <a:srgbClr val="FFFFFF"/>
                </a:solidFill>
                <a:latin typeface="Arial"/>
              </a:rPr>
              <a:t>20</a:t>
            </a:r>
          </a:p>
        </p:txBody>
      </p:sp>
      <p:sp>
        <p:nvSpPr>
          <p:cNvPr id="15" name="Rectangle 14"/>
          <p:cNvSpPr/>
          <p:nvPr/>
        </p:nvSpPr>
        <p:spPr>
          <a:xfrm>
            <a:off x="6583680" y="3028950"/>
            <a:ext cx="4828032" cy="806958"/>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0" y="3028950"/>
            <a:ext cx="73152" cy="80695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21424" y="3028950"/>
            <a:ext cx="4480560" cy="806958"/>
          </a:xfrm>
          <a:prstGeom prst="rect">
            <a:avLst/>
          </a:prstGeom>
          <a:noFill/>
        </p:spPr>
        <p:txBody>
          <a:bodyPr wrap="square" anchor="ctr">
            <a:spAutoFit/>
          </a:bodyPr>
          <a:lstStyle/>
          <a:p>
            <a:pPr algn="l">
              <a:spcAft>
                <a:spcPts val="400"/>
              </a:spcAft>
            </a:pPr>
            <a:r>
              <a:rPr sz="1200" b="0">
                <a:solidFill>
                  <a:srgbClr val="161B26"/>
                </a:solidFill>
                <a:latin typeface="Arial"/>
              </a:rPr>
              <a:t>Leads who agree to a genuine conversation.</a:t>
            </a:r>
          </a:p>
        </p:txBody>
      </p:sp>
      <p:sp>
        <p:nvSpPr>
          <p:cNvPr id="18" name="Rectangle 17"/>
          <p:cNvSpPr/>
          <p:nvPr/>
        </p:nvSpPr>
        <p:spPr>
          <a:xfrm>
            <a:off x="2103120" y="3909060"/>
            <a:ext cx="2926080" cy="806958"/>
          </a:xfrm>
          <a:prstGeom prst="rect">
            <a:avLst/>
          </a:prstGeom>
          <a:solidFill>
            <a:srgbClr val="7C3AED"/>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103120" y="3909060"/>
            <a:ext cx="2926080" cy="806958"/>
          </a:xfrm>
          <a:prstGeom prst="rect">
            <a:avLst/>
          </a:prstGeom>
          <a:noFill/>
        </p:spPr>
        <p:txBody>
          <a:bodyPr wrap="square" anchor="ctr">
            <a:spAutoFit/>
          </a:bodyPr>
          <a:lstStyle/>
          <a:p>
            <a:pPr algn="ctr">
              <a:spcAft>
                <a:spcPts val="400"/>
              </a:spcAft>
            </a:pPr>
            <a:r>
              <a:rPr sz="1350" b="1">
                <a:solidFill>
                  <a:srgbClr val="FFFFFF"/>
                </a:solidFill>
                <a:latin typeface="Arial"/>
              </a:rPr>
              <a:t>Proposals   </a:t>
            </a:r>
            <a:r>
              <a:rPr sz="1700" b="1">
                <a:solidFill>
                  <a:srgbClr val="FFFFFF"/>
                </a:solidFill>
                <a:latin typeface="Arial"/>
              </a:rPr>
              <a:t>9</a:t>
            </a:r>
          </a:p>
        </p:txBody>
      </p:sp>
      <p:sp>
        <p:nvSpPr>
          <p:cNvPr id="20" name="Rectangle 19"/>
          <p:cNvSpPr/>
          <p:nvPr/>
        </p:nvSpPr>
        <p:spPr>
          <a:xfrm>
            <a:off x="6583680" y="3909060"/>
            <a:ext cx="4828032" cy="806958"/>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3909060"/>
            <a:ext cx="73152" cy="80695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3909060"/>
            <a:ext cx="4480560" cy="806958"/>
          </a:xfrm>
          <a:prstGeom prst="rect">
            <a:avLst/>
          </a:prstGeom>
          <a:noFill/>
        </p:spPr>
        <p:txBody>
          <a:bodyPr wrap="square" anchor="ctr">
            <a:spAutoFit/>
          </a:bodyPr>
          <a:lstStyle/>
          <a:p>
            <a:pPr algn="l">
              <a:spcAft>
                <a:spcPts val="400"/>
              </a:spcAft>
            </a:pPr>
            <a:r>
              <a:rPr sz="1200" b="0">
                <a:solidFill>
                  <a:srgbClr val="161B26"/>
                </a:solidFill>
                <a:latin typeface="Arial"/>
              </a:rPr>
              <a:t>Conversations reaching a real recommendation.</a:t>
            </a:r>
          </a:p>
        </p:txBody>
      </p:sp>
      <p:sp>
        <p:nvSpPr>
          <p:cNvPr id="23" name="Rectangle 22"/>
          <p:cNvSpPr/>
          <p:nvPr/>
        </p:nvSpPr>
        <p:spPr>
          <a:xfrm>
            <a:off x="2651760" y="4789170"/>
            <a:ext cx="1828800" cy="806958"/>
          </a:xfrm>
          <a:prstGeom prst="rect">
            <a:avLst/>
          </a:prstGeom>
          <a:solidFill>
            <a:srgbClr val="F59E0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651760" y="4789170"/>
            <a:ext cx="1828800" cy="806958"/>
          </a:xfrm>
          <a:prstGeom prst="rect">
            <a:avLst/>
          </a:prstGeom>
          <a:noFill/>
        </p:spPr>
        <p:txBody>
          <a:bodyPr wrap="square" anchor="ctr">
            <a:spAutoFit/>
          </a:bodyPr>
          <a:lstStyle/>
          <a:p>
            <a:pPr algn="ctr">
              <a:spcAft>
                <a:spcPts val="400"/>
              </a:spcAft>
            </a:pPr>
            <a:r>
              <a:rPr sz="1350" b="1">
                <a:solidFill>
                  <a:srgbClr val="FFFFFF"/>
                </a:solidFill>
                <a:latin typeface="Arial"/>
              </a:rPr>
              <a:t>Closes   </a:t>
            </a:r>
            <a:r>
              <a:rPr sz="1700" b="1">
                <a:solidFill>
                  <a:srgbClr val="FFFFFF"/>
                </a:solidFill>
                <a:latin typeface="Arial"/>
              </a:rPr>
              <a:t>3</a:t>
            </a:r>
          </a:p>
        </p:txBody>
      </p:sp>
      <p:sp>
        <p:nvSpPr>
          <p:cNvPr id="25" name="Rectangle 24"/>
          <p:cNvSpPr/>
          <p:nvPr/>
        </p:nvSpPr>
        <p:spPr>
          <a:xfrm>
            <a:off x="6583680" y="4789170"/>
            <a:ext cx="4828032" cy="806958"/>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0" y="4789170"/>
            <a:ext cx="73152" cy="80695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789170"/>
            <a:ext cx="4480560" cy="806958"/>
          </a:xfrm>
          <a:prstGeom prst="rect">
            <a:avLst/>
          </a:prstGeom>
          <a:noFill/>
        </p:spPr>
        <p:txBody>
          <a:bodyPr wrap="square" anchor="ctr">
            <a:spAutoFit/>
          </a:bodyPr>
          <a:lstStyle/>
          <a:p>
            <a:pPr algn="l">
              <a:spcAft>
                <a:spcPts val="400"/>
              </a:spcAft>
            </a:pPr>
            <a:r>
              <a:rPr sz="1200" b="0">
                <a:solidFill>
                  <a:srgbClr val="161B26"/>
                </a:solidFill>
                <a:latin typeface="Arial"/>
              </a:rPr>
              <a:t>Proposals that convert into a signed sale.</a:t>
            </a:r>
          </a:p>
        </p:txBody>
      </p:sp>
      <p:sp>
        <p:nvSpPr>
          <p:cNvPr id="28" name="Rectangle 27"/>
          <p:cNvSpPr/>
          <p:nvPr/>
        </p:nvSpPr>
        <p:spPr>
          <a:xfrm>
            <a:off x="777240" y="5760720"/>
            <a:ext cx="10634472"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760720"/>
            <a:ext cx="91440"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760720"/>
            <a:ext cx="10058400" cy="493776"/>
          </a:xfrm>
          <a:prstGeom prst="rect">
            <a:avLst/>
          </a:prstGeom>
          <a:noFill/>
        </p:spPr>
        <p:txBody>
          <a:bodyPr wrap="square" anchor="ctr">
            <a:spAutoFit/>
          </a:bodyPr>
          <a:lstStyle/>
          <a:p>
            <a:pPr algn="l">
              <a:spcAft>
                <a:spcPts val="400"/>
              </a:spcAft>
            </a:pPr>
            <a:r>
              <a:rPr sz="1200" b="1">
                <a:solidFill>
                  <a:srgbClr val="161B26"/>
                </a:solidFill>
                <a:latin typeface="Arial"/>
              </a:rPr>
              <a:t>A weak leads-to-conversations ratio is a prospecting problem. A weak proposals-to-closes ratio is a closing problem. Different fix entirely.</a:t>
            </a:r>
          </a:p>
        </p:txBody>
      </p:sp>
      <p:sp>
        <p:nvSpPr>
          <p:cNvPr id="31" name="TextBox 30"/>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illustrative sales-funnel ratios, pipeline-management synthesis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Vague Activity vs Goal-Driven Activity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Vague Activity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Goal-Driven Activity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"I'll make some calls today."</a:t>
            </a:r>
          </a:p>
          <a:p>
            <a:pPr>
              <a:spcAft>
                <a:spcPts val="1000"/>
              </a:spcAft>
            </a:pPr>
            <a:r>
              <a:rPr sz="1600" b="0">
                <a:solidFill>
                  <a:srgbClr val="161B26"/>
                </a:solidFill>
                <a:latin typeface="Arial"/>
              </a:rPr>
              <a:t>•  No idea which ratio in the chain is actually weak.</a:t>
            </a:r>
          </a:p>
          <a:p>
            <a:pPr>
              <a:spcAft>
                <a:spcPts val="1000"/>
              </a:spcAft>
            </a:pPr>
            <a:r>
              <a:rPr sz="1600" b="0">
                <a:solidFill>
                  <a:srgbClr val="161B26"/>
                </a:solidFill>
                <a:latin typeface="Arial"/>
              </a:rPr>
              <a:t>•  Success is whatever happens to land.</a:t>
            </a:r>
          </a:p>
          <a:p>
            <a:pPr>
              <a:spcAft>
                <a:spcPts val="1000"/>
              </a:spcAft>
            </a:pPr>
            <a:r>
              <a:rPr sz="1600" b="0">
                <a:solidFill>
                  <a:srgbClr val="161B26"/>
                </a:solidFill>
                <a:latin typeface="Arial"/>
              </a:rPr>
              <a:t>•  Busy all week, no idea if it worked.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 will book 5 discovery calls from 20 dials today."</a:t>
            </a:r>
          </a:p>
          <a:p>
            <a:pPr>
              <a:spcAft>
                <a:spcPts val="1000"/>
              </a:spcAft>
            </a:pPr>
            <a:r>
              <a:rPr sz="1600" b="0">
                <a:solidFill>
                  <a:srgbClr val="161B26"/>
                </a:solidFill>
                <a:latin typeface="Arial"/>
              </a:rPr>
              <a:t>•  Tracks each stage to find the real bottleneck.</a:t>
            </a:r>
          </a:p>
          <a:p>
            <a:pPr>
              <a:spcAft>
                <a:spcPts val="1000"/>
              </a:spcAft>
            </a:pPr>
            <a:r>
              <a:rPr sz="1600" b="0">
                <a:solidFill>
                  <a:srgbClr val="161B26"/>
                </a:solidFill>
                <a:latin typeface="Arial"/>
              </a:rPr>
              <a:t>•  Success is a stated, specific, checkable target.</a:t>
            </a:r>
          </a:p>
          <a:p>
            <a:pPr>
              <a:spcAft>
                <a:spcPts val="1000"/>
              </a:spcAft>
            </a:pPr>
            <a:r>
              <a:rPr sz="1600" b="0">
                <a:solidFill>
                  <a:srgbClr val="161B26"/>
                </a:solidFill>
                <a:latin typeface="Arial"/>
              </a:rPr>
              <a:t>•  Knows by Friday exactly what to change on Monday.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sales-goal-setting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the Industry Data Says About Closing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Three numbers worth pinning above your desk.</a:t>
            </a:r>
          </a:p>
        </p:txBody>
      </p:sp>
      <p:sp>
        <p:nvSpPr>
          <p:cNvPr id="8" name="Rectangle 7"/>
          <p:cNvSpPr/>
          <p:nvPr/>
        </p:nvSpPr>
        <p:spPr>
          <a:xfrm>
            <a:off x="777240"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286000"/>
            <a:ext cx="3337560" cy="128016"/>
          </a:xfrm>
          <a:prstGeom prst="roundRect">
            <a:avLst/>
          </a:prstGeom>
          <a:gradFill rotWithShape="1">
            <a:gsLst>
              <a:gs pos="0">
                <a:srgbClr val="2A76EC"/>
              </a:gs>
              <a:gs pos="100000">
                <a:srgbClr val="1856B7"/>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61488"/>
            <a:ext cx="3337560" cy="1097280"/>
          </a:xfrm>
          <a:prstGeom prst="rect">
            <a:avLst/>
          </a:prstGeom>
          <a:noFill/>
        </p:spPr>
        <p:txBody>
          <a:bodyPr wrap="square" anchor="t">
            <a:spAutoFit/>
          </a:bodyPr>
          <a:lstStyle/>
          <a:p>
            <a:pPr algn="ctr">
              <a:spcAft>
                <a:spcPts val="400"/>
              </a:spcAft>
            </a:pPr>
            <a:r>
              <a:rPr sz="4600" b="1">
                <a:solidFill>
                  <a:srgbClr val="1F6FEB"/>
                </a:solidFill>
                <a:latin typeface="Arial"/>
              </a:rPr>
              <a:t>29%</a:t>
            </a:r>
          </a:p>
        </p:txBody>
      </p:sp>
      <p:sp>
        <p:nvSpPr>
          <p:cNvPr id="11" name="TextBox 10"/>
          <p:cNvSpPr txBox="1"/>
          <p:nvPr/>
        </p:nvSpPr>
        <p:spPr>
          <a:xfrm>
            <a:off x="960120"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Average close rate</a:t>
            </a:r>
          </a:p>
        </p:txBody>
      </p:sp>
      <p:sp>
        <p:nvSpPr>
          <p:cNvPr id="12" name="TextBox 11"/>
          <p:cNvSpPr txBox="1"/>
          <p:nvPr/>
        </p:nvSpPr>
        <p:spPr>
          <a:xfrm>
            <a:off x="960120" y="4507992"/>
            <a:ext cx="2971800" cy="457200"/>
          </a:xfrm>
          <a:prstGeom prst="rect">
            <a:avLst/>
          </a:prstGeom>
          <a:noFill/>
        </p:spPr>
        <p:txBody>
          <a:bodyPr wrap="square" anchor="t">
            <a:spAutoFit/>
          </a:bodyPr>
          <a:lstStyle/>
          <a:p>
            <a:pPr algn="ctr">
              <a:spcAft>
                <a:spcPts val="400"/>
              </a:spcAft>
            </a:pPr>
            <a:r>
              <a:rPr sz="1200" b="1">
                <a:solidFill>
                  <a:srgbClr val="5B6372"/>
                </a:solidFill>
                <a:latin typeface="Arial"/>
              </a:rPr>
              <a:t>●  </a:t>
            </a:r>
            <a:r>
              <a:rPr sz="1150" b="0">
                <a:solidFill>
                  <a:srgbClr val="5B6372"/>
                </a:solidFill>
                <a:latin typeface="Arial"/>
              </a:rPr>
              <a:t>reported across industries — the bar is lower than you fear</a:t>
            </a:r>
          </a:p>
        </p:txBody>
      </p:sp>
      <p:sp>
        <p:nvSpPr>
          <p:cNvPr id="13" name="Rectangle 12"/>
          <p:cNvSpPr/>
          <p:nvPr/>
        </p:nvSpPr>
        <p:spPr>
          <a:xfrm>
            <a:off x="4425696"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2286000"/>
            <a:ext cx="3337560" cy="128016"/>
          </a:xfrm>
          <a:prstGeom prst="roundRect">
            <a:avLst/>
          </a:prstGeom>
          <a:gradFill rotWithShape="1">
            <a:gsLst>
              <a:gs pos="0">
                <a:srgbClr val="1BBC87"/>
              </a:gs>
              <a:gs pos="100000">
                <a:srgbClr val="0C9064"/>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2761488"/>
            <a:ext cx="3337560" cy="1097280"/>
          </a:xfrm>
          <a:prstGeom prst="rect">
            <a:avLst/>
          </a:prstGeom>
          <a:noFill/>
        </p:spPr>
        <p:txBody>
          <a:bodyPr wrap="square" anchor="t">
            <a:spAutoFit/>
          </a:bodyPr>
          <a:lstStyle/>
          <a:p>
            <a:pPr algn="ctr">
              <a:spcAft>
                <a:spcPts val="400"/>
              </a:spcAft>
            </a:pPr>
            <a:r>
              <a:rPr sz="4600" b="1">
                <a:solidFill>
                  <a:srgbClr val="10B981"/>
                </a:solidFill>
                <a:latin typeface="Arial"/>
              </a:rPr>
              <a:t>48%</a:t>
            </a:r>
          </a:p>
        </p:txBody>
      </p:sp>
      <p:sp>
        <p:nvSpPr>
          <p:cNvPr id="16" name="TextBox 15"/>
          <p:cNvSpPr txBox="1"/>
          <p:nvPr/>
        </p:nvSpPr>
        <p:spPr>
          <a:xfrm>
            <a:off x="4608576"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Calls with no close</a:t>
            </a:r>
          </a:p>
        </p:txBody>
      </p:sp>
      <p:sp>
        <p:nvSpPr>
          <p:cNvPr id="17" name="TextBox 16"/>
          <p:cNvSpPr txBox="1"/>
          <p:nvPr/>
        </p:nvSpPr>
        <p:spPr>
          <a:xfrm>
            <a:off x="4608576" y="4507992"/>
            <a:ext cx="2971800" cy="457200"/>
          </a:xfrm>
          <a:prstGeom prst="rect">
            <a:avLst/>
          </a:prstGeom>
          <a:noFill/>
        </p:spPr>
        <p:txBody>
          <a:bodyPr wrap="square" anchor="t">
            <a:spAutoFit/>
          </a:bodyPr>
          <a:lstStyle/>
          <a:p>
            <a:pPr algn="ctr">
              <a:spcAft>
                <a:spcPts val="400"/>
              </a:spcAft>
            </a:pPr>
            <a:r>
              <a:rPr sz="1200" b="1">
                <a:solidFill>
                  <a:srgbClr val="C03939"/>
                </a:solidFill>
                <a:latin typeface="Arial"/>
              </a:rPr>
              <a:t>▼  </a:t>
            </a:r>
            <a:r>
              <a:rPr sz="1150" b="0">
                <a:solidFill>
                  <a:srgbClr val="5B6372"/>
                </a:solidFill>
                <a:latin typeface="Arial"/>
              </a:rPr>
              <a:t>of sales calls end without the seller ever asking</a:t>
            </a:r>
          </a:p>
        </p:txBody>
      </p:sp>
      <p:sp>
        <p:nvSpPr>
          <p:cNvPr id="18" name="Rectangle 17"/>
          <p:cNvSpPr/>
          <p:nvPr/>
        </p:nvSpPr>
        <p:spPr>
          <a:xfrm>
            <a:off x="8074152"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74152" y="2286000"/>
            <a:ext cx="3337560" cy="128016"/>
          </a:xfrm>
          <a:prstGeom prst="roundRect">
            <a:avLst/>
          </a:prstGeom>
          <a:gradFill rotWithShape="1">
            <a:gsLst>
              <a:gs pos="0">
                <a:srgbClr val="8243ED"/>
              </a:gs>
              <a:gs pos="100000">
                <a:srgbClr val="602DB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2761488"/>
            <a:ext cx="3337560" cy="1097280"/>
          </a:xfrm>
          <a:prstGeom prst="rect">
            <a:avLst/>
          </a:prstGeom>
          <a:noFill/>
        </p:spPr>
        <p:txBody>
          <a:bodyPr wrap="square" anchor="t">
            <a:spAutoFit/>
          </a:bodyPr>
          <a:lstStyle/>
          <a:p>
            <a:pPr algn="ctr">
              <a:spcAft>
                <a:spcPts val="400"/>
              </a:spcAft>
            </a:pPr>
            <a:r>
              <a:rPr sz="4600" b="1">
                <a:solidFill>
                  <a:srgbClr val="7C3AED"/>
                </a:solidFill>
                <a:latin typeface="Arial"/>
              </a:rPr>
              <a:t>5-12</a:t>
            </a:r>
          </a:p>
        </p:txBody>
      </p:sp>
      <p:sp>
        <p:nvSpPr>
          <p:cNvPr id="21" name="TextBox 20"/>
          <p:cNvSpPr txBox="1"/>
          <p:nvPr/>
        </p:nvSpPr>
        <p:spPr>
          <a:xfrm>
            <a:off x="8257032"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Contacts needed</a:t>
            </a:r>
          </a:p>
        </p:txBody>
      </p:sp>
      <p:sp>
        <p:nvSpPr>
          <p:cNvPr id="22" name="TextBox 21"/>
          <p:cNvSpPr txBox="1"/>
          <p:nvPr/>
        </p:nvSpPr>
        <p:spPr>
          <a:xfrm>
            <a:off x="8257032" y="4507992"/>
            <a:ext cx="2971800" cy="457200"/>
          </a:xfrm>
          <a:prstGeom prst="rect">
            <a:avLst/>
          </a:prstGeom>
          <a:noFill/>
        </p:spPr>
        <p:txBody>
          <a:bodyPr wrap="square" anchor="t">
            <a:spAutoFit/>
          </a:bodyPr>
          <a:lstStyle/>
          <a:p>
            <a:pPr algn="ctr">
              <a:spcAft>
                <a:spcPts val="400"/>
              </a:spcAft>
            </a:pPr>
            <a:r>
              <a:rPr sz="1200" b="1">
                <a:solidFill>
                  <a:srgbClr val="10B981"/>
                </a:solidFill>
                <a:latin typeface="Arial"/>
              </a:rPr>
              <a:t>▲  </a:t>
            </a:r>
            <a:r>
              <a:rPr sz="1150" b="0">
                <a:solidFill>
                  <a:srgbClr val="5B6372"/>
                </a:solidFill>
                <a:latin typeface="Arial"/>
              </a:rPr>
              <a:t>80% of sales close only after this many touches</a:t>
            </a:r>
          </a:p>
        </p:txBody>
      </p:sp>
      <p:sp>
        <p:nvSpPr>
          <p:cNvPr id="23" name="Rectangle 22"/>
          <p:cNvSpPr/>
          <p:nvPr/>
        </p:nvSpPr>
        <p:spPr>
          <a:xfrm>
            <a:off x="777240" y="562356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623560"/>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623560"/>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Nearly half of all calls end without anyone asking for the business. Simply asking, properly, is a measurable edge.</a:t>
            </a:r>
          </a:p>
        </p:txBody>
      </p:sp>
      <p:sp>
        <p:nvSpPr>
          <p:cNvPr id="26" name="TextBox 2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sales-benchmark synthesis (alexberman.com; Lusha via monday.com) — industry-reported figures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Buyer Psychology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Buyer Psychology?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People buy emotionally and justify logically. Your job is to earn the feeling honestly, then arm the justification.</a:t>
            </a:r>
          </a:p>
        </p:txBody>
      </p:sp>
      <p:sp>
        <p:nvSpPr>
          <p:cNvPr id="8" name="Rectangle 7"/>
          <p:cNvSpPr/>
          <p:nvPr/>
        </p:nvSpPr>
        <p:spPr>
          <a:xfrm>
            <a:off x="777240" y="2308860"/>
            <a:ext cx="2452878" cy="347472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308860"/>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446020"/>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eart 10"/>
          <p:cNvSpPr/>
          <p:nvPr/>
        </p:nvSpPr>
        <p:spPr>
          <a:xfrm>
            <a:off x="1816592" y="2553736"/>
            <a:ext cx="374172" cy="351495"/>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33298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Why People Really Buy</a:t>
            </a:r>
          </a:p>
        </p:txBody>
      </p:sp>
      <p:sp>
        <p:nvSpPr>
          <p:cNvPr id="13" name="TextBox 12"/>
          <p:cNvSpPr txBox="1"/>
          <p:nvPr/>
        </p:nvSpPr>
        <p:spPr>
          <a:xfrm>
            <a:off x="941832" y="3936492"/>
            <a:ext cx="2123694" cy="1737360"/>
          </a:xfrm>
          <a:prstGeom prst="rect">
            <a:avLst/>
          </a:prstGeom>
          <a:noFill/>
        </p:spPr>
        <p:txBody>
          <a:bodyPr wrap="square" anchor="t">
            <a:spAutoFit/>
          </a:bodyPr>
          <a:lstStyle/>
          <a:p>
            <a:pPr algn="ctr">
              <a:spcAft>
                <a:spcPts val="400"/>
              </a:spcAft>
            </a:pPr>
            <a:r>
              <a:rPr sz="1000" b="0">
                <a:solidFill>
                  <a:srgbClr val="5B6372"/>
                </a:solidFill>
                <a:latin typeface="Arial"/>
              </a:rPr>
              <a:t>To solve a felt problem — logic arrives afterwards to justify it.</a:t>
            </a:r>
          </a:p>
        </p:txBody>
      </p:sp>
      <p:sp>
        <p:nvSpPr>
          <p:cNvPr id="14" name="Rectangle 13"/>
          <p:cNvSpPr/>
          <p:nvPr/>
        </p:nvSpPr>
        <p:spPr>
          <a:xfrm>
            <a:off x="3504438" y="2308860"/>
            <a:ext cx="2452878" cy="347472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308860"/>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47413" y="2446020"/>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ular Callout 16"/>
          <p:cNvSpPr/>
          <p:nvPr/>
        </p:nvSpPr>
        <p:spPr>
          <a:xfrm>
            <a:off x="4543790" y="2565074"/>
            <a:ext cx="374172" cy="283464"/>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9030" y="333298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Power of Words</a:t>
            </a:r>
          </a:p>
        </p:txBody>
      </p:sp>
      <p:sp>
        <p:nvSpPr>
          <p:cNvPr id="19" name="TextBox 18"/>
          <p:cNvSpPr txBox="1"/>
          <p:nvPr/>
        </p:nvSpPr>
        <p:spPr>
          <a:xfrm>
            <a:off x="3669030" y="3936492"/>
            <a:ext cx="2123694" cy="1737360"/>
          </a:xfrm>
          <a:prstGeom prst="rect">
            <a:avLst/>
          </a:prstGeom>
          <a:noFill/>
        </p:spPr>
        <p:txBody>
          <a:bodyPr wrap="square" anchor="t">
            <a:spAutoFit/>
          </a:bodyPr>
          <a:lstStyle/>
          <a:p>
            <a:pPr algn="ctr">
              <a:spcAft>
                <a:spcPts val="400"/>
              </a:spcAft>
            </a:pPr>
            <a:r>
              <a:rPr sz="1000" b="0">
                <a:solidFill>
                  <a:srgbClr val="5B6372"/>
                </a:solidFill>
                <a:latin typeface="Arial"/>
              </a:rPr>
              <a:t>Concrete language outsells vague claims every time.</a:t>
            </a:r>
          </a:p>
        </p:txBody>
      </p:sp>
      <p:sp>
        <p:nvSpPr>
          <p:cNvPr id="20" name="Rectangle 19"/>
          <p:cNvSpPr/>
          <p:nvPr/>
        </p:nvSpPr>
        <p:spPr>
          <a:xfrm>
            <a:off x="6231636" y="2308860"/>
            <a:ext cx="2452878" cy="347472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31636" y="2308860"/>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4611" y="2446020"/>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nut 22"/>
          <p:cNvSpPr/>
          <p:nvPr/>
        </p:nvSpPr>
        <p:spPr>
          <a:xfrm>
            <a:off x="7242642" y="2514051"/>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7384374" y="2655783"/>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96228" y="333298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Illusion of Choice</a:t>
            </a:r>
          </a:p>
        </p:txBody>
      </p:sp>
      <p:sp>
        <p:nvSpPr>
          <p:cNvPr id="26" name="TextBox 25"/>
          <p:cNvSpPr txBox="1"/>
          <p:nvPr/>
        </p:nvSpPr>
        <p:spPr>
          <a:xfrm>
            <a:off x="6396228" y="3936492"/>
            <a:ext cx="2123694" cy="1737360"/>
          </a:xfrm>
          <a:prstGeom prst="rect">
            <a:avLst/>
          </a:prstGeom>
          <a:noFill/>
        </p:spPr>
        <p:txBody>
          <a:bodyPr wrap="square" anchor="t">
            <a:spAutoFit/>
          </a:bodyPr>
          <a:lstStyle/>
          <a:p>
            <a:pPr algn="ctr">
              <a:spcAft>
                <a:spcPts val="400"/>
              </a:spcAft>
            </a:pPr>
            <a:r>
              <a:rPr sz="1000" b="0">
                <a:solidFill>
                  <a:srgbClr val="5B6372"/>
                </a:solidFill>
                <a:latin typeface="Arial"/>
              </a:rPr>
              <a:t>Two good options feel empowering; one feels like pressure.</a:t>
            </a:r>
          </a:p>
        </p:txBody>
      </p:sp>
      <p:sp>
        <p:nvSpPr>
          <p:cNvPr id="27" name="Rectangle 26"/>
          <p:cNvSpPr/>
          <p:nvPr/>
        </p:nvSpPr>
        <p:spPr>
          <a:xfrm>
            <a:off x="8958834" y="2308860"/>
            <a:ext cx="2452878" cy="347472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58834" y="2308860"/>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01809" y="2446020"/>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entagon 29"/>
          <p:cNvSpPr/>
          <p:nvPr/>
        </p:nvSpPr>
        <p:spPr>
          <a:xfrm rot="5400000">
            <a:off x="10020863" y="2565074"/>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23426" y="333298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Trust Beats Charm</a:t>
            </a:r>
          </a:p>
        </p:txBody>
      </p:sp>
      <p:sp>
        <p:nvSpPr>
          <p:cNvPr id="32" name="TextBox 31"/>
          <p:cNvSpPr txBox="1"/>
          <p:nvPr/>
        </p:nvSpPr>
        <p:spPr>
          <a:xfrm>
            <a:off x="9123426" y="3936492"/>
            <a:ext cx="2123694" cy="1737360"/>
          </a:xfrm>
          <a:prstGeom prst="rect">
            <a:avLst/>
          </a:prstGeom>
          <a:noFill/>
        </p:spPr>
        <p:txBody>
          <a:bodyPr wrap="square" anchor="t">
            <a:spAutoFit/>
          </a:bodyPr>
          <a:lstStyle/>
          <a:p>
            <a:pPr algn="ctr">
              <a:spcAft>
                <a:spcPts val="400"/>
              </a:spcAft>
            </a:pPr>
            <a:r>
              <a:rPr sz="1000" b="0">
                <a:solidFill>
                  <a:srgbClr val="5B6372"/>
                </a:solidFill>
                <a:latin typeface="Arial"/>
              </a:rPr>
              <a:t>Consistency and follow-through, not personality, build trust.</a:t>
            </a:r>
          </a:p>
        </p:txBody>
      </p:sp>
      <p:sp>
        <p:nvSpPr>
          <p:cNvPr id="33" name="TextBox 32"/>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buyer-psychology and persuasion research</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How Trust Is Actually Built During a Call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Consistency</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Say the same thing you will later do.</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Tone</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Match your energy to the buyer's, not your mood.</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Follow-Through</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Do the small promised thing, exactly on time.</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Reciprocation</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Give real insight before asking for anything.</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
        <p:nvSpPr>
          <p:cNvPr id="37" name="TextBox 36"/>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trust-and-rapport building practice</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The Buyer's Matrix — Map Every Stakeholder Before You Pitch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Power on the vertical, interest on the horizontal. Each quadrant needs a completely different investment of your time.</a:t>
            </a:r>
          </a:p>
        </p:txBody>
      </p:sp>
      <p:sp>
        <p:nvSpPr>
          <p:cNvPr id="8" name="Rectangle 7"/>
          <p:cNvSpPr/>
          <p:nvPr/>
        </p:nvSpPr>
        <p:spPr>
          <a:xfrm>
            <a:off x="1417320" y="2103120"/>
            <a:ext cx="4713732" cy="175107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17320" y="2103120"/>
            <a:ext cx="4713732"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3352" y="2286000"/>
            <a:ext cx="4256532" cy="384048"/>
          </a:xfrm>
          <a:prstGeom prst="rect">
            <a:avLst/>
          </a:prstGeom>
          <a:noFill/>
        </p:spPr>
        <p:txBody>
          <a:bodyPr wrap="square" anchor="t">
            <a:spAutoFit/>
          </a:bodyPr>
          <a:lstStyle/>
          <a:p>
            <a:pPr algn="l">
              <a:spcAft>
                <a:spcPts val="400"/>
              </a:spcAft>
            </a:pPr>
            <a:r>
              <a:rPr sz="1500" b="1">
                <a:solidFill>
                  <a:srgbClr val="7C3AED"/>
                </a:solidFill>
                <a:latin typeface="Arial"/>
              </a:rPr>
              <a:t>Gatekeeper</a:t>
            </a:r>
          </a:p>
        </p:txBody>
      </p:sp>
      <p:sp>
        <p:nvSpPr>
          <p:cNvPr id="11" name="TextBox 10"/>
          <p:cNvSpPr txBox="1"/>
          <p:nvPr/>
        </p:nvSpPr>
        <p:spPr>
          <a:xfrm>
            <a:off x="1673352" y="2724912"/>
            <a:ext cx="4219956" cy="1001268"/>
          </a:xfrm>
          <a:prstGeom prst="rect">
            <a:avLst/>
          </a:prstGeom>
          <a:noFill/>
        </p:spPr>
        <p:txBody>
          <a:bodyPr wrap="square">
            <a:spAutoFit/>
          </a:bodyPr>
          <a:lstStyle/>
          <a:p>
            <a:pPr>
              <a:spcAft>
                <a:spcPts val="500"/>
              </a:spcAft>
            </a:pPr>
            <a:r>
              <a:rPr sz="1150" b="0">
                <a:solidFill>
                  <a:srgbClr val="161B26"/>
                </a:solidFill>
                <a:latin typeface="Arial"/>
              </a:rPr>
              <a:t>•  High power, low interest</a:t>
            </a:r>
          </a:p>
          <a:p>
            <a:pPr>
              <a:spcAft>
                <a:spcPts val="500"/>
              </a:spcAft>
            </a:pPr>
            <a:r>
              <a:rPr sz="1150" b="0">
                <a:solidFill>
                  <a:srgbClr val="161B26"/>
                </a:solidFill>
                <a:latin typeface="Arial"/>
              </a:rPr>
              <a:t>•  Keep them briefly, credibly informed</a:t>
            </a:r>
          </a:p>
          <a:p>
            <a:pPr>
              <a:spcAft>
                <a:spcPts val="500"/>
              </a:spcAft>
            </a:pPr>
            <a:r>
              <a:rPr sz="1150" b="0">
                <a:solidFill>
                  <a:srgbClr val="161B26"/>
                </a:solidFill>
                <a:latin typeface="Arial"/>
              </a:rPr>
              <a:t>•  Never surprise them late in the deal</a:t>
            </a:r>
          </a:p>
        </p:txBody>
      </p:sp>
      <p:sp>
        <p:nvSpPr>
          <p:cNvPr id="12" name="Rectangle 11"/>
          <p:cNvSpPr/>
          <p:nvPr/>
        </p:nvSpPr>
        <p:spPr>
          <a:xfrm>
            <a:off x="6350508" y="2103120"/>
            <a:ext cx="4713732" cy="175107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0508" y="2103120"/>
            <a:ext cx="4713732"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6540" y="2286000"/>
            <a:ext cx="4256532" cy="384048"/>
          </a:xfrm>
          <a:prstGeom prst="rect">
            <a:avLst/>
          </a:prstGeom>
          <a:noFill/>
        </p:spPr>
        <p:txBody>
          <a:bodyPr wrap="square" anchor="t">
            <a:spAutoFit/>
          </a:bodyPr>
          <a:lstStyle/>
          <a:p>
            <a:pPr algn="l">
              <a:spcAft>
                <a:spcPts val="400"/>
              </a:spcAft>
            </a:pPr>
            <a:r>
              <a:rPr sz="1500" b="1">
                <a:solidFill>
                  <a:srgbClr val="1F6FEB"/>
                </a:solidFill>
                <a:latin typeface="Arial"/>
              </a:rPr>
              <a:t>Champion</a:t>
            </a:r>
          </a:p>
        </p:txBody>
      </p:sp>
      <p:sp>
        <p:nvSpPr>
          <p:cNvPr id="15" name="TextBox 14"/>
          <p:cNvSpPr txBox="1"/>
          <p:nvPr/>
        </p:nvSpPr>
        <p:spPr>
          <a:xfrm>
            <a:off x="6606540" y="2724912"/>
            <a:ext cx="4219956" cy="1001268"/>
          </a:xfrm>
          <a:prstGeom prst="rect">
            <a:avLst/>
          </a:prstGeom>
          <a:noFill/>
        </p:spPr>
        <p:txBody>
          <a:bodyPr wrap="square">
            <a:spAutoFit/>
          </a:bodyPr>
          <a:lstStyle/>
          <a:p>
            <a:pPr>
              <a:spcAft>
                <a:spcPts val="500"/>
              </a:spcAft>
            </a:pPr>
            <a:r>
              <a:rPr sz="1150" b="0">
                <a:solidFill>
                  <a:srgbClr val="161B26"/>
                </a:solidFill>
                <a:latin typeface="Arial"/>
              </a:rPr>
              <a:t>•  High power, high interest</a:t>
            </a:r>
          </a:p>
          <a:p>
            <a:pPr>
              <a:spcAft>
                <a:spcPts val="500"/>
              </a:spcAft>
            </a:pPr>
            <a:r>
              <a:rPr sz="1150" b="0">
                <a:solidFill>
                  <a:srgbClr val="161B26"/>
                </a:solidFill>
                <a:latin typeface="Arial"/>
              </a:rPr>
              <a:t>•  Co-design the proposal with them</a:t>
            </a:r>
          </a:p>
          <a:p>
            <a:pPr>
              <a:spcAft>
                <a:spcPts val="500"/>
              </a:spcAft>
            </a:pPr>
            <a:r>
              <a:rPr sz="1150" b="0">
                <a:solidFill>
                  <a:srgbClr val="161B26"/>
                </a:solidFill>
                <a:latin typeface="Arial"/>
              </a:rPr>
              <a:t>•  Arm them to sell it internally</a:t>
            </a:r>
          </a:p>
        </p:txBody>
      </p:sp>
      <p:sp>
        <p:nvSpPr>
          <p:cNvPr id="16" name="Rectangle 15"/>
          <p:cNvSpPr/>
          <p:nvPr/>
        </p:nvSpPr>
        <p:spPr>
          <a:xfrm>
            <a:off x="1417320" y="4055364"/>
            <a:ext cx="4713732" cy="175107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17320" y="4055364"/>
            <a:ext cx="4713732" cy="7315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73352" y="4238244"/>
            <a:ext cx="4256532" cy="384048"/>
          </a:xfrm>
          <a:prstGeom prst="rect">
            <a:avLst/>
          </a:prstGeom>
          <a:noFill/>
        </p:spPr>
        <p:txBody>
          <a:bodyPr wrap="square" anchor="t">
            <a:spAutoFit/>
          </a:bodyPr>
          <a:lstStyle/>
          <a:p>
            <a:pPr algn="l">
              <a:spcAft>
                <a:spcPts val="400"/>
              </a:spcAft>
            </a:pPr>
            <a:r>
              <a:rPr sz="1500" b="1">
                <a:solidFill>
                  <a:srgbClr val="5B6372"/>
                </a:solidFill>
                <a:latin typeface="Arial"/>
              </a:rPr>
              <a:t>Bystander</a:t>
            </a:r>
          </a:p>
        </p:txBody>
      </p:sp>
      <p:sp>
        <p:nvSpPr>
          <p:cNvPr id="19" name="TextBox 18"/>
          <p:cNvSpPr txBox="1"/>
          <p:nvPr/>
        </p:nvSpPr>
        <p:spPr>
          <a:xfrm>
            <a:off x="1673352" y="4677156"/>
            <a:ext cx="4219956" cy="1001268"/>
          </a:xfrm>
          <a:prstGeom prst="rect">
            <a:avLst/>
          </a:prstGeom>
          <a:noFill/>
        </p:spPr>
        <p:txBody>
          <a:bodyPr wrap="square">
            <a:spAutoFit/>
          </a:bodyPr>
          <a:lstStyle/>
          <a:p>
            <a:pPr>
              <a:spcAft>
                <a:spcPts val="500"/>
              </a:spcAft>
            </a:pPr>
            <a:r>
              <a:rPr sz="1150" b="0">
                <a:solidFill>
                  <a:srgbClr val="161B26"/>
                </a:solidFill>
                <a:latin typeface="Arial"/>
              </a:rPr>
              <a:t>•  Low power, low interest</a:t>
            </a:r>
          </a:p>
          <a:p>
            <a:pPr>
              <a:spcAft>
                <a:spcPts val="500"/>
              </a:spcAft>
            </a:pPr>
            <a:r>
              <a:rPr sz="1150" b="0">
                <a:solidFill>
                  <a:srgbClr val="161B26"/>
                </a:solidFill>
                <a:latin typeface="Arial"/>
              </a:rPr>
              <a:t>•  Light touch — don't over-invest</a:t>
            </a:r>
          </a:p>
          <a:p>
            <a:pPr>
              <a:spcAft>
                <a:spcPts val="500"/>
              </a:spcAft>
            </a:pPr>
            <a:r>
              <a:rPr sz="1150" b="0">
                <a:solidFill>
                  <a:srgbClr val="161B26"/>
                </a:solidFill>
                <a:latin typeface="Arial"/>
              </a:rPr>
              <a:t>•  Monitor in case their role changes</a:t>
            </a:r>
          </a:p>
        </p:txBody>
      </p:sp>
      <p:sp>
        <p:nvSpPr>
          <p:cNvPr id="20" name="Rectangle 19"/>
          <p:cNvSpPr/>
          <p:nvPr/>
        </p:nvSpPr>
        <p:spPr>
          <a:xfrm>
            <a:off x="6350508" y="4055364"/>
            <a:ext cx="4713732" cy="175107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0508" y="4055364"/>
            <a:ext cx="47137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6540" y="4238244"/>
            <a:ext cx="4256532" cy="384048"/>
          </a:xfrm>
          <a:prstGeom prst="rect">
            <a:avLst/>
          </a:prstGeom>
          <a:noFill/>
        </p:spPr>
        <p:txBody>
          <a:bodyPr wrap="square" anchor="t">
            <a:spAutoFit/>
          </a:bodyPr>
          <a:lstStyle/>
          <a:p>
            <a:pPr algn="l">
              <a:spcAft>
                <a:spcPts val="400"/>
              </a:spcAft>
            </a:pPr>
            <a:r>
              <a:rPr sz="1500" b="1">
                <a:solidFill>
                  <a:srgbClr val="10B981"/>
                </a:solidFill>
                <a:latin typeface="Arial"/>
              </a:rPr>
              <a:t>Advocate</a:t>
            </a:r>
          </a:p>
        </p:txBody>
      </p:sp>
      <p:sp>
        <p:nvSpPr>
          <p:cNvPr id="23" name="TextBox 22"/>
          <p:cNvSpPr txBox="1"/>
          <p:nvPr/>
        </p:nvSpPr>
        <p:spPr>
          <a:xfrm>
            <a:off x="6606540" y="4677156"/>
            <a:ext cx="4219956" cy="1001268"/>
          </a:xfrm>
          <a:prstGeom prst="rect">
            <a:avLst/>
          </a:prstGeom>
          <a:noFill/>
        </p:spPr>
        <p:txBody>
          <a:bodyPr wrap="square">
            <a:spAutoFit/>
          </a:bodyPr>
          <a:lstStyle/>
          <a:p>
            <a:pPr>
              <a:spcAft>
                <a:spcPts val="500"/>
              </a:spcAft>
            </a:pPr>
            <a:r>
              <a:rPr sz="1150" b="0">
                <a:solidFill>
                  <a:srgbClr val="161B26"/>
                </a:solidFill>
                <a:latin typeface="Arial"/>
              </a:rPr>
              <a:t>•  Low power, high interest</a:t>
            </a:r>
          </a:p>
          <a:p>
            <a:pPr>
              <a:spcAft>
                <a:spcPts val="500"/>
              </a:spcAft>
            </a:pPr>
            <a:r>
              <a:rPr sz="1150" b="0">
                <a:solidFill>
                  <a:srgbClr val="161B26"/>
                </a:solidFill>
                <a:latin typeface="Arial"/>
              </a:rPr>
              <a:t>•  Give them talking points for others</a:t>
            </a:r>
          </a:p>
          <a:p>
            <a:pPr>
              <a:spcAft>
                <a:spcPts val="500"/>
              </a:spcAft>
            </a:pPr>
            <a:r>
              <a:rPr sz="1150" b="0">
                <a:solidFill>
                  <a:srgbClr val="161B26"/>
                </a:solidFill>
                <a:latin typeface="Arial"/>
              </a:rPr>
              <a:t>•  Their enthusiasm travels upward</a:t>
            </a:r>
          </a:p>
        </p:txBody>
      </p:sp>
      <p:sp>
        <p:nvSpPr>
          <p:cNvPr id="24" name="TextBox 23"/>
          <p:cNvSpPr txBox="1"/>
          <p:nvPr/>
        </p:nvSpPr>
        <p:spPr>
          <a:xfrm rot="16200000">
            <a:off x="182880" y="3131820"/>
            <a:ext cx="1645920" cy="1645920"/>
          </a:xfrm>
          <a:prstGeom prst="rect">
            <a:avLst/>
          </a:prstGeom>
          <a:noFill/>
        </p:spPr>
        <p:txBody>
          <a:bodyPr wrap="square" anchor="ctr">
            <a:spAutoFit/>
          </a:bodyPr>
          <a:lstStyle/>
          <a:p>
            <a:pPr algn="ctr">
              <a:spcAft>
                <a:spcPts val="400"/>
              </a:spcAft>
            </a:pPr>
            <a:r>
              <a:rPr sz="1200" b="1">
                <a:solidFill>
                  <a:srgbClr val="5B6372"/>
                </a:solidFill>
                <a:latin typeface="Arial"/>
              </a:rPr>
              <a:t>POWER →</a:t>
            </a:r>
          </a:p>
        </p:txBody>
      </p:sp>
      <p:sp>
        <p:nvSpPr>
          <p:cNvPr id="25" name="TextBox 24"/>
          <p:cNvSpPr txBox="1"/>
          <p:nvPr/>
        </p:nvSpPr>
        <p:spPr>
          <a:xfrm>
            <a:off x="1417320" y="5897880"/>
            <a:ext cx="9646920" cy="365760"/>
          </a:xfrm>
          <a:prstGeom prst="rect">
            <a:avLst/>
          </a:prstGeom>
          <a:noFill/>
        </p:spPr>
        <p:txBody>
          <a:bodyPr wrap="square" anchor="t">
            <a:spAutoFit/>
          </a:bodyPr>
          <a:lstStyle/>
          <a:p>
            <a:pPr algn="ctr">
              <a:spcAft>
                <a:spcPts val="400"/>
              </a:spcAft>
            </a:pPr>
            <a:r>
              <a:rPr sz="1200" b="1">
                <a:solidFill>
                  <a:srgbClr val="5B6372"/>
                </a:solidFill>
                <a:latin typeface="Arial"/>
              </a:rPr>
              <a:t>INTEREST →</a:t>
            </a:r>
          </a:p>
        </p:txBody>
      </p:sp>
      <p:sp>
        <p:nvSpPr>
          <p:cNvPr id="26" name="TextBox 2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stakeholder power-interest mapping, adapted for buyer psychology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Cialdini's Principles at Work in a Sales Call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Seven levers of influence — every one of them is a way to be genuinely useful, and every one can be abused. Use them honestly.</a:t>
            </a:r>
          </a:p>
        </p:txBody>
      </p:sp>
      <p:sp>
        <p:nvSpPr>
          <p:cNvPr id="8" name="Rectangle 7"/>
          <p:cNvSpPr/>
          <p:nvPr/>
        </p:nvSpPr>
        <p:spPr>
          <a:xfrm>
            <a:off x="777240" y="2103120"/>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103120"/>
            <a:ext cx="2452878" cy="713232"/>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46915" y="2202972"/>
            <a:ext cx="513527" cy="513527"/>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eart 10"/>
          <p:cNvSpPr/>
          <p:nvPr/>
        </p:nvSpPr>
        <p:spPr>
          <a:xfrm>
            <a:off x="1834215" y="2300542"/>
            <a:ext cx="338927" cy="318386"/>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2944368"/>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Reciprocity</a:t>
            </a:r>
          </a:p>
        </p:txBody>
      </p:sp>
      <p:sp>
        <p:nvSpPr>
          <p:cNvPr id="13" name="TextBox 12"/>
          <p:cNvSpPr txBox="1"/>
          <p:nvPr/>
        </p:nvSpPr>
        <p:spPr>
          <a:xfrm>
            <a:off x="941832" y="3346704"/>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Give real value before you ask for anything.</a:t>
            </a:r>
          </a:p>
        </p:txBody>
      </p:sp>
      <p:sp>
        <p:nvSpPr>
          <p:cNvPr id="14" name="Rectangle 13"/>
          <p:cNvSpPr/>
          <p:nvPr/>
        </p:nvSpPr>
        <p:spPr>
          <a:xfrm>
            <a:off x="3504438" y="2103120"/>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103120"/>
            <a:ext cx="2452878" cy="713232"/>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74113" y="2202972"/>
            <a:ext cx="513527" cy="513527"/>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rot="2700000">
            <a:off x="4589657" y="2464871"/>
            <a:ext cx="128381" cy="4108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rot="18900000">
            <a:off x="4658983" y="2434059"/>
            <a:ext cx="236222" cy="4108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2944368"/>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Commitment</a:t>
            </a:r>
          </a:p>
        </p:txBody>
      </p:sp>
      <p:sp>
        <p:nvSpPr>
          <p:cNvPr id="20" name="TextBox 19"/>
          <p:cNvSpPr txBox="1"/>
          <p:nvPr/>
        </p:nvSpPr>
        <p:spPr>
          <a:xfrm>
            <a:off x="3669030" y="3346704"/>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Small agreed steps make the big yes feel safe.</a:t>
            </a:r>
          </a:p>
        </p:txBody>
      </p:sp>
      <p:sp>
        <p:nvSpPr>
          <p:cNvPr id="21" name="Rectangle 20"/>
          <p:cNvSpPr/>
          <p:nvPr/>
        </p:nvSpPr>
        <p:spPr>
          <a:xfrm>
            <a:off x="6231636" y="2103120"/>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103120"/>
            <a:ext cx="2452878" cy="713232"/>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01311" y="2202972"/>
            <a:ext cx="513527" cy="513527"/>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78340" y="2300542"/>
            <a:ext cx="141219" cy="14121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496589" y="2300542"/>
            <a:ext cx="141219" cy="14121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257799" y="2464871"/>
            <a:ext cx="179734" cy="159193"/>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478616" y="2464871"/>
            <a:ext cx="179734" cy="159193"/>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96228" y="2944368"/>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Social Proof</a:t>
            </a:r>
          </a:p>
        </p:txBody>
      </p:sp>
      <p:sp>
        <p:nvSpPr>
          <p:cNvPr id="29" name="TextBox 28"/>
          <p:cNvSpPr txBox="1"/>
          <p:nvPr/>
        </p:nvSpPr>
        <p:spPr>
          <a:xfrm>
            <a:off x="6396228" y="3346704"/>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Show what similar buyers chose, and why.</a:t>
            </a:r>
          </a:p>
        </p:txBody>
      </p:sp>
      <p:sp>
        <p:nvSpPr>
          <p:cNvPr id="30" name="Rectangle 29"/>
          <p:cNvSpPr/>
          <p:nvPr/>
        </p:nvSpPr>
        <p:spPr>
          <a:xfrm>
            <a:off x="8958834" y="2103120"/>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58834" y="2103120"/>
            <a:ext cx="2452878" cy="713232"/>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28509" y="2202972"/>
            <a:ext cx="513527" cy="513527"/>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entagon 32"/>
          <p:cNvSpPr/>
          <p:nvPr/>
        </p:nvSpPr>
        <p:spPr>
          <a:xfrm rot="5400000">
            <a:off x="10036350" y="2310813"/>
            <a:ext cx="297845" cy="297845"/>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23426" y="2944368"/>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Authority</a:t>
            </a:r>
          </a:p>
        </p:txBody>
      </p:sp>
      <p:sp>
        <p:nvSpPr>
          <p:cNvPr id="35" name="TextBox 34"/>
          <p:cNvSpPr txBox="1"/>
          <p:nvPr/>
        </p:nvSpPr>
        <p:spPr>
          <a:xfrm>
            <a:off x="9123426" y="3346704"/>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Demonstrate expertise; never merely claim it.</a:t>
            </a:r>
          </a:p>
        </p:txBody>
      </p:sp>
      <p:sp>
        <p:nvSpPr>
          <p:cNvPr id="36" name="Rectangle 35"/>
          <p:cNvSpPr/>
          <p:nvPr/>
        </p:nvSpPr>
        <p:spPr>
          <a:xfrm>
            <a:off x="777240" y="4174236"/>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77240" y="4174236"/>
            <a:ext cx="2452878" cy="713232"/>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746915" y="4274088"/>
            <a:ext cx="513527" cy="513527"/>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ular Callout 38"/>
          <p:cNvSpPr/>
          <p:nvPr/>
        </p:nvSpPr>
        <p:spPr>
          <a:xfrm>
            <a:off x="1834215" y="4381929"/>
            <a:ext cx="338927" cy="256763"/>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41832" y="5015484"/>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Liking</a:t>
            </a:r>
          </a:p>
        </p:txBody>
      </p:sp>
      <p:sp>
        <p:nvSpPr>
          <p:cNvPr id="41" name="TextBox 40"/>
          <p:cNvSpPr txBox="1"/>
          <p:nvPr/>
        </p:nvSpPr>
        <p:spPr>
          <a:xfrm>
            <a:off x="941832" y="5417820"/>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Genuine rapport makes agreement easier.</a:t>
            </a:r>
          </a:p>
        </p:txBody>
      </p:sp>
      <p:sp>
        <p:nvSpPr>
          <p:cNvPr id="42" name="Rectangle 41"/>
          <p:cNvSpPr/>
          <p:nvPr/>
        </p:nvSpPr>
        <p:spPr>
          <a:xfrm>
            <a:off x="3504438" y="4174236"/>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504438" y="4174236"/>
            <a:ext cx="2452878" cy="713232"/>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474113" y="4274088"/>
            <a:ext cx="513527" cy="513527"/>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onut 44"/>
          <p:cNvSpPr/>
          <p:nvPr/>
        </p:nvSpPr>
        <p:spPr>
          <a:xfrm>
            <a:off x="4546007" y="4345982"/>
            <a:ext cx="369739" cy="369739"/>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715471" y="4397334"/>
            <a:ext cx="30811" cy="1437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4715471" y="4515446"/>
            <a:ext cx="118111" cy="308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669030" y="5015484"/>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Scarcity</a:t>
            </a:r>
          </a:p>
        </p:txBody>
      </p:sp>
      <p:sp>
        <p:nvSpPr>
          <p:cNvPr id="49" name="TextBox 48"/>
          <p:cNvSpPr txBox="1"/>
          <p:nvPr/>
        </p:nvSpPr>
        <p:spPr>
          <a:xfrm>
            <a:off x="3669030" y="5417820"/>
            <a:ext cx="2123694" cy="461772"/>
          </a:xfrm>
          <a:prstGeom prst="rect">
            <a:avLst/>
          </a:prstGeom>
          <a:noFill/>
        </p:spPr>
        <p:txBody>
          <a:bodyPr wrap="square" anchor="t">
            <a:spAutoFit/>
          </a:bodyPr>
          <a:lstStyle/>
          <a:p>
            <a:pPr algn="ctr">
              <a:spcAft>
                <a:spcPts val="400"/>
              </a:spcAft>
            </a:pPr>
            <a:r>
              <a:rPr sz="1150" b="0">
                <a:solidFill>
                  <a:srgbClr val="5B6372"/>
                </a:solidFill>
                <a:latin typeface="Arial"/>
              </a:rPr>
              <a:t>State real limits only — never fabricate one.</a:t>
            </a:r>
          </a:p>
        </p:txBody>
      </p:sp>
      <p:sp>
        <p:nvSpPr>
          <p:cNvPr id="50" name="Rectangle 49"/>
          <p:cNvSpPr/>
          <p:nvPr/>
        </p:nvSpPr>
        <p:spPr>
          <a:xfrm>
            <a:off x="6231636" y="4174236"/>
            <a:ext cx="2452878"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231636" y="4174236"/>
            <a:ext cx="2452878" cy="713232"/>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201311" y="4274088"/>
            <a:ext cx="513527" cy="513527"/>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5-Point Star 52"/>
          <p:cNvSpPr/>
          <p:nvPr/>
        </p:nvSpPr>
        <p:spPr>
          <a:xfrm>
            <a:off x="7273205" y="4345982"/>
            <a:ext cx="369739" cy="369739"/>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396228" y="5015484"/>
            <a:ext cx="2123694" cy="365760"/>
          </a:xfrm>
          <a:prstGeom prst="rect">
            <a:avLst/>
          </a:prstGeom>
          <a:noFill/>
        </p:spPr>
        <p:txBody>
          <a:bodyPr wrap="square" anchor="t">
            <a:spAutoFit/>
          </a:bodyPr>
          <a:lstStyle/>
          <a:p>
            <a:pPr algn="ctr">
              <a:spcAft>
                <a:spcPts val="400"/>
              </a:spcAft>
            </a:pPr>
            <a:r>
              <a:rPr sz="1400" b="1">
                <a:solidFill>
                  <a:srgbClr val="161B26"/>
                </a:solidFill>
                <a:latin typeface="Arial"/>
              </a:rPr>
              <a:t>Unity</a:t>
            </a:r>
          </a:p>
        </p:txBody>
      </p:sp>
      <p:sp>
        <p:nvSpPr>
          <p:cNvPr id="55" name="TextBox 54"/>
          <p:cNvSpPr txBox="1"/>
          <p:nvPr/>
        </p:nvSpPr>
        <p:spPr>
          <a:xfrm>
            <a:off x="6396228" y="5417820"/>
            <a:ext cx="2123694" cy="461772"/>
          </a:xfrm>
          <a:prstGeom prst="rect">
            <a:avLst/>
          </a:prstGeom>
          <a:noFill/>
        </p:spPr>
        <p:txBody>
          <a:bodyPr wrap="square" anchor="t">
            <a:spAutoFit/>
          </a:bodyPr>
          <a:lstStyle/>
          <a:p>
            <a:pPr algn="ctr">
              <a:spcAft>
                <a:spcPts val="400"/>
              </a:spcAft>
            </a:pPr>
            <a:r>
              <a:rPr sz="1000" b="0">
                <a:solidFill>
                  <a:srgbClr val="5B6372"/>
                </a:solidFill>
                <a:latin typeface="Arial"/>
              </a:rPr>
              <a:t>A shared identity or goal beats surface liking.</a:t>
            </a:r>
          </a:p>
        </p:txBody>
      </p:sp>
      <p:sp>
        <p:nvSpPr>
          <p:cNvPr id="56" name="TextBox 5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Cialdini, R. — Influence (1984); Pre-Suasion (2016, adds Unity)</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the Discovery Process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the Discovery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best closers are the best listeners. Discovery is where the sale is actually won — the close is just the paperwork.</a:t>
            </a:r>
          </a:p>
        </p:txBody>
      </p:sp>
      <p:sp>
        <p:nvSpPr>
          <p:cNvPr id="8" name="Rectangle 7"/>
          <p:cNvSpPr/>
          <p:nvPr/>
        </p:nvSpPr>
        <p:spPr>
          <a:xfrm>
            <a:off x="777240"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18588"/>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55748"/>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nut 10"/>
          <p:cNvSpPr/>
          <p:nvPr/>
        </p:nvSpPr>
        <p:spPr>
          <a:xfrm>
            <a:off x="1827931" y="2652125"/>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rot="2700000">
            <a:off x="2049033" y="2895904"/>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1832"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Point of Discovery</a:t>
            </a:r>
          </a:p>
        </p:txBody>
      </p:sp>
      <p:sp>
        <p:nvSpPr>
          <p:cNvPr id="14" name="TextBox 13"/>
          <p:cNvSpPr txBox="1"/>
          <p:nvPr/>
        </p:nvSpPr>
        <p:spPr>
          <a:xfrm>
            <a:off x="941832"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Uncover the real need before recommending anything.</a:t>
            </a:r>
          </a:p>
        </p:txBody>
      </p:sp>
      <p:sp>
        <p:nvSpPr>
          <p:cNvPr id="15" name="Rectangle 14"/>
          <p:cNvSpPr/>
          <p:nvPr/>
        </p:nvSpPr>
        <p:spPr>
          <a:xfrm>
            <a:off x="3504438"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04438" y="2418588"/>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47413" y="2555748"/>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ular Callout 17"/>
          <p:cNvSpPr/>
          <p:nvPr/>
        </p:nvSpPr>
        <p:spPr>
          <a:xfrm>
            <a:off x="4543790" y="2674802"/>
            <a:ext cx="374172" cy="283464"/>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Bucket Questions</a:t>
            </a:r>
          </a:p>
        </p:txBody>
      </p:sp>
      <p:sp>
        <p:nvSpPr>
          <p:cNvPr id="20" name="TextBox 19"/>
          <p:cNvSpPr txBox="1"/>
          <p:nvPr/>
        </p:nvSpPr>
        <p:spPr>
          <a:xfrm>
            <a:off x="3669030"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Broad openers that let the buyer pick what matters.</a:t>
            </a:r>
          </a:p>
        </p:txBody>
      </p:sp>
      <p:sp>
        <p:nvSpPr>
          <p:cNvPr id="21" name="Rectangle 20"/>
          <p:cNvSpPr/>
          <p:nvPr/>
        </p:nvSpPr>
        <p:spPr>
          <a:xfrm>
            <a:off x="6231636"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418588"/>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555748"/>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ircular Arrow 23"/>
          <p:cNvSpPr/>
          <p:nvPr/>
        </p:nvSpPr>
        <p:spPr>
          <a:xfrm>
            <a:off x="7202957" y="2584094"/>
            <a:ext cx="510235" cy="510235"/>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96228"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Why, Why, Why</a:t>
            </a:r>
          </a:p>
        </p:txBody>
      </p:sp>
      <p:sp>
        <p:nvSpPr>
          <p:cNvPr id="26" name="TextBox 25"/>
          <p:cNvSpPr txBox="1"/>
          <p:nvPr/>
        </p:nvSpPr>
        <p:spPr>
          <a:xfrm>
            <a:off x="6396228"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Repeated whys dig from symptom to the felt problem.</a:t>
            </a:r>
          </a:p>
        </p:txBody>
      </p:sp>
      <p:sp>
        <p:nvSpPr>
          <p:cNvPr id="27" name="Rectangle 26"/>
          <p:cNvSpPr/>
          <p:nvPr/>
        </p:nvSpPr>
        <p:spPr>
          <a:xfrm>
            <a:off x="8958834"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58834" y="2418588"/>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01809" y="2555748"/>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entagon 29"/>
          <p:cNvSpPr/>
          <p:nvPr/>
        </p:nvSpPr>
        <p:spPr>
          <a:xfrm rot="5400000">
            <a:off x="10020863" y="2674802"/>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23426" y="3442716"/>
            <a:ext cx="2123694" cy="566928"/>
          </a:xfrm>
          <a:prstGeom prst="rect">
            <a:avLst/>
          </a:prstGeom>
          <a:noFill/>
        </p:spPr>
        <p:txBody>
          <a:bodyPr wrap="square" anchor="t">
            <a:spAutoFit/>
          </a:bodyPr>
          <a:lstStyle/>
          <a:p>
            <a:pPr algn="ctr">
              <a:spcAft>
                <a:spcPts val="400"/>
              </a:spcAft>
            </a:pPr>
            <a:r>
              <a:rPr sz="1400" b="1">
                <a:solidFill>
                  <a:srgbClr val="161B26"/>
                </a:solidFill>
                <a:latin typeface="Arial"/>
              </a:rPr>
              <a:t>Permission-Based Selling</a:t>
            </a:r>
          </a:p>
        </p:txBody>
      </p:sp>
      <p:sp>
        <p:nvSpPr>
          <p:cNvPr id="32" name="TextBox 31"/>
          <p:cNvSpPr txBox="1"/>
          <p:nvPr/>
        </p:nvSpPr>
        <p:spPr>
          <a:xfrm>
            <a:off x="9123426"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Ask before you probe — consent keeps them in control.</a:t>
            </a:r>
          </a:p>
        </p:txBody>
      </p:sp>
      <p:sp>
        <p:nvSpPr>
          <p:cNvPr id="33" name="TextBox 32"/>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SPIN Selling discovery practice, adapted for course use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T5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SPIN Selling — Rackham's Question Sequence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Four question types, always in this order. Skip a stage and the buyer never says the sentence that sells them.</a:t>
            </a:r>
          </a:p>
        </p:txBody>
      </p:sp>
      <p:sp>
        <p:nvSpPr>
          <p:cNvPr id="8" name="Hexagon 7"/>
          <p:cNvSpPr/>
          <p:nvPr/>
        </p:nvSpPr>
        <p:spPr>
          <a:xfrm>
            <a:off x="1276731" y="2240280"/>
            <a:ext cx="1481328" cy="1333195"/>
          </a:xfrm>
          <a:prstGeom prst="hexagon">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276731"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S</a:t>
            </a:r>
          </a:p>
        </p:txBody>
      </p:sp>
      <p:sp>
        <p:nvSpPr>
          <p:cNvPr id="10" name="Rectangle 9"/>
          <p:cNvSpPr/>
          <p:nvPr/>
        </p:nvSpPr>
        <p:spPr>
          <a:xfrm>
            <a:off x="777240" y="3792931"/>
            <a:ext cx="2480310"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792931"/>
            <a:ext cx="2480310" cy="640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975811"/>
            <a:ext cx="2187702" cy="512064"/>
          </a:xfrm>
          <a:prstGeom prst="rect">
            <a:avLst/>
          </a:prstGeom>
          <a:noFill/>
        </p:spPr>
        <p:txBody>
          <a:bodyPr wrap="square" anchor="t">
            <a:spAutoFit/>
          </a:bodyPr>
          <a:lstStyle/>
          <a:p>
            <a:pPr algn="ctr">
              <a:spcAft>
                <a:spcPts val="400"/>
              </a:spcAft>
            </a:pPr>
            <a:r>
              <a:rPr sz="1350" b="1">
                <a:solidFill>
                  <a:srgbClr val="161B26"/>
                </a:solidFill>
                <a:latin typeface="Arial"/>
              </a:rPr>
              <a:t>Situation</a:t>
            </a:r>
          </a:p>
        </p:txBody>
      </p:sp>
      <p:sp>
        <p:nvSpPr>
          <p:cNvPr id="13" name="TextBox 12"/>
          <p:cNvSpPr txBox="1"/>
          <p:nvPr/>
        </p:nvSpPr>
        <p:spPr>
          <a:xfrm>
            <a:off x="923544" y="4506163"/>
            <a:ext cx="2187702" cy="1236269"/>
          </a:xfrm>
          <a:prstGeom prst="rect">
            <a:avLst/>
          </a:prstGeom>
          <a:noFill/>
        </p:spPr>
        <p:txBody>
          <a:bodyPr wrap="square" anchor="t">
            <a:spAutoFit/>
          </a:bodyPr>
          <a:lstStyle/>
          <a:p>
            <a:pPr algn="ctr">
              <a:spcAft>
                <a:spcPts val="400"/>
              </a:spcAft>
            </a:pPr>
            <a:r>
              <a:rPr sz="1150" b="0">
                <a:solidFill>
                  <a:srgbClr val="5B6372"/>
                </a:solidFill>
                <a:latin typeface="Arial"/>
              </a:rPr>
              <a:t>What does the current process actually look like?</a:t>
            </a:r>
          </a:p>
        </p:txBody>
      </p:sp>
      <p:sp>
        <p:nvSpPr>
          <p:cNvPr id="14" name="Hexagon 13"/>
          <p:cNvSpPr/>
          <p:nvPr/>
        </p:nvSpPr>
        <p:spPr>
          <a:xfrm>
            <a:off x="3994785" y="2240280"/>
            <a:ext cx="1481328" cy="1333195"/>
          </a:xfrm>
          <a:prstGeom prst="hexagon">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994785"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P</a:t>
            </a:r>
          </a:p>
        </p:txBody>
      </p:sp>
      <p:sp>
        <p:nvSpPr>
          <p:cNvPr id="16" name="Rectangle 15"/>
          <p:cNvSpPr/>
          <p:nvPr/>
        </p:nvSpPr>
        <p:spPr>
          <a:xfrm>
            <a:off x="3495294" y="3792931"/>
            <a:ext cx="2480310"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95294" y="3792931"/>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1598" y="3975811"/>
            <a:ext cx="2187702" cy="512064"/>
          </a:xfrm>
          <a:prstGeom prst="rect">
            <a:avLst/>
          </a:prstGeom>
          <a:noFill/>
        </p:spPr>
        <p:txBody>
          <a:bodyPr wrap="square" anchor="t">
            <a:spAutoFit/>
          </a:bodyPr>
          <a:lstStyle/>
          <a:p>
            <a:pPr algn="ctr">
              <a:spcAft>
                <a:spcPts val="400"/>
              </a:spcAft>
            </a:pPr>
            <a:r>
              <a:rPr sz="1350" b="1">
                <a:solidFill>
                  <a:srgbClr val="161B26"/>
                </a:solidFill>
                <a:latin typeface="Arial"/>
              </a:rPr>
              <a:t>Problem</a:t>
            </a:r>
          </a:p>
        </p:txBody>
      </p:sp>
      <p:sp>
        <p:nvSpPr>
          <p:cNvPr id="19" name="TextBox 18"/>
          <p:cNvSpPr txBox="1"/>
          <p:nvPr/>
        </p:nvSpPr>
        <p:spPr>
          <a:xfrm>
            <a:off x="3641598" y="4506163"/>
            <a:ext cx="2187702" cy="1236269"/>
          </a:xfrm>
          <a:prstGeom prst="rect">
            <a:avLst/>
          </a:prstGeom>
          <a:noFill/>
        </p:spPr>
        <p:txBody>
          <a:bodyPr wrap="square" anchor="t">
            <a:spAutoFit/>
          </a:bodyPr>
          <a:lstStyle/>
          <a:p>
            <a:pPr algn="ctr">
              <a:spcAft>
                <a:spcPts val="400"/>
              </a:spcAft>
            </a:pPr>
            <a:r>
              <a:rPr sz="1150" b="0">
                <a:solidFill>
                  <a:srgbClr val="5B6372"/>
                </a:solidFill>
                <a:latin typeface="Arial"/>
              </a:rPr>
              <a:t>Where specifically is it breaking down?</a:t>
            </a:r>
          </a:p>
        </p:txBody>
      </p:sp>
      <p:sp>
        <p:nvSpPr>
          <p:cNvPr id="20" name="Hexagon 19"/>
          <p:cNvSpPr/>
          <p:nvPr/>
        </p:nvSpPr>
        <p:spPr>
          <a:xfrm>
            <a:off x="6712839" y="2240280"/>
            <a:ext cx="1481328" cy="1333195"/>
          </a:xfrm>
          <a:prstGeom prst="hexagon">
            <a:avLst/>
          </a:prstGeom>
          <a:solidFill>
            <a:srgbClr val="7C3AED"/>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12839"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I</a:t>
            </a:r>
          </a:p>
        </p:txBody>
      </p:sp>
      <p:sp>
        <p:nvSpPr>
          <p:cNvPr id="22" name="Rectangle 21"/>
          <p:cNvSpPr/>
          <p:nvPr/>
        </p:nvSpPr>
        <p:spPr>
          <a:xfrm>
            <a:off x="6213348" y="3792931"/>
            <a:ext cx="2480310"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3348" y="3792931"/>
            <a:ext cx="2480310"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9652" y="3975811"/>
            <a:ext cx="2187702" cy="512064"/>
          </a:xfrm>
          <a:prstGeom prst="rect">
            <a:avLst/>
          </a:prstGeom>
          <a:noFill/>
        </p:spPr>
        <p:txBody>
          <a:bodyPr wrap="square" anchor="t">
            <a:spAutoFit/>
          </a:bodyPr>
          <a:lstStyle/>
          <a:p>
            <a:pPr algn="ctr">
              <a:spcAft>
                <a:spcPts val="400"/>
              </a:spcAft>
            </a:pPr>
            <a:r>
              <a:rPr sz="1350" b="1">
                <a:solidFill>
                  <a:srgbClr val="161B26"/>
                </a:solidFill>
                <a:latin typeface="Arial"/>
              </a:rPr>
              <a:t>Implication</a:t>
            </a:r>
          </a:p>
        </p:txBody>
      </p:sp>
      <p:sp>
        <p:nvSpPr>
          <p:cNvPr id="25" name="TextBox 24"/>
          <p:cNvSpPr txBox="1"/>
          <p:nvPr/>
        </p:nvSpPr>
        <p:spPr>
          <a:xfrm>
            <a:off x="6359652" y="4506163"/>
            <a:ext cx="2187702" cy="1236269"/>
          </a:xfrm>
          <a:prstGeom prst="rect">
            <a:avLst/>
          </a:prstGeom>
          <a:noFill/>
        </p:spPr>
        <p:txBody>
          <a:bodyPr wrap="square" anchor="t">
            <a:spAutoFit/>
          </a:bodyPr>
          <a:lstStyle/>
          <a:p>
            <a:pPr algn="ctr">
              <a:spcAft>
                <a:spcPts val="400"/>
              </a:spcAft>
            </a:pPr>
            <a:r>
              <a:rPr sz="1150" b="0">
                <a:solidFill>
                  <a:srgbClr val="5B6372"/>
                </a:solidFill>
                <a:latin typeface="Arial"/>
              </a:rPr>
              <a:t>What is that difficulty really costing?</a:t>
            </a:r>
          </a:p>
        </p:txBody>
      </p:sp>
      <p:sp>
        <p:nvSpPr>
          <p:cNvPr id="26" name="Hexagon 25"/>
          <p:cNvSpPr/>
          <p:nvPr/>
        </p:nvSpPr>
        <p:spPr>
          <a:xfrm>
            <a:off x="9430893" y="2240280"/>
            <a:ext cx="1481328" cy="1333195"/>
          </a:xfrm>
          <a:prstGeom prst="hexagon">
            <a:avLst/>
          </a:prstGeom>
          <a:solidFill>
            <a:srgbClr val="F59E0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430893"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N</a:t>
            </a:r>
          </a:p>
        </p:txBody>
      </p:sp>
      <p:sp>
        <p:nvSpPr>
          <p:cNvPr id="28" name="Rectangle 27"/>
          <p:cNvSpPr/>
          <p:nvPr/>
        </p:nvSpPr>
        <p:spPr>
          <a:xfrm>
            <a:off x="8931402" y="3792931"/>
            <a:ext cx="2480310"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31402" y="3792931"/>
            <a:ext cx="2480310"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77706" y="3975811"/>
            <a:ext cx="2187702" cy="512064"/>
          </a:xfrm>
          <a:prstGeom prst="rect">
            <a:avLst/>
          </a:prstGeom>
          <a:noFill/>
        </p:spPr>
        <p:txBody>
          <a:bodyPr wrap="square" anchor="t">
            <a:spAutoFit/>
          </a:bodyPr>
          <a:lstStyle/>
          <a:p>
            <a:pPr algn="ctr">
              <a:spcAft>
                <a:spcPts val="400"/>
              </a:spcAft>
            </a:pPr>
            <a:r>
              <a:rPr sz="1350" b="1">
                <a:solidFill>
                  <a:srgbClr val="161B26"/>
                </a:solidFill>
                <a:latin typeface="Arial"/>
              </a:rPr>
              <a:t>Need-Payoff</a:t>
            </a:r>
          </a:p>
        </p:txBody>
      </p:sp>
      <p:sp>
        <p:nvSpPr>
          <p:cNvPr id="31" name="TextBox 30"/>
          <p:cNvSpPr txBox="1"/>
          <p:nvPr/>
        </p:nvSpPr>
        <p:spPr>
          <a:xfrm>
            <a:off x="9077706" y="4506163"/>
            <a:ext cx="2187702" cy="1236269"/>
          </a:xfrm>
          <a:prstGeom prst="rect">
            <a:avLst/>
          </a:prstGeom>
          <a:noFill/>
        </p:spPr>
        <p:txBody>
          <a:bodyPr wrap="square" anchor="t">
            <a:spAutoFit/>
          </a:bodyPr>
          <a:lstStyle/>
          <a:p>
            <a:pPr algn="ctr">
              <a:spcAft>
                <a:spcPts val="400"/>
              </a:spcAft>
            </a:pPr>
            <a:r>
              <a:rPr sz="1150" b="0">
                <a:solidFill>
                  <a:srgbClr val="5B6372"/>
                </a:solidFill>
                <a:latin typeface="Arial"/>
              </a:rPr>
              <a:t>What would solving it be worth to you?</a:t>
            </a:r>
          </a:p>
        </p:txBody>
      </p:sp>
      <p:sp>
        <p:nvSpPr>
          <p:cNvPr id="32" name="TextBox 31"/>
          <p:cNvSpPr txBox="1"/>
          <p:nvPr/>
        </p:nvSpPr>
        <p:spPr>
          <a:xfrm>
            <a:off x="777240" y="5989320"/>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Rackham, N. — SPIN Selling (1988); Huthwaite research across 35,000+ sales calls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T5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Closed Questions vs Gap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Closed Questions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Gap Questions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"Are you happy with your current system?"</a:t>
            </a:r>
          </a:p>
          <a:p>
            <a:pPr>
              <a:spcAft>
                <a:spcPts val="1000"/>
              </a:spcAft>
            </a:pPr>
            <a:r>
              <a:rPr sz="1600" b="0">
                <a:solidFill>
                  <a:srgbClr val="161B26"/>
                </a:solidFill>
                <a:latin typeface="Arial"/>
              </a:rPr>
              <a:t>•  Invites a one-word answer that ends the conversation.</a:t>
            </a:r>
          </a:p>
          <a:p>
            <a:pPr>
              <a:spcAft>
                <a:spcPts val="1000"/>
              </a:spcAft>
            </a:pPr>
            <a:r>
              <a:rPr sz="1600" b="0">
                <a:solidFill>
                  <a:srgbClr val="161B26"/>
                </a:solidFill>
                <a:latin typeface="Arial"/>
              </a:rPr>
              <a:t>•  Reveals almost nothing about the real gap.</a:t>
            </a:r>
          </a:p>
          <a:p>
            <a:pPr>
              <a:spcAft>
                <a:spcPts val="1000"/>
              </a:spcAft>
            </a:pPr>
            <a:r>
              <a:rPr sz="1600" b="0">
                <a:solidFill>
                  <a:srgbClr val="161B26"/>
                </a:solidFill>
                <a:latin typeface="Arial"/>
              </a:rPr>
              <a:t>•  You leave the call still guessing.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"What would it mean if you solved this for good?"</a:t>
            </a:r>
          </a:p>
          <a:p>
            <a:pPr>
              <a:spcAft>
                <a:spcPts val="1000"/>
              </a:spcAft>
            </a:pPr>
            <a:r>
              <a:rPr sz="1600" b="0">
                <a:solidFill>
                  <a:srgbClr val="161B26"/>
                </a:solidFill>
                <a:latin typeface="Arial"/>
              </a:rPr>
              <a:t>•  Invites the buyer to describe the gap in their own words.</a:t>
            </a:r>
          </a:p>
          <a:p>
            <a:pPr>
              <a:spcAft>
                <a:spcPts val="1000"/>
              </a:spcAft>
            </a:pPr>
            <a:r>
              <a:rPr sz="1600" b="0">
                <a:solidFill>
                  <a:srgbClr val="161B26"/>
                </a:solidFill>
                <a:latin typeface="Arial"/>
              </a:rPr>
              <a:t>•  Surfaces the implication they hadn't said out loud.</a:t>
            </a:r>
          </a:p>
          <a:p>
            <a:pPr>
              <a:spcAft>
                <a:spcPts val="1000"/>
              </a:spcAft>
            </a:pPr>
            <a:r>
              <a:rPr sz="1600" b="0">
                <a:solidFill>
                  <a:srgbClr val="161B26"/>
                </a:solidFill>
                <a:latin typeface="Arial"/>
              </a:rPr>
              <a:t>•  They talk themselves toward the decision.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Gap-question technique, discovery-conversation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T5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Bucket Questions — Let the Buyer Choose the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Open wide, then follow whichever door they walk through.</a:t>
            </a:r>
          </a:p>
        </p:txBody>
      </p:sp>
      <p:sp>
        <p:nvSpPr>
          <p:cNvPr id="8" name="Rectangle 7"/>
          <p:cNvSpPr/>
          <p:nvPr/>
        </p:nvSpPr>
        <p:spPr>
          <a:xfrm>
            <a:off x="777240" y="2336292"/>
            <a:ext cx="2452878" cy="341985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336292"/>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473452"/>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805254" y="2581168"/>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2046198" y="2581168"/>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1782577" y="2762585"/>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2026356" y="2762585"/>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41832" y="336042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People</a:t>
            </a:r>
          </a:p>
        </p:txBody>
      </p:sp>
      <p:sp>
        <p:nvSpPr>
          <p:cNvPr id="16" name="TextBox 15"/>
          <p:cNvSpPr txBox="1"/>
          <p:nvPr/>
        </p:nvSpPr>
        <p:spPr>
          <a:xfrm>
            <a:off x="941832" y="3963924"/>
            <a:ext cx="2123694" cy="1682496"/>
          </a:xfrm>
          <a:prstGeom prst="rect">
            <a:avLst/>
          </a:prstGeom>
          <a:noFill/>
        </p:spPr>
        <p:txBody>
          <a:bodyPr wrap="square" anchor="t">
            <a:spAutoFit/>
          </a:bodyPr>
          <a:lstStyle/>
          <a:p>
            <a:pPr algn="ctr">
              <a:spcAft>
                <a:spcPts val="400"/>
              </a:spcAft>
            </a:pPr>
            <a:r>
              <a:rPr sz="1150" b="0">
                <a:solidFill>
                  <a:srgbClr val="5B6372"/>
                </a:solidFill>
                <a:latin typeface="Arial"/>
              </a:rPr>
              <a:t>"How is your team handling the workload now?"</a:t>
            </a:r>
          </a:p>
        </p:txBody>
      </p:sp>
      <p:sp>
        <p:nvSpPr>
          <p:cNvPr id="17" name="Rectangle 16"/>
          <p:cNvSpPr/>
          <p:nvPr/>
        </p:nvSpPr>
        <p:spPr>
          <a:xfrm>
            <a:off x="3504438" y="2336292"/>
            <a:ext cx="2452878" cy="341985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04438" y="2336292"/>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47413" y="2473452"/>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ear 6 19"/>
          <p:cNvSpPr/>
          <p:nvPr/>
        </p:nvSpPr>
        <p:spPr>
          <a:xfrm>
            <a:off x="4543790" y="2569829"/>
            <a:ext cx="374172" cy="374172"/>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69030" y="336042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Process</a:t>
            </a:r>
          </a:p>
        </p:txBody>
      </p:sp>
      <p:sp>
        <p:nvSpPr>
          <p:cNvPr id="22" name="TextBox 21"/>
          <p:cNvSpPr txBox="1"/>
          <p:nvPr/>
        </p:nvSpPr>
        <p:spPr>
          <a:xfrm>
            <a:off x="3669030" y="3963924"/>
            <a:ext cx="2123694" cy="1682496"/>
          </a:xfrm>
          <a:prstGeom prst="rect">
            <a:avLst/>
          </a:prstGeom>
          <a:noFill/>
        </p:spPr>
        <p:txBody>
          <a:bodyPr wrap="square" anchor="t">
            <a:spAutoFit/>
          </a:bodyPr>
          <a:lstStyle/>
          <a:p>
            <a:pPr algn="ctr">
              <a:spcAft>
                <a:spcPts val="400"/>
              </a:spcAft>
            </a:pPr>
            <a:r>
              <a:rPr sz="1000" b="0">
                <a:solidFill>
                  <a:srgbClr val="5B6372"/>
                </a:solidFill>
                <a:latin typeface="Arial"/>
              </a:rPr>
              <a:t>"Walk me through how a job gets tracked today."</a:t>
            </a:r>
          </a:p>
        </p:txBody>
      </p:sp>
      <p:sp>
        <p:nvSpPr>
          <p:cNvPr id="23" name="Rectangle 22"/>
          <p:cNvSpPr/>
          <p:nvPr/>
        </p:nvSpPr>
        <p:spPr>
          <a:xfrm>
            <a:off x="6231636" y="2336292"/>
            <a:ext cx="2452878" cy="341985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1636" y="2336292"/>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74611" y="2473452"/>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82327" y="2790931"/>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401382" y="2691719"/>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520437" y="2606680"/>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96228" y="336042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Technology</a:t>
            </a:r>
          </a:p>
        </p:txBody>
      </p:sp>
      <p:sp>
        <p:nvSpPr>
          <p:cNvPr id="30" name="TextBox 29"/>
          <p:cNvSpPr txBox="1"/>
          <p:nvPr/>
        </p:nvSpPr>
        <p:spPr>
          <a:xfrm>
            <a:off x="6396228" y="3963924"/>
            <a:ext cx="2123694" cy="1682496"/>
          </a:xfrm>
          <a:prstGeom prst="rect">
            <a:avLst/>
          </a:prstGeom>
          <a:noFill/>
        </p:spPr>
        <p:txBody>
          <a:bodyPr wrap="square" anchor="t">
            <a:spAutoFit/>
          </a:bodyPr>
          <a:lstStyle/>
          <a:p>
            <a:pPr algn="ctr">
              <a:spcAft>
                <a:spcPts val="400"/>
              </a:spcAft>
            </a:pPr>
            <a:r>
              <a:rPr sz="1000" b="0">
                <a:solidFill>
                  <a:srgbClr val="5B6372"/>
                </a:solidFill>
                <a:latin typeface="Arial"/>
              </a:rPr>
              <a:t>"What tools are you relying on, and where do they fall short?"</a:t>
            </a:r>
          </a:p>
        </p:txBody>
      </p:sp>
      <p:sp>
        <p:nvSpPr>
          <p:cNvPr id="31" name="Rectangle 30"/>
          <p:cNvSpPr/>
          <p:nvPr/>
        </p:nvSpPr>
        <p:spPr>
          <a:xfrm>
            <a:off x="8958834" y="2336292"/>
            <a:ext cx="2452878" cy="341985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958834" y="2336292"/>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01809" y="2473452"/>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onut 33"/>
          <p:cNvSpPr/>
          <p:nvPr/>
        </p:nvSpPr>
        <p:spPr>
          <a:xfrm>
            <a:off x="9969840" y="2541483"/>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10111572" y="2683215"/>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123426" y="336042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Priorities</a:t>
            </a:r>
          </a:p>
        </p:txBody>
      </p:sp>
      <p:sp>
        <p:nvSpPr>
          <p:cNvPr id="37" name="TextBox 36"/>
          <p:cNvSpPr txBox="1"/>
          <p:nvPr/>
        </p:nvSpPr>
        <p:spPr>
          <a:xfrm>
            <a:off x="9123426" y="3963924"/>
            <a:ext cx="2123694" cy="1682496"/>
          </a:xfrm>
          <a:prstGeom prst="rect">
            <a:avLst/>
          </a:prstGeom>
          <a:noFill/>
        </p:spPr>
        <p:txBody>
          <a:bodyPr wrap="square" anchor="t">
            <a:spAutoFit/>
          </a:bodyPr>
          <a:lstStyle/>
          <a:p>
            <a:pPr algn="ctr">
              <a:spcAft>
                <a:spcPts val="400"/>
              </a:spcAft>
            </a:pPr>
            <a:r>
              <a:rPr sz="1000" b="0">
                <a:solidFill>
                  <a:srgbClr val="5B6372"/>
                </a:solidFill>
                <a:latin typeface="Arial"/>
              </a:rPr>
              <a:t>"What would make the biggest difference this quarter?"</a:t>
            </a:r>
          </a:p>
        </p:txBody>
      </p:sp>
      <p:sp>
        <p:nvSpPr>
          <p:cNvPr id="38" name="TextBox 37"/>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Bucket-question discovery technique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LU1 · ROLE PLAY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Foundations of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Jessica is a sales rep for CloudFlow, a cloud-based project-management platform. John is a project manager at Sunrise Builders, a mid-sized construction firm in Singapore, where every job is tracked on shared spreadsheets. Since the team grew from 8 to 19, two handover deadlines have slipped because updates never reached the right person — and John's director asked him about it in front of the team.</a:t>
            </a:r>
          </a:p>
          <a:p>
            <a:pPr algn="l">
              <a:spcAft>
                <a:spcPts val="800"/>
              </a:spcAft>
            </a:pPr>
            <a:r>
              <a:rPr sz="1450" b="0">
                <a:solidFill>
                  <a:srgbClr val="161B26"/>
                </a:solidFill>
                <a:latin typeface="Arial"/>
              </a:rPr>
              <a:t>This is Jessica's first real conversation with John. Her goal for the call is NOT to sell software: it is to earn enough trust to run a genuine discovery conversation. John has sat through several demos before, bought a tool two years ago that nobody adopted, and is quietly testing whether this rep is any different.</a:t>
            </a:r>
          </a:p>
          <a:p>
            <a:pPr algn="l">
              <a:spcAft>
                <a:spcPts val="800"/>
              </a:spcAft>
            </a:pPr>
            <a:r>
              <a:rPr sz="1450" b="0">
                <a:solidFill>
                  <a:srgbClr val="161B26"/>
                </a:solidFill>
                <a:latin typeface="Arial"/>
              </a:rPr>
              <a:t>The scene runs from the opening minute — mindset, rapport, permission to ask — through discovery using Why-Why-Why and Gap questions, into a solution shaped by what John actually said, addressing his fear of another failed rollout, and closing on one concrete next step.</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Role-Play Observer Scorecard citing specific lines for mindset, a Gap Question, affect labelling, a principle of influence, and a buying signal</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1 hour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LU1 · ROLE PLAY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Foundations of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Jessica — Sales Rep, CloudFlow</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Earn trust and uncover John's real project-tracking pain before proposing anything</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Trained to lead with permission-based discovery, not a features list. She must resist pitching for the first five minutes, however tempting John's opening complaint makes it.</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John — Project Manager, Sunrise Builders</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Decide whether this rep genuinely understands construction chaos, or is just selling</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Burned by a tool his team never adopted. He will open with a surface complaint ('we just need better reminders') that is NOT the real problem — the real problem is that he is personally accountable for information he cannot see.</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Observer / Coach</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Score the conversation against the Foundations checklist and give usable feedback</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Watches for mindset language, affect labelling, genuine Gap questions, named principles of influence, and the moment hesitation turns into a buying signal. Quotes exact lines in the debrief — never general impressions.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wipe dir="l"/>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LU1 · ROLE PLAY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Foundations of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234184"/>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234184"/>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597152" y="2148840"/>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Where did Jessica's mindset actually show up in her word choice — and where did it slip into pitching?</a:t>
            </a:r>
          </a:p>
        </p:txBody>
      </p:sp>
      <p:sp>
        <p:nvSpPr>
          <p:cNvPr id="13" name="Rectangle 12"/>
          <p:cNvSpPr/>
          <p:nvPr/>
        </p:nvSpPr>
        <p:spPr>
          <a:xfrm>
            <a:off x="777240" y="2828544"/>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828544"/>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2913888"/>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2913888"/>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597152" y="2828544"/>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Which questions were genuine Gap Questions, and which were closed questions dressed up as open ones?</a:t>
            </a:r>
          </a:p>
        </p:txBody>
      </p:sp>
      <p:sp>
        <p:nvSpPr>
          <p:cNvPr id="18" name="Rectangle 17"/>
          <p:cNvSpPr/>
          <p:nvPr/>
        </p:nvSpPr>
        <p:spPr>
          <a:xfrm>
            <a:off x="777240" y="3508248"/>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508248"/>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3593592"/>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3593592"/>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597152" y="3508248"/>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Did Jessica ever name John's emotion out loud (affect labelling)? What changed in the conversation right after — or what was missed by skipping it?</a:t>
            </a:r>
          </a:p>
        </p:txBody>
      </p:sp>
      <p:sp>
        <p:nvSpPr>
          <p:cNvPr id="23" name="Rectangle 22"/>
          <p:cNvSpPr/>
          <p:nvPr/>
        </p:nvSpPr>
        <p:spPr>
          <a:xfrm>
            <a:off x="777240" y="4187952"/>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187952"/>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4273296"/>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4273296"/>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597152" y="4187952"/>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Which of Cialdini's principles did Jessica use, deliberately or not — and did it land as genuinely helpful or as manipulation?</a:t>
            </a:r>
          </a:p>
        </p:txBody>
      </p:sp>
      <p:sp>
        <p:nvSpPr>
          <p:cNvPr id="28" name="Rectangle 27"/>
          <p:cNvSpPr/>
          <p:nvPr/>
        </p:nvSpPr>
        <p:spPr>
          <a:xfrm>
            <a:off x="777240" y="4867656"/>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867656"/>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78408" y="4953000"/>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 y="4953000"/>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2" name="TextBox 31"/>
          <p:cNvSpPr txBox="1"/>
          <p:nvPr/>
        </p:nvSpPr>
        <p:spPr>
          <a:xfrm>
            <a:off x="1597152" y="4867656"/>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At what exact line did John's hesitation become a buying signal rather than a polite brush-off?</a:t>
            </a:r>
          </a:p>
        </p:txBody>
      </p:sp>
      <p:sp>
        <p:nvSpPr>
          <p:cNvPr id="33" name="Rectangle 32"/>
          <p:cNvSpPr/>
          <p:nvPr/>
        </p:nvSpPr>
        <p:spPr>
          <a:xfrm>
            <a:off x="777240" y="5547360"/>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547360"/>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8408" y="5632704"/>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8" y="5632704"/>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7" name="TextBox 36"/>
          <p:cNvSpPr txBox="1"/>
          <p:nvPr/>
        </p:nvSpPr>
        <p:spPr>
          <a:xfrm>
            <a:off x="1597152" y="5547360"/>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John's stated problem was 'better reminders'. What was the real problem underneath, and which question surfaced it?</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wipe dir="l"/>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LU1 · ROLE PLAY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Foundations of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What surprised you about how quickly trust built once Jessica asked permission to ask questions?</a:t>
            </a:r>
          </a:p>
          <a:p>
            <a:pPr>
              <a:spcAft>
                <a:spcPts val="900"/>
              </a:spcAft>
            </a:pPr>
            <a:r>
              <a:rPr sz="1450" b="0">
                <a:solidFill>
                  <a:srgbClr val="161B26"/>
                </a:solidFill>
                <a:latin typeface="Arial"/>
              </a:rPr>
              <a:t>•  Did the two-option close (pilot vs full rollout) feel empowering to the buyer, or like pressure in disguise?</a:t>
            </a:r>
          </a:p>
          <a:p>
            <a:pPr>
              <a:spcAft>
                <a:spcPts val="900"/>
              </a:spcAft>
            </a:pPr>
            <a:r>
              <a:rPr sz="1450" b="0">
                <a:solidFill>
                  <a:srgbClr val="161B26"/>
                </a:solidFill>
                <a:latin typeface="Arial"/>
              </a:rPr>
              <a:t>•  Which single question from the discovery phase would you steal for your own next sales call?</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observer can quote at least one specific mindset moment, one genuine Gap Question, one attempt at naming John's emotion, one named principle of influence, and one real buying signal — with the exact line cited, not a general impression.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Foundations of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Selling Mindset</a:t>
            </a:r>
          </a:p>
          <a:p>
            <a:pPr algn="l">
              <a:spcAft>
                <a:spcPts val="300"/>
              </a:spcAft>
            </a:pPr>
            <a:r>
              <a:rPr sz="1100" b="0">
                <a:solidFill>
                  <a:srgbClr val="5B6372"/>
                </a:solidFill>
                <a:latin typeface="Arial"/>
              </a:rPr>
              <a:t>You can now: adopt a confident, human, fear-reduced mindset before any sales conversation.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Empathy as a Sales Skill</a:t>
            </a:r>
          </a:p>
          <a:p>
            <a:pPr algn="l">
              <a:spcAft>
                <a:spcPts val="300"/>
              </a:spcAft>
            </a:pPr>
            <a:r>
              <a:rPr sz="1100" b="0">
                <a:solidFill>
                  <a:srgbClr val="5B6372"/>
                </a:solidFill>
                <a:latin typeface="Arial"/>
              </a:rPr>
              <a:t>You can now: apply empathy and affect labelling as a deliberate, trainable selling technique.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Sales Strategy</a:t>
            </a:r>
          </a:p>
          <a:p>
            <a:pPr algn="l">
              <a:spcAft>
                <a:spcPts val="300"/>
              </a:spcAft>
            </a:pPr>
            <a:r>
              <a:rPr sz="1100" b="0">
                <a:solidFill>
                  <a:srgbClr val="5B6372"/>
                </a:solidFill>
                <a:latin typeface="Arial"/>
              </a:rPr>
              <a:t>You can now: build a sales strategy from the math of sales and clear goal setting.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Understanding Buyer Psychology</a:t>
            </a:r>
          </a:p>
          <a:p>
            <a:pPr algn="l">
              <a:spcAft>
                <a:spcPts val="300"/>
              </a:spcAft>
            </a:pPr>
            <a:r>
              <a:rPr sz="1100" b="0">
                <a:solidFill>
                  <a:srgbClr val="5B6372"/>
                </a:solidFill>
                <a:latin typeface="Arial"/>
              </a:rPr>
              <a:t>You can now: apply Cialdini's principles of influence and the buyer's matrix to how prospects decide.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Discovery Process</a:t>
            </a:r>
          </a:p>
          <a:p>
            <a:pPr algn="l">
              <a:spcAft>
                <a:spcPts val="300"/>
              </a:spcAft>
            </a:pPr>
            <a:r>
              <a:rPr sz="1100" b="0">
                <a:solidFill>
                  <a:srgbClr val="5B6372"/>
                </a:solidFill>
                <a:latin typeface="Arial"/>
              </a:rPr>
              <a:t>You can now: run a permission-based discovery conversation using SPIN-style questioning.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 Play: Foundations of Selling</a:t>
            </a:r>
          </a:p>
          <a:p>
            <a:pPr algn="l">
              <a:spcAft>
                <a:spcPts val="300"/>
              </a:spcAft>
            </a:pPr>
            <a:r>
              <a:rPr sz="1100" b="0">
                <a:solidFill>
                  <a:srgbClr val="5B6372"/>
                </a:solidFill>
                <a:latin typeface="Arial"/>
              </a:rPr>
              <a:t>You practised: apply mindset, empathy, buyer psychology and discovery questioning in a live sales call.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People don't buy products. They buy a better version of themselves, sold to them by someone they trust.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LU1: Foundations of Selling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zoom/>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Selling Techniques &amp; Problem-Solving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Problem-Based Selling · Demos · Upselling &amp; Cross-Selling · Personalisation · Champions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push dir="l"/>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Selling Techniques &amp; Problem-Solving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Problem-based selling and 'What Would Your Customer Say?' put the customer's own words — not the salesperson's script — at the centre of the pitch.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great demo Educates (the what), Demonstrates (the how) and builds Buy-In (the why) — in that order, never skipped.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Upselling and cross-selling only land once the customer has realised value from what they already bought, and only when the add-on is genuinely relevant.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Personalisation means proving you remember what they told you — and adapting to the analytical, relationship, decisive or cautious buyer in front of you.</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Champion Selling equips someone inside the organisation to win the argument you will never be in the room for.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WHY TIMING &amp; PERSONALISATION MATTER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Personalisation Changes Whether an Upsell Lands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Illustrative attach-rate comparison: a generic add-on pitch versus one earned and personalised to the buyer's own stated problem.</a:t>
            </a:r>
          </a:p>
        </p:txBody>
      </p:sp>
      <p:graphicFrame>
        <p:nvGraphicFramePr>
          <p:cNvPr id="8" name="Chart 7"/>
          <p:cNvGraphicFramePr>
            <a:graphicFrameLocks noGrp="1"/>
          </p:cNvGraphicFramePr>
          <p:nvPr/>
        </p:nvGraphicFramePr>
        <p:xfrm>
          <a:off x="1280160" y="2103120"/>
          <a:ext cx="9601200" cy="3749039"/>
        </p:xfrm>
        <a:graphic>
          <a:graphicData uri="http://schemas.openxmlformats.org/drawingml/2006/chart">
            <c:chart xmlns:c="http://schemas.openxmlformats.org/drawingml/2006/chart" r:id="rId2"/>
          </a:graphicData>
        </a:graphic>
      </p:graphicFrame>
      <p:sp>
        <p:nvSpPr>
          <p:cNvPr id="9" name="Rectangle 8"/>
          <p:cNvSpPr/>
          <p:nvPr/>
        </p:nvSpPr>
        <p:spPr>
          <a:xfrm>
            <a:off x="777240" y="5870448"/>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870448"/>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870448"/>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The gap isn't the product — it's whether the offer was earned and personalised before it was ever raised.</a:t>
            </a:r>
          </a:p>
        </p:txBody>
      </p:sp>
      <p:sp>
        <p:nvSpPr>
          <p:cNvPr id="12" name="TextBox 11"/>
          <p:cNvSpPr txBox="1"/>
          <p:nvPr/>
        </p:nvSpPr>
        <p:spPr>
          <a:xfrm>
            <a:off x="777240" y="5513832"/>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illustrative synthesis, upsell/cross-sell personalisation research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THE DEMO SEQUENCE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Educate → Demonstrate → Buy-In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Three moves, always in this order. Skip Educate and the demo is a features tour; skip Buy-In and nobody owns the decision.</a:t>
            </a:r>
          </a:p>
        </p:txBody>
      </p:sp>
      <p:sp>
        <p:nvSpPr>
          <p:cNvPr id="8" name="Rectangle 7"/>
          <p:cNvSpPr/>
          <p:nvPr/>
        </p:nvSpPr>
        <p:spPr>
          <a:xfrm>
            <a:off x="777240"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29028"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902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2" name="TextBox 11"/>
          <p:cNvSpPr txBox="1"/>
          <p:nvPr/>
        </p:nvSpPr>
        <p:spPr>
          <a:xfrm>
            <a:off x="905256" y="333756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Educate — The What</a:t>
            </a:r>
          </a:p>
        </p:txBody>
      </p:sp>
      <p:sp>
        <p:nvSpPr>
          <p:cNvPr id="13" name="TextBox 12"/>
          <p:cNvSpPr txBox="1"/>
          <p:nvPr/>
        </p:nvSpPr>
        <p:spPr>
          <a:xfrm>
            <a:off x="905256" y="3721608"/>
            <a:ext cx="3105912" cy="1143000"/>
          </a:xfrm>
          <a:prstGeom prst="rect">
            <a:avLst/>
          </a:prstGeom>
          <a:noFill/>
        </p:spPr>
        <p:txBody>
          <a:bodyPr wrap="square" anchor="t">
            <a:spAutoFit/>
          </a:bodyPr>
          <a:lstStyle/>
          <a:p>
            <a:pPr algn="ctr">
              <a:spcAft>
                <a:spcPts val="400"/>
              </a:spcAft>
            </a:pPr>
            <a:r>
              <a:rPr sz="1050" b="0">
                <a:solidFill>
                  <a:srgbClr val="5B6372"/>
                </a:solidFill>
                <a:latin typeface="Arial"/>
              </a:rPr>
              <a:t>Frame the problem so the solution makes sense.</a:t>
            </a:r>
          </a:p>
        </p:txBody>
      </p:sp>
      <p:sp>
        <p:nvSpPr>
          <p:cNvPr id="14" name="TextBox 13"/>
          <p:cNvSpPr txBox="1"/>
          <p:nvPr/>
        </p:nvSpPr>
        <p:spPr>
          <a:xfrm>
            <a:off x="412089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5" name="Rectangle 14"/>
          <p:cNvSpPr/>
          <p:nvPr/>
        </p:nvSpPr>
        <p:spPr>
          <a:xfrm>
            <a:off x="4413504"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13504"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765292"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529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9" name="TextBox 18"/>
          <p:cNvSpPr txBox="1"/>
          <p:nvPr/>
        </p:nvSpPr>
        <p:spPr>
          <a:xfrm>
            <a:off x="4541520" y="333756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Demonstrate — The How</a:t>
            </a:r>
          </a:p>
        </p:txBody>
      </p:sp>
      <p:sp>
        <p:nvSpPr>
          <p:cNvPr id="20" name="TextBox 19"/>
          <p:cNvSpPr txBox="1"/>
          <p:nvPr/>
        </p:nvSpPr>
        <p:spPr>
          <a:xfrm>
            <a:off x="4541520" y="3721608"/>
            <a:ext cx="3105912" cy="1143000"/>
          </a:xfrm>
          <a:prstGeom prst="rect">
            <a:avLst/>
          </a:prstGeom>
          <a:noFill/>
        </p:spPr>
        <p:txBody>
          <a:bodyPr wrap="square" anchor="t">
            <a:spAutoFit/>
          </a:bodyPr>
          <a:lstStyle/>
          <a:p>
            <a:pPr algn="ctr">
              <a:spcAft>
                <a:spcPts val="400"/>
              </a:spcAft>
            </a:pPr>
            <a:r>
              <a:rPr sz="1050" b="0">
                <a:solidFill>
                  <a:srgbClr val="5B6372"/>
                </a:solidFill>
                <a:latin typeface="Arial"/>
              </a:rPr>
              <a:t>Show only the part that fixes their stated pain.</a:t>
            </a:r>
          </a:p>
        </p:txBody>
      </p:sp>
      <p:sp>
        <p:nvSpPr>
          <p:cNvPr id="21" name="TextBox 20"/>
          <p:cNvSpPr txBox="1"/>
          <p:nvPr/>
        </p:nvSpPr>
        <p:spPr>
          <a:xfrm>
            <a:off x="775716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2" name="Rectangle 21"/>
          <p:cNvSpPr/>
          <p:nvPr/>
        </p:nvSpPr>
        <p:spPr>
          <a:xfrm>
            <a:off x="8049768"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9768"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1556"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155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6" name="TextBox 25"/>
          <p:cNvSpPr txBox="1"/>
          <p:nvPr/>
        </p:nvSpPr>
        <p:spPr>
          <a:xfrm>
            <a:off x="8177784" y="333756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Buy-In — The Why</a:t>
            </a:r>
          </a:p>
        </p:txBody>
      </p:sp>
      <p:sp>
        <p:nvSpPr>
          <p:cNvPr id="27" name="TextBox 26"/>
          <p:cNvSpPr txBox="1"/>
          <p:nvPr/>
        </p:nvSpPr>
        <p:spPr>
          <a:xfrm>
            <a:off x="8177784" y="3721608"/>
            <a:ext cx="3105912" cy="1143000"/>
          </a:xfrm>
          <a:prstGeom prst="rect">
            <a:avLst/>
          </a:prstGeom>
          <a:noFill/>
        </p:spPr>
        <p:txBody>
          <a:bodyPr wrap="square" anchor="t">
            <a:spAutoFit/>
          </a:bodyPr>
          <a:lstStyle/>
          <a:p>
            <a:pPr algn="ctr">
              <a:spcAft>
                <a:spcPts val="400"/>
              </a:spcAft>
            </a:pPr>
            <a:r>
              <a:rPr sz="1050" b="0">
                <a:solidFill>
                  <a:srgbClr val="5B6372"/>
                </a:solidFill>
                <a:latin typeface="Arial"/>
              </a:rPr>
              <a:t>Let them describe using it in their own words.</a:t>
            </a:r>
          </a:p>
        </p:txBody>
      </p:sp>
      <p:sp>
        <p:nvSpPr>
          <p:cNvPr id="28" name="Rectangle 27"/>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buyer describing how they'd use it is worth more than any feature you could have shown them instead.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Problem-Based Selling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Problem-Based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Nobody wakes up wanting your product. They wake up wanting their problem to stop. Sell the second thing and the first takes care of itself.</a:t>
            </a:r>
          </a:p>
        </p:txBody>
      </p:sp>
      <p:sp>
        <p:nvSpPr>
          <p:cNvPr id="8" name="Rectangle 7"/>
          <p:cNvSpPr/>
          <p:nvPr/>
        </p:nvSpPr>
        <p:spPr>
          <a:xfrm>
            <a:off x="777240" y="2382012"/>
            <a:ext cx="2452878" cy="332841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382012"/>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19172"/>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nut 10"/>
          <p:cNvSpPr/>
          <p:nvPr/>
        </p:nvSpPr>
        <p:spPr>
          <a:xfrm>
            <a:off x="1827931" y="2615549"/>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rot="2700000">
            <a:off x="2049033" y="2859328"/>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1832" y="340614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Start From the Problem</a:t>
            </a:r>
          </a:p>
        </p:txBody>
      </p:sp>
      <p:sp>
        <p:nvSpPr>
          <p:cNvPr id="14" name="TextBox 13"/>
          <p:cNvSpPr txBox="1"/>
          <p:nvPr/>
        </p:nvSpPr>
        <p:spPr>
          <a:xfrm>
            <a:off x="941832" y="4009644"/>
            <a:ext cx="2123694" cy="1591056"/>
          </a:xfrm>
          <a:prstGeom prst="rect">
            <a:avLst/>
          </a:prstGeom>
          <a:noFill/>
        </p:spPr>
        <p:txBody>
          <a:bodyPr wrap="square" anchor="t">
            <a:spAutoFit/>
          </a:bodyPr>
          <a:lstStyle/>
          <a:p>
            <a:pPr algn="ctr">
              <a:spcAft>
                <a:spcPts val="400"/>
              </a:spcAft>
            </a:pPr>
            <a:r>
              <a:rPr sz="1000" b="0">
                <a:solidFill>
                  <a:srgbClr val="5B6372"/>
                </a:solidFill>
                <a:latin typeface="Arial"/>
              </a:rPr>
              <a:t>Open with their difficulty, never with your feature list.</a:t>
            </a:r>
          </a:p>
        </p:txBody>
      </p:sp>
      <p:sp>
        <p:nvSpPr>
          <p:cNvPr id="15" name="Rectangle 14"/>
          <p:cNvSpPr/>
          <p:nvPr/>
        </p:nvSpPr>
        <p:spPr>
          <a:xfrm>
            <a:off x="3504438" y="2382012"/>
            <a:ext cx="2452878" cy="332841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04438" y="2382012"/>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47413" y="2519172"/>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ular Callout 17"/>
          <p:cNvSpPr/>
          <p:nvPr/>
        </p:nvSpPr>
        <p:spPr>
          <a:xfrm>
            <a:off x="4543790" y="2638226"/>
            <a:ext cx="374172" cy="283464"/>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40614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Use Their Own Words</a:t>
            </a:r>
          </a:p>
        </p:txBody>
      </p:sp>
      <p:sp>
        <p:nvSpPr>
          <p:cNvPr id="20" name="TextBox 19"/>
          <p:cNvSpPr txBox="1"/>
          <p:nvPr/>
        </p:nvSpPr>
        <p:spPr>
          <a:xfrm>
            <a:off x="3669030" y="4009644"/>
            <a:ext cx="2123694" cy="1591056"/>
          </a:xfrm>
          <a:prstGeom prst="rect">
            <a:avLst/>
          </a:prstGeom>
          <a:noFill/>
        </p:spPr>
        <p:txBody>
          <a:bodyPr wrap="square" anchor="t">
            <a:spAutoFit/>
          </a:bodyPr>
          <a:lstStyle/>
          <a:p>
            <a:pPr algn="ctr">
              <a:spcAft>
                <a:spcPts val="400"/>
              </a:spcAft>
            </a:pPr>
            <a:r>
              <a:rPr sz="1000" b="0">
                <a:solidFill>
                  <a:srgbClr val="5B6372"/>
                </a:solidFill>
                <a:latin typeface="Arial"/>
              </a:rPr>
              <a:t>Repeat the phrase they used — not your marketing copy.</a:t>
            </a:r>
          </a:p>
        </p:txBody>
      </p:sp>
      <p:sp>
        <p:nvSpPr>
          <p:cNvPr id="21" name="Rectangle 20"/>
          <p:cNvSpPr/>
          <p:nvPr/>
        </p:nvSpPr>
        <p:spPr>
          <a:xfrm>
            <a:off x="6231636" y="2382012"/>
            <a:ext cx="2452878" cy="332841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382012"/>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519172"/>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nut 23"/>
          <p:cNvSpPr/>
          <p:nvPr/>
        </p:nvSpPr>
        <p:spPr>
          <a:xfrm>
            <a:off x="7242642" y="2587203"/>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384374" y="2728935"/>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96228" y="340614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Quantify the Cost</a:t>
            </a:r>
          </a:p>
        </p:txBody>
      </p:sp>
      <p:sp>
        <p:nvSpPr>
          <p:cNvPr id="27" name="TextBox 26"/>
          <p:cNvSpPr txBox="1"/>
          <p:nvPr/>
        </p:nvSpPr>
        <p:spPr>
          <a:xfrm>
            <a:off x="6396228" y="4009644"/>
            <a:ext cx="2123694" cy="1591056"/>
          </a:xfrm>
          <a:prstGeom prst="rect">
            <a:avLst/>
          </a:prstGeom>
          <a:noFill/>
        </p:spPr>
        <p:txBody>
          <a:bodyPr wrap="square" anchor="t">
            <a:spAutoFit/>
          </a:bodyPr>
          <a:lstStyle/>
          <a:p>
            <a:pPr algn="ctr">
              <a:spcAft>
                <a:spcPts val="400"/>
              </a:spcAft>
            </a:pPr>
            <a:r>
              <a:rPr sz="1000" b="0">
                <a:solidFill>
                  <a:srgbClr val="5B6372"/>
                </a:solidFill>
                <a:latin typeface="Arial"/>
              </a:rPr>
              <a:t>A problem with a number attached earns a budget.</a:t>
            </a:r>
          </a:p>
        </p:txBody>
      </p:sp>
      <p:sp>
        <p:nvSpPr>
          <p:cNvPr id="28" name="Rectangle 27"/>
          <p:cNvSpPr/>
          <p:nvPr/>
        </p:nvSpPr>
        <p:spPr>
          <a:xfrm>
            <a:off x="8958834" y="2382012"/>
            <a:ext cx="2452878" cy="332841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958834" y="2382012"/>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01809" y="2519172"/>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rot="2700000">
            <a:off x="10029367" y="2808305"/>
            <a:ext cx="141732"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rot="18900000">
            <a:off x="10105903" y="2774289"/>
            <a:ext cx="260786"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23426" y="340614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Confirm Before Solving</a:t>
            </a:r>
          </a:p>
        </p:txBody>
      </p:sp>
      <p:sp>
        <p:nvSpPr>
          <p:cNvPr id="34" name="TextBox 33"/>
          <p:cNvSpPr txBox="1"/>
          <p:nvPr/>
        </p:nvSpPr>
        <p:spPr>
          <a:xfrm>
            <a:off x="9123426" y="4009644"/>
            <a:ext cx="2123694" cy="1591056"/>
          </a:xfrm>
          <a:prstGeom prst="rect">
            <a:avLst/>
          </a:prstGeom>
          <a:noFill/>
        </p:spPr>
        <p:txBody>
          <a:bodyPr wrap="square" anchor="t">
            <a:spAutoFit/>
          </a:bodyPr>
          <a:lstStyle/>
          <a:p>
            <a:pPr algn="ctr">
              <a:spcAft>
                <a:spcPts val="400"/>
              </a:spcAft>
            </a:pPr>
            <a:r>
              <a:rPr sz="1000" b="0">
                <a:solidFill>
                  <a:srgbClr val="5B6372"/>
                </a:solidFill>
                <a:latin typeface="Arial"/>
              </a:rPr>
              <a:t>"Have I got that right?" before you propose anything.</a:t>
            </a:r>
          </a:p>
        </p:txBody>
      </p:sp>
      <p:sp>
        <p:nvSpPr>
          <p:cNvPr id="35" name="TextBox 34"/>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problem-based / consultative selling practice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'What Would Your Customer Say?'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Write Your Pitch</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Draft the claim exactly as you'd say it aloud.</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Read It as the Buyer</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Would they recognise their own situation in it?</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Strip the Jargon</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Cut any word they would never use themselves.</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Re-Test With a Real Quote</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Rebuild it around something they actually said.</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If your buyer wouldn't say the sentence out loud, it isn't a benefit — it's marketing copy.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WWYCS technique, customer-language sales practice</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Feature-Led vs Problem-Led Conversations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Feature-Led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Problem-Led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"We offer real-time dashboards and 40+ integrations."</a:t>
            </a:r>
          </a:p>
          <a:p>
            <a:pPr>
              <a:spcAft>
                <a:spcPts val="1000"/>
              </a:spcAft>
            </a:pPr>
            <a:r>
              <a:rPr sz="1600" b="0">
                <a:solidFill>
                  <a:srgbClr val="161B26"/>
                </a:solidFill>
                <a:latin typeface="Arial"/>
              </a:rPr>
              <a:t>•  Buyer must work out what any of it means for them.</a:t>
            </a:r>
          </a:p>
          <a:p>
            <a:pPr>
              <a:spcAft>
                <a:spcPts val="1000"/>
              </a:spcAft>
            </a:pPr>
            <a:r>
              <a:rPr sz="1600" b="0">
                <a:solidFill>
                  <a:srgbClr val="161B26"/>
                </a:solidFill>
                <a:latin typeface="Arial"/>
              </a:rPr>
              <a:t>•  Competes on specification, so price becomes the deciding factor.</a:t>
            </a:r>
          </a:p>
          <a:p>
            <a:pPr>
              <a:spcAft>
                <a:spcPts val="1000"/>
              </a:spcAft>
            </a:pPr>
            <a:r>
              <a:rPr sz="1600" b="0">
                <a:solidFill>
                  <a:srgbClr val="161B26"/>
                </a:solidFill>
                <a:latin typeface="Arial"/>
              </a:rPr>
              <a:t>•  The demo is a lecture the buyer sits through.</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"You said updates get lost between site and office — here's that gap closed."</a:t>
            </a:r>
          </a:p>
          <a:p>
            <a:pPr>
              <a:spcAft>
                <a:spcPts val="1000"/>
              </a:spcAft>
            </a:pPr>
            <a:r>
              <a:rPr sz="1600" b="0">
                <a:solidFill>
                  <a:srgbClr val="161B26"/>
                </a:solidFill>
                <a:latin typeface="Arial"/>
              </a:rPr>
              <a:t>•  Buyer immediately sees their own situation solved.</a:t>
            </a:r>
          </a:p>
          <a:p>
            <a:pPr>
              <a:spcAft>
                <a:spcPts val="1000"/>
              </a:spcAft>
            </a:pPr>
            <a:r>
              <a:rPr sz="1600" b="0">
                <a:solidFill>
                  <a:srgbClr val="161B26"/>
                </a:solidFill>
                <a:latin typeface="Arial"/>
              </a:rPr>
              <a:t>•  Competes on outcome, so value justifies the price.</a:t>
            </a:r>
          </a:p>
          <a:p>
            <a:pPr>
              <a:spcAft>
                <a:spcPts val="1000"/>
              </a:spcAft>
            </a:pPr>
            <a:r>
              <a:rPr sz="1600" b="0">
                <a:solidFill>
                  <a:srgbClr val="161B26"/>
                </a:solidFill>
                <a:latin typeface="Arial"/>
              </a:rPr>
              <a:t>•  The demo is a conversation the buyer steers.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consultative-selling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Deals Actually Stall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Most losses are not to a competitor. They are to a buyer who could not get to a confident decision.</a:t>
            </a:r>
          </a:p>
        </p:txBody>
      </p:sp>
      <p:sp>
        <p:nvSpPr>
          <p:cNvPr id="8" name="Rectangle 7"/>
          <p:cNvSpPr/>
          <p:nvPr/>
        </p:nvSpPr>
        <p:spPr>
          <a:xfrm>
            <a:off x="777240"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286000"/>
            <a:ext cx="3337560" cy="128016"/>
          </a:xfrm>
          <a:prstGeom prst="roundRect">
            <a:avLst/>
          </a:prstGeom>
          <a:gradFill rotWithShape="1">
            <a:gsLst>
              <a:gs pos="0">
                <a:srgbClr val="2A76EC"/>
              </a:gs>
              <a:gs pos="100000">
                <a:srgbClr val="1856B7"/>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61488"/>
            <a:ext cx="3337560" cy="1097280"/>
          </a:xfrm>
          <a:prstGeom prst="rect">
            <a:avLst/>
          </a:prstGeom>
          <a:noFill/>
        </p:spPr>
        <p:txBody>
          <a:bodyPr wrap="square" anchor="t">
            <a:spAutoFit/>
          </a:bodyPr>
          <a:lstStyle/>
          <a:p>
            <a:pPr algn="ctr">
              <a:spcAft>
                <a:spcPts val="400"/>
              </a:spcAft>
            </a:pPr>
            <a:r>
              <a:rPr sz="4600" b="1">
                <a:solidFill>
                  <a:srgbClr val="1F6FEB"/>
                </a:solidFill>
                <a:latin typeface="Arial"/>
              </a:rPr>
              <a:t>61%</a:t>
            </a:r>
          </a:p>
        </p:txBody>
      </p:sp>
      <p:sp>
        <p:nvSpPr>
          <p:cNvPr id="11" name="TextBox 10"/>
          <p:cNvSpPr txBox="1"/>
          <p:nvPr/>
        </p:nvSpPr>
        <p:spPr>
          <a:xfrm>
            <a:off x="960120"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Lost to indecision</a:t>
            </a:r>
          </a:p>
        </p:txBody>
      </p:sp>
      <p:sp>
        <p:nvSpPr>
          <p:cNvPr id="12" name="TextBox 11"/>
          <p:cNvSpPr txBox="1"/>
          <p:nvPr/>
        </p:nvSpPr>
        <p:spPr>
          <a:xfrm>
            <a:off x="960120" y="4507992"/>
            <a:ext cx="2971800" cy="457200"/>
          </a:xfrm>
          <a:prstGeom prst="rect">
            <a:avLst/>
          </a:prstGeom>
          <a:noFill/>
        </p:spPr>
        <p:txBody>
          <a:bodyPr wrap="square" anchor="t">
            <a:spAutoFit/>
          </a:bodyPr>
          <a:lstStyle/>
          <a:p>
            <a:pPr algn="ctr">
              <a:spcAft>
                <a:spcPts val="400"/>
              </a:spcAft>
            </a:pPr>
            <a:r>
              <a:rPr sz="1200" b="1">
                <a:solidFill>
                  <a:srgbClr val="C03939"/>
                </a:solidFill>
                <a:latin typeface="Arial"/>
              </a:rPr>
              <a:t>▼  </a:t>
            </a:r>
            <a:r>
              <a:rPr sz="1150" b="0">
                <a:solidFill>
                  <a:srgbClr val="5B6372"/>
                </a:solidFill>
                <a:latin typeface="Arial"/>
              </a:rPr>
              <a:t>of lost deals go to buyer indecision, not a rival</a:t>
            </a:r>
          </a:p>
        </p:txBody>
      </p:sp>
      <p:sp>
        <p:nvSpPr>
          <p:cNvPr id="13" name="Rectangle 12"/>
          <p:cNvSpPr/>
          <p:nvPr/>
        </p:nvSpPr>
        <p:spPr>
          <a:xfrm>
            <a:off x="4425696"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2286000"/>
            <a:ext cx="3337560" cy="128016"/>
          </a:xfrm>
          <a:prstGeom prst="roundRect">
            <a:avLst/>
          </a:prstGeom>
          <a:gradFill rotWithShape="1">
            <a:gsLst>
              <a:gs pos="0">
                <a:srgbClr val="1BBC87"/>
              </a:gs>
              <a:gs pos="100000">
                <a:srgbClr val="0C9064"/>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2761488"/>
            <a:ext cx="3337560" cy="1097280"/>
          </a:xfrm>
          <a:prstGeom prst="rect">
            <a:avLst/>
          </a:prstGeom>
          <a:noFill/>
        </p:spPr>
        <p:txBody>
          <a:bodyPr wrap="square" anchor="t">
            <a:spAutoFit/>
          </a:bodyPr>
          <a:lstStyle/>
          <a:p>
            <a:pPr algn="ctr">
              <a:spcAft>
                <a:spcPts val="400"/>
              </a:spcAft>
            </a:pPr>
            <a:r>
              <a:rPr sz="4600" b="1">
                <a:solidFill>
                  <a:srgbClr val="10B981"/>
                </a:solidFill>
                <a:latin typeface="Arial"/>
              </a:rPr>
              <a:t>80%</a:t>
            </a:r>
          </a:p>
        </p:txBody>
      </p:sp>
      <p:sp>
        <p:nvSpPr>
          <p:cNvPr id="16" name="TextBox 15"/>
          <p:cNvSpPr txBox="1"/>
          <p:nvPr/>
        </p:nvSpPr>
        <p:spPr>
          <a:xfrm>
            <a:off x="4608576"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Committee stalls</a:t>
            </a:r>
          </a:p>
        </p:txBody>
      </p:sp>
      <p:sp>
        <p:nvSpPr>
          <p:cNvPr id="17" name="TextBox 16"/>
          <p:cNvSpPr txBox="1"/>
          <p:nvPr/>
        </p:nvSpPr>
        <p:spPr>
          <a:xfrm>
            <a:off x="4608576" y="4507992"/>
            <a:ext cx="2971800" cy="457200"/>
          </a:xfrm>
          <a:prstGeom prst="rect">
            <a:avLst/>
          </a:prstGeom>
          <a:noFill/>
        </p:spPr>
        <p:txBody>
          <a:bodyPr wrap="square" anchor="t">
            <a:spAutoFit/>
          </a:bodyPr>
          <a:lstStyle/>
          <a:p>
            <a:pPr algn="ctr">
              <a:spcAft>
                <a:spcPts val="400"/>
              </a:spcAft>
            </a:pPr>
            <a:r>
              <a:rPr sz="1200" b="1">
                <a:solidFill>
                  <a:srgbClr val="C03939"/>
                </a:solidFill>
                <a:latin typeface="Arial"/>
              </a:rPr>
              <a:t>▼  </a:t>
            </a:r>
            <a:r>
              <a:rPr sz="1150" b="0">
                <a:solidFill>
                  <a:srgbClr val="5B6372"/>
                </a:solidFill>
                <a:latin typeface="Arial"/>
              </a:rPr>
              <a:t>of B2B committee decisions stall without consensus</a:t>
            </a:r>
          </a:p>
        </p:txBody>
      </p:sp>
      <p:sp>
        <p:nvSpPr>
          <p:cNvPr id="18" name="Rectangle 17"/>
          <p:cNvSpPr/>
          <p:nvPr/>
        </p:nvSpPr>
        <p:spPr>
          <a:xfrm>
            <a:off x="8074152"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74152" y="2286000"/>
            <a:ext cx="3337560" cy="128016"/>
          </a:xfrm>
          <a:prstGeom prst="roundRect">
            <a:avLst/>
          </a:prstGeom>
          <a:gradFill rotWithShape="1">
            <a:gsLst>
              <a:gs pos="0">
                <a:srgbClr val="8243ED"/>
              </a:gs>
              <a:gs pos="100000">
                <a:srgbClr val="602DB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2761488"/>
            <a:ext cx="3337560" cy="1097280"/>
          </a:xfrm>
          <a:prstGeom prst="rect">
            <a:avLst/>
          </a:prstGeom>
          <a:noFill/>
        </p:spPr>
        <p:txBody>
          <a:bodyPr wrap="square" anchor="t">
            <a:spAutoFit/>
          </a:bodyPr>
          <a:lstStyle/>
          <a:p>
            <a:pPr algn="ctr">
              <a:spcAft>
                <a:spcPts val="400"/>
              </a:spcAft>
            </a:pPr>
            <a:r>
              <a:rPr sz="4600" b="1">
                <a:solidFill>
                  <a:srgbClr val="7C3AED"/>
                </a:solidFill>
                <a:latin typeface="Arial"/>
              </a:rPr>
              <a:t>60%</a:t>
            </a:r>
          </a:p>
        </p:txBody>
      </p:sp>
      <p:sp>
        <p:nvSpPr>
          <p:cNvPr id="21" name="TextBox 20"/>
          <p:cNvSpPr txBox="1"/>
          <p:nvPr/>
        </p:nvSpPr>
        <p:spPr>
          <a:xfrm>
            <a:off x="8257032"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Say no first</a:t>
            </a:r>
          </a:p>
        </p:txBody>
      </p:sp>
      <p:sp>
        <p:nvSpPr>
          <p:cNvPr id="22" name="TextBox 21"/>
          <p:cNvSpPr txBox="1"/>
          <p:nvPr/>
        </p:nvSpPr>
        <p:spPr>
          <a:xfrm>
            <a:off x="8257032" y="4507992"/>
            <a:ext cx="2971800" cy="457200"/>
          </a:xfrm>
          <a:prstGeom prst="rect">
            <a:avLst/>
          </a:prstGeom>
          <a:noFill/>
        </p:spPr>
        <p:txBody>
          <a:bodyPr wrap="square" anchor="t">
            <a:spAutoFit/>
          </a:bodyPr>
          <a:lstStyle/>
          <a:p>
            <a:pPr algn="ctr">
              <a:spcAft>
                <a:spcPts val="400"/>
              </a:spcAft>
            </a:pPr>
            <a:r>
              <a:rPr sz="1200" b="1">
                <a:solidFill>
                  <a:srgbClr val="5B6372"/>
                </a:solidFill>
                <a:latin typeface="Arial"/>
              </a:rPr>
              <a:t>●  </a:t>
            </a:r>
            <a:r>
              <a:rPr sz="1150" b="0">
                <a:solidFill>
                  <a:srgbClr val="5B6372"/>
                </a:solidFill>
                <a:latin typeface="Arial"/>
              </a:rPr>
              <a:t>of prospects say no four times before saying yes</a:t>
            </a:r>
          </a:p>
        </p:txBody>
      </p:sp>
      <p:sp>
        <p:nvSpPr>
          <p:cNvPr id="23" name="Rectangle 22"/>
          <p:cNvSpPr/>
          <p:nvPr/>
        </p:nvSpPr>
        <p:spPr>
          <a:xfrm>
            <a:off x="777240" y="562356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623560"/>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623560"/>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Your real competitor is usually 'do nothing'. Sell the cost of standing still as hard as you sell the solution.</a:t>
            </a:r>
          </a:p>
        </p:txBody>
      </p:sp>
      <p:sp>
        <p:nvSpPr>
          <p:cNvPr id="26" name="TextBox 2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B2B sales-benchmark synthesis (alexberman.com) — industry-reported figures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Great Demo</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Great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demo that only shows features is a lecture. A demo that solves a stated problem is a conversation — and conversations close.</a:t>
            </a:r>
          </a:p>
        </p:txBody>
      </p:sp>
      <p:sp>
        <p:nvSpPr>
          <p:cNvPr id="8" name="Rectangle 7"/>
          <p:cNvSpPr/>
          <p:nvPr/>
        </p:nvSpPr>
        <p:spPr>
          <a:xfrm>
            <a:off x="777240" y="2482596"/>
            <a:ext cx="2452878" cy="312724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82596"/>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619756"/>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873285" y="2704795"/>
            <a:ext cx="260786" cy="26078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941316" y="2976920"/>
            <a:ext cx="124724" cy="85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1832" y="350672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Educate — The What</a:t>
            </a:r>
          </a:p>
        </p:txBody>
      </p:sp>
      <p:sp>
        <p:nvSpPr>
          <p:cNvPr id="14" name="TextBox 13"/>
          <p:cNvSpPr txBox="1"/>
          <p:nvPr/>
        </p:nvSpPr>
        <p:spPr>
          <a:xfrm>
            <a:off x="941832" y="4110228"/>
            <a:ext cx="2123694" cy="1389888"/>
          </a:xfrm>
          <a:prstGeom prst="rect">
            <a:avLst/>
          </a:prstGeom>
          <a:noFill/>
        </p:spPr>
        <p:txBody>
          <a:bodyPr wrap="square" anchor="t">
            <a:spAutoFit/>
          </a:bodyPr>
          <a:lstStyle/>
          <a:p>
            <a:pPr algn="ctr">
              <a:spcAft>
                <a:spcPts val="400"/>
              </a:spcAft>
            </a:pPr>
            <a:r>
              <a:rPr sz="1150" b="0">
                <a:solidFill>
                  <a:srgbClr val="5B6372"/>
                </a:solidFill>
                <a:latin typeface="Arial"/>
              </a:rPr>
              <a:t>Frame the problem so the solution makes sense.</a:t>
            </a:r>
          </a:p>
        </p:txBody>
      </p:sp>
      <p:sp>
        <p:nvSpPr>
          <p:cNvPr id="15" name="Rectangle 14"/>
          <p:cNvSpPr/>
          <p:nvPr/>
        </p:nvSpPr>
        <p:spPr>
          <a:xfrm>
            <a:off x="3504438" y="2482596"/>
            <a:ext cx="2452878" cy="312724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04438" y="2482596"/>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47413" y="2619756"/>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Gear 6 17"/>
          <p:cNvSpPr/>
          <p:nvPr/>
        </p:nvSpPr>
        <p:spPr>
          <a:xfrm>
            <a:off x="4543790" y="2716133"/>
            <a:ext cx="374172" cy="374172"/>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50672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Demonstrate — The How</a:t>
            </a:r>
          </a:p>
        </p:txBody>
      </p:sp>
      <p:sp>
        <p:nvSpPr>
          <p:cNvPr id="20" name="TextBox 19"/>
          <p:cNvSpPr txBox="1"/>
          <p:nvPr/>
        </p:nvSpPr>
        <p:spPr>
          <a:xfrm>
            <a:off x="3669030" y="4110228"/>
            <a:ext cx="2123694" cy="1389888"/>
          </a:xfrm>
          <a:prstGeom prst="rect">
            <a:avLst/>
          </a:prstGeom>
          <a:noFill/>
        </p:spPr>
        <p:txBody>
          <a:bodyPr wrap="square" anchor="t">
            <a:spAutoFit/>
          </a:bodyPr>
          <a:lstStyle/>
          <a:p>
            <a:pPr algn="ctr">
              <a:spcAft>
                <a:spcPts val="400"/>
              </a:spcAft>
            </a:pPr>
            <a:r>
              <a:rPr sz="1150" b="0">
                <a:solidFill>
                  <a:srgbClr val="5B6372"/>
                </a:solidFill>
                <a:latin typeface="Arial"/>
              </a:rPr>
              <a:t>Show the specific fix for their specific pain.</a:t>
            </a:r>
          </a:p>
        </p:txBody>
      </p:sp>
      <p:sp>
        <p:nvSpPr>
          <p:cNvPr id="21" name="Rectangle 20"/>
          <p:cNvSpPr/>
          <p:nvPr/>
        </p:nvSpPr>
        <p:spPr>
          <a:xfrm>
            <a:off x="6231636" y="2482596"/>
            <a:ext cx="2452878" cy="312724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482596"/>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619756"/>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eart 23"/>
          <p:cNvSpPr/>
          <p:nvPr/>
        </p:nvSpPr>
        <p:spPr>
          <a:xfrm>
            <a:off x="7270988" y="2727472"/>
            <a:ext cx="374172" cy="351495"/>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96228" y="350672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Buy-In — The Why</a:t>
            </a:r>
          </a:p>
        </p:txBody>
      </p:sp>
      <p:sp>
        <p:nvSpPr>
          <p:cNvPr id="26" name="TextBox 25"/>
          <p:cNvSpPr txBox="1"/>
          <p:nvPr/>
        </p:nvSpPr>
        <p:spPr>
          <a:xfrm>
            <a:off x="6396228" y="4110228"/>
            <a:ext cx="2123694" cy="1389888"/>
          </a:xfrm>
          <a:prstGeom prst="rect">
            <a:avLst/>
          </a:prstGeom>
          <a:noFill/>
        </p:spPr>
        <p:txBody>
          <a:bodyPr wrap="square" anchor="t">
            <a:spAutoFit/>
          </a:bodyPr>
          <a:lstStyle/>
          <a:p>
            <a:pPr algn="ctr">
              <a:spcAft>
                <a:spcPts val="400"/>
              </a:spcAft>
            </a:pPr>
            <a:r>
              <a:rPr sz="1150" b="0">
                <a:solidFill>
                  <a:srgbClr val="5B6372"/>
                </a:solidFill>
                <a:latin typeface="Arial"/>
              </a:rPr>
              <a:t>Let them picture their own team using it.</a:t>
            </a:r>
          </a:p>
        </p:txBody>
      </p:sp>
      <p:sp>
        <p:nvSpPr>
          <p:cNvPr id="27" name="Rectangle 26"/>
          <p:cNvSpPr/>
          <p:nvPr/>
        </p:nvSpPr>
        <p:spPr>
          <a:xfrm>
            <a:off x="8958834" y="2482596"/>
            <a:ext cx="2452878" cy="312724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58834" y="2482596"/>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01809" y="2619756"/>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rot="2700000">
            <a:off x="10029367" y="2908889"/>
            <a:ext cx="141732"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rot="18900000">
            <a:off x="10105903" y="2874873"/>
            <a:ext cx="260786"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23426" y="350672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Confirm — The Check</a:t>
            </a:r>
          </a:p>
        </p:txBody>
      </p:sp>
      <p:sp>
        <p:nvSpPr>
          <p:cNvPr id="33" name="TextBox 32"/>
          <p:cNvSpPr txBox="1"/>
          <p:nvPr/>
        </p:nvSpPr>
        <p:spPr>
          <a:xfrm>
            <a:off x="9123426" y="4110228"/>
            <a:ext cx="2123694" cy="1389888"/>
          </a:xfrm>
          <a:prstGeom prst="rect">
            <a:avLst/>
          </a:prstGeom>
          <a:noFill/>
        </p:spPr>
        <p:txBody>
          <a:bodyPr wrap="square" anchor="t">
            <a:spAutoFit/>
          </a:bodyPr>
          <a:lstStyle/>
          <a:p>
            <a:pPr algn="ctr">
              <a:spcAft>
                <a:spcPts val="400"/>
              </a:spcAft>
            </a:pPr>
            <a:r>
              <a:rPr sz="1150" b="0">
                <a:solidFill>
                  <a:srgbClr val="5B6372"/>
                </a:solidFill>
                <a:latin typeface="Arial"/>
              </a:rPr>
              <a:t>Trial-close each section before moving on.</a:t>
            </a:r>
          </a:p>
        </p:txBody>
      </p:sp>
      <p:sp>
        <p:nvSpPr>
          <p:cNvPr id="34" name="TextBox 33"/>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demo-structure practice (Educate / Demonstrate / Buy-In)</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Demo Pyramid — Build In This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Each level only holds if the one beneath it is solid. Jump to the top and the whole thing collapses into a features tour.</a:t>
            </a:r>
          </a:p>
        </p:txBody>
      </p:sp>
      <p:sp>
        <p:nvSpPr>
          <p:cNvPr id="8" name="Rectangle 7"/>
          <p:cNvSpPr/>
          <p:nvPr/>
        </p:nvSpPr>
        <p:spPr>
          <a:xfrm>
            <a:off x="960120" y="4823460"/>
            <a:ext cx="4937760" cy="836676"/>
          </a:xfrm>
          <a:prstGeom prst="rect">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4823460"/>
            <a:ext cx="4937760" cy="836676"/>
          </a:xfrm>
          <a:prstGeom prst="rect">
            <a:avLst/>
          </a:prstGeom>
          <a:noFill/>
        </p:spPr>
        <p:txBody>
          <a:bodyPr wrap="square" anchor="ctr">
            <a:spAutoFit/>
          </a:bodyPr>
          <a:lstStyle/>
          <a:p>
            <a:pPr algn="ctr">
              <a:spcAft>
                <a:spcPts val="400"/>
              </a:spcAft>
            </a:pPr>
            <a:r>
              <a:rPr sz="1400" b="1">
                <a:solidFill>
                  <a:srgbClr val="FFFFFF"/>
                </a:solidFill>
                <a:latin typeface="Arial"/>
              </a:rPr>
              <a:t>01  Their Problem</a:t>
            </a:r>
          </a:p>
        </p:txBody>
      </p:sp>
      <p:sp>
        <p:nvSpPr>
          <p:cNvPr id="10" name="Rectangle 9"/>
          <p:cNvSpPr/>
          <p:nvPr/>
        </p:nvSpPr>
        <p:spPr>
          <a:xfrm>
            <a:off x="6446520" y="4823460"/>
            <a:ext cx="4965192" cy="836676"/>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4823460"/>
            <a:ext cx="73152" cy="8366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02552" y="4823460"/>
            <a:ext cx="4572000" cy="836676"/>
          </a:xfrm>
          <a:prstGeom prst="rect">
            <a:avLst/>
          </a:prstGeom>
          <a:noFill/>
        </p:spPr>
        <p:txBody>
          <a:bodyPr wrap="square" anchor="ctr">
            <a:spAutoFit/>
          </a:bodyPr>
          <a:lstStyle/>
          <a:p>
            <a:pPr algn="l">
              <a:spcAft>
                <a:spcPts val="200"/>
              </a:spcAft>
            </a:pPr>
            <a:r>
              <a:rPr sz="1300" b="1">
                <a:solidFill>
                  <a:srgbClr val="161B26"/>
                </a:solidFill>
                <a:latin typeface="Arial"/>
              </a:rPr>
              <a:t>Their Problem</a:t>
            </a:r>
          </a:p>
          <a:p>
            <a:pPr algn="l">
              <a:spcAft>
                <a:spcPts val="200"/>
              </a:spcAft>
            </a:pPr>
            <a:r>
              <a:rPr sz="1150" b="0">
                <a:solidFill>
                  <a:srgbClr val="5B6372"/>
                </a:solidFill>
                <a:latin typeface="Arial"/>
              </a:rPr>
              <a:t>Restate the difficulty in the buyer's own words.</a:t>
            </a:r>
          </a:p>
        </p:txBody>
      </p:sp>
      <p:sp>
        <p:nvSpPr>
          <p:cNvPr id="13" name="Rectangle 12"/>
          <p:cNvSpPr/>
          <p:nvPr/>
        </p:nvSpPr>
        <p:spPr>
          <a:xfrm>
            <a:off x="1295400" y="3931920"/>
            <a:ext cx="4267200" cy="836676"/>
          </a:xfrm>
          <a:prstGeom prst="rect">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295400" y="3931920"/>
            <a:ext cx="4267200" cy="836676"/>
          </a:xfrm>
          <a:prstGeom prst="rect">
            <a:avLst/>
          </a:prstGeom>
          <a:noFill/>
        </p:spPr>
        <p:txBody>
          <a:bodyPr wrap="square" anchor="ctr">
            <a:spAutoFit/>
          </a:bodyPr>
          <a:lstStyle/>
          <a:p>
            <a:pPr algn="ctr">
              <a:spcAft>
                <a:spcPts val="400"/>
              </a:spcAft>
            </a:pPr>
            <a:r>
              <a:rPr sz="1400" b="1">
                <a:solidFill>
                  <a:srgbClr val="FFFFFF"/>
                </a:solidFill>
                <a:latin typeface="Arial"/>
              </a:rPr>
              <a:t>02  The Mechanism</a:t>
            </a:r>
          </a:p>
        </p:txBody>
      </p:sp>
      <p:sp>
        <p:nvSpPr>
          <p:cNvPr id="15" name="Rectangle 14"/>
          <p:cNvSpPr/>
          <p:nvPr/>
        </p:nvSpPr>
        <p:spPr>
          <a:xfrm>
            <a:off x="6446520" y="3931920"/>
            <a:ext cx="4965192" cy="836676"/>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46520" y="3931920"/>
            <a:ext cx="73152" cy="8366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02552" y="3931920"/>
            <a:ext cx="4572000" cy="836676"/>
          </a:xfrm>
          <a:prstGeom prst="rect">
            <a:avLst/>
          </a:prstGeom>
          <a:noFill/>
        </p:spPr>
        <p:txBody>
          <a:bodyPr wrap="square" anchor="ctr">
            <a:spAutoFit/>
          </a:bodyPr>
          <a:lstStyle/>
          <a:p>
            <a:pPr algn="l">
              <a:spcAft>
                <a:spcPts val="200"/>
              </a:spcAft>
            </a:pPr>
            <a:r>
              <a:rPr sz="1300" b="1">
                <a:solidFill>
                  <a:srgbClr val="161B26"/>
                </a:solidFill>
                <a:latin typeface="Arial"/>
              </a:rPr>
              <a:t>The Mechanism</a:t>
            </a:r>
          </a:p>
          <a:p>
            <a:pPr algn="l">
              <a:spcAft>
                <a:spcPts val="200"/>
              </a:spcAft>
            </a:pPr>
            <a:r>
              <a:rPr sz="1150" b="0">
                <a:solidFill>
                  <a:srgbClr val="5B6372"/>
                </a:solidFill>
                <a:latin typeface="Arial"/>
              </a:rPr>
              <a:t>Show only the part that fixes that difficulty.</a:t>
            </a:r>
          </a:p>
        </p:txBody>
      </p:sp>
      <p:sp>
        <p:nvSpPr>
          <p:cNvPr id="18" name="Rectangle 17"/>
          <p:cNvSpPr/>
          <p:nvPr/>
        </p:nvSpPr>
        <p:spPr>
          <a:xfrm>
            <a:off x="1630680" y="3040380"/>
            <a:ext cx="3596640" cy="836676"/>
          </a:xfrm>
          <a:prstGeom prst="rect">
            <a:avLst/>
          </a:prstGeom>
          <a:solidFill>
            <a:srgbClr val="7C3AED"/>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630680" y="3040380"/>
            <a:ext cx="3596640" cy="836676"/>
          </a:xfrm>
          <a:prstGeom prst="rect">
            <a:avLst/>
          </a:prstGeom>
          <a:noFill/>
        </p:spPr>
        <p:txBody>
          <a:bodyPr wrap="square" anchor="ctr">
            <a:spAutoFit/>
          </a:bodyPr>
          <a:lstStyle/>
          <a:p>
            <a:pPr algn="ctr">
              <a:spcAft>
                <a:spcPts val="400"/>
              </a:spcAft>
            </a:pPr>
            <a:r>
              <a:rPr sz="1400" b="1">
                <a:solidFill>
                  <a:srgbClr val="FFFFFF"/>
                </a:solidFill>
                <a:latin typeface="Arial"/>
              </a:rPr>
              <a:t>03  The Proof</a:t>
            </a:r>
          </a:p>
        </p:txBody>
      </p:sp>
      <p:sp>
        <p:nvSpPr>
          <p:cNvPr id="20" name="Rectangle 19"/>
          <p:cNvSpPr/>
          <p:nvPr/>
        </p:nvSpPr>
        <p:spPr>
          <a:xfrm>
            <a:off x="6446520" y="3040380"/>
            <a:ext cx="4965192" cy="836676"/>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0" y="3040380"/>
            <a:ext cx="73152" cy="8366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02552" y="3040380"/>
            <a:ext cx="4572000" cy="836676"/>
          </a:xfrm>
          <a:prstGeom prst="rect">
            <a:avLst/>
          </a:prstGeom>
          <a:noFill/>
        </p:spPr>
        <p:txBody>
          <a:bodyPr wrap="square" anchor="ctr">
            <a:spAutoFit/>
          </a:bodyPr>
          <a:lstStyle/>
          <a:p>
            <a:pPr algn="l">
              <a:spcAft>
                <a:spcPts val="200"/>
              </a:spcAft>
            </a:pPr>
            <a:r>
              <a:rPr sz="1300" b="1">
                <a:solidFill>
                  <a:srgbClr val="161B26"/>
                </a:solidFill>
                <a:latin typeface="Arial"/>
              </a:rPr>
              <a:t>The Proof</a:t>
            </a:r>
          </a:p>
          <a:p>
            <a:pPr algn="l">
              <a:spcAft>
                <a:spcPts val="200"/>
              </a:spcAft>
            </a:pPr>
            <a:r>
              <a:rPr sz="1150" b="0">
                <a:solidFill>
                  <a:srgbClr val="5B6372"/>
                </a:solidFill>
                <a:latin typeface="Arial"/>
              </a:rPr>
              <a:t>Evidence it has worked for someone like them.</a:t>
            </a:r>
          </a:p>
        </p:txBody>
      </p:sp>
      <p:sp>
        <p:nvSpPr>
          <p:cNvPr id="23" name="Trapezoid 22"/>
          <p:cNvSpPr/>
          <p:nvPr/>
        </p:nvSpPr>
        <p:spPr>
          <a:xfrm>
            <a:off x="1965960" y="2148840"/>
            <a:ext cx="2926080" cy="836676"/>
          </a:xfrm>
          <a:prstGeom prst="trapezoid">
            <a:avLst>
              <a:gd name="adj" fmla="val 42000"/>
            </a:avLst>
          </a:prstGeom>
          <a:solidFill>
            <a:srgbClr val="F59E0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965960" y="2148840"/>
            <a:ext cx="2926080" cy="836676"/>
          </a:xfrm>
          <a:prstGeom prst="rect">
            <a:avLst/>
          </a:prstGeom>
          <a:noFill/>
        </p:spPr>
        <p:txBody>
          <a:bodyPr wrap="square" anchor="ctr">
            <a:spAutoFit/>
          </a:bodyPr>
          <a:lstStyle/>
          <a:p>
            <a:pPr algn="ctr">
              <a:spcAft>
                <a:spcPts val="400"/>
              </a:spcAft>
            </a:pPr>
            <a:r>
              <a:rPr sz="1400" b="1">
                <a:solidFill>
                  <a:srgbClr val="FFFFFF"/>
                </a:solidFill>
                <a:latin typeface="Arial"/>
              </a:rPr>
              <a:t>04  The Buy-In</a:t>
            </a:r>
          </a:p>
        </p:txBody>
      </p:sp>
      <p:sp>
        <p:nvSpPr>
          <p:cNvPr id="25" name="Rectangle 24"/>
          <p:cNvSpPr/>
          <p:nvPr/>
        </p:nvSpPr>
        <p:spPr>
          <a:xfrm>
            <a:off x="6446520" y="2148840"/>
            <a:ext cx="4965192" cy="836676"/>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46520" y="2148840"/>
            <a:ext cx="73152" cy="8366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02552" y="2148840"/>
            <a:ext cx="4572000" cy="836676"/>
          </a:xfrm>
          <a:prstGeom prst="rect">
            <a:avLst/>
          </a:prstGeom>
          <a:noFill/>
        </p:spPr>
        <p:txBody>
          <a:bodyPr wrap="square" anchor="ctr">
            <a:spAutoFit/>
          </a:bodyPr>
          <a:lstStyle/>
          <a:p>
            <a:pPr algn="l">
              <a:spcAft>
                <a:spcPts val="200"/>
              </a:spcAft>
            </a:pPr>
            <a:r>
              <a:rPr sz="1300" b="1">
                <a:solidFill>
                  <a:srgbClr val="161B26"/>
                </a:solidFill>
                <a:latin typeface="Arial"/>
              </a:rPr>
              <a:t>The Buy-In</a:t>
            </a:r>
          </a:p>
          <a:p>
            <a:pPr algn="l">
              <a:spcAft>
                <a:spcPts val="200"/>
              </a:spcAft>
            </a:pPr>
            <a:r>
              <a:rPr sz="1150" b="0">
                <a:solidFill>
                  <a:srgbClr val="5B6372"/>
                </a:solidFill>
                <a:latin typeface="Arial"/>
              </a:rPr>
              <a:t>They describe how they would use it themselves.</a:t>
            </a:r>
          </a:p>
        </p:txBody>
      </p:sp>
      <p:sp>
        <p:nvSpPr>
          <p:cNvPr id="28" name="Rectangle 27"/>
          <p:cNvSpPr/>
          <p:nvPr/>
        </p:nvSpPr>
        <p:spPr>
          <a:xfrm>
            <a:off x="777240" y="5760720"/>
            <a:ext cx="10634472"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760720"/>
            <a:ext cx="91440"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760720"/>
            <a:ext cx="10058400" cy="493776"/>
          </a:xfrm>
          <a:prstGeom prst="rect">
            <a:avLst/>
          </a:prstGeom>
          <a:noFill/>
        </p:spPr>
        <p:txBody>
          <a:bodyPr wrap="square" anchor="ctr">
            <a:spAutoFit/>
          </a:bodyPr>
          <a:lstStyle/>
          <a:p>
            <a:pPr algn="l">
              <a:spcAft>
                <a:spcPts val="400"/>
              </a:spcAft>
            </a:pPr>
            <a:r>
              <a:rPr sz="1200" b="1">
                <a:solidFill>
                  <a:srgbClr val="161B26"/>
                </a:solidFill>
                <a:latin typeface="Arial"/>
              </a:rPr>
              <a:t>Never demo a feature the buyer has not already told you they need.</a:t>
            </a:r>
          </a:p>
        </p:txBody>
      </p:sp>
      <p:sp>
        <p:nvSpPr>
          <p:cNvPr id="31" name="TextBox 30"/>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demo-structure and consultative-selling practice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Feature Tour vs The Earned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ft Arrow 6"/>
          <p:cNvSpPr/>
          <p:nvPr/>
        </p:nvSpPr>
        <p:spPr>
          <a:xfrm>
            <a:off x="777240" y="2103120"/>
            <a:ext cx="5134356" cy="658368"/>
          </a:xfrm>
          <a:prstGeom prst="leftArrow">
            <a:avLst/>
          </a:prstGeom>
          <a:solidFill>
            <a:srgbClr val="C03939"/>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234440" y="2103120"/>
            <a:ext cx="4219956" cy="658368"/>
          </a:xfrm>
          <a:prstGeom prst="rect">
            <a:avLst/>
          </a:prstGeom>
          <a:noFill/>
        </p:spPr>
        <p:txBody>
          <a:bodyPr wrap="square" anchor="ctr">
            <a:spAutoFit/>
          </a:bodyPr>
          <a:lstStyle/>
          <a:p>
            <a:pPr algn="ctr">
              <a:spcAft>
                <a:spcPts val="400"/>
              </a:spcAft>
            </a:pPr>
            <a:r>
              <a:rPr sz="1500" b="1">
                <a:solidFill>
                  <a:srgbClr val="FFFFFF"/>
                </a:solidFill>
                <a:latin typeface="Arial"/>
              </a:rPr>
              <a:t>THE FEATURE TOUR</a:t>
            </a:r>
          </a:p>
        </p:txBody>
      </p:sp>
      <p:sp>
        <p:nvSpPr>
          <p:cNvPr id="9" name="Rectangle 8"/>
          <p:cNvSpPr/>
          <p:nvPr/>
        </p:nvSpPr>
        <p:spPr>
          <a:xfrm>
            <a:off x="777240" y="297180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97180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 y="316992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2436" y="3425952"/>
            <a:ext cx="64008" cy="114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298448" y="3345942"/>
            <a:ext cx="64008" cy="19431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394460" y="3277362"/>
            <a:ext cx="64008" cy="2628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764792" y="297180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Shows Everything</a:t>
            </a:r>
          </a:p>
          <a:p>
            <a:pPr algn="l">
              <a:spcAft>
                <a:spcPts val="200"/>
              </a:spcAft>
            </a:pPr>
            <a:r>
              <a:rPr sz="1100" b="0">
                <a:solidFill>
                  <a:srgbClr val="5B6372"/>
                </a:solidFill>
                <a:latin typeface="Arial"/>
              </a:rPr>
              <a:t>Twenty features, none of them asked for.</a:t>
            </a:r>
          </a:p>
        </p:txBody>
      </p:sp>
      <p:sp>
        <p:nvSpPr>
          <p:cNvPr id="16" name="Rectangle 15"/>
          <p:cNvSpPr/>
          <p:nvPr/>
        </p:nvSpPr>
        <p:spPr>
          <a:xfrm>
            <a:off x="777240" y="400812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0812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420624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nut 18"/>
          <p:cNvSpPr/>
          <p:nvPr/>
        </p:nvSpPr>
        <p:spPr>
          <a:xfrm>
            <a:off x="1179576" y="4270248"/>
            <a:ext cx="329184" cy="329184"/>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330452" y="4315968"/>
            <a:ext cx="27432"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330452" y="4421124"/>
            <a:ext cx="105156"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764792" y="400812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Runs Long</a:t>
            </a:r>
          </a:p>
          <a:p>
            <a:pPr algn="l">
              <a:spcAft>
                <a:spcPts val="200"/>
              </a:spcAft>
            </a:pPr>
            <a:r>
              <a:rPr sz="1100" b="0">
                <a:solidFill>
                  <a:srgbClr val="5B6372"/>
                </a:solidFill>
                <a:latin typeface="Arial"/>
              </a:rPr>
              <a:t>The buyer disengages before the relevant part.</a:t>
            </a:r>
          </a:p>
        </p:txBody>
      </p:sp>
      <p:sp>
        <p:nvSpPr>
          <p:cNvPr id="23" name="Rectangle 22"/>
          <p:cNvSpPr/>
          <p:nvPr/>
        </p:nvSpPr>
        <p:spPr>
          <a:xfrm>
            <a:off x="777240" y="504444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04444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15568" y="524256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ightning Bolt 25"/>
          <p:cNvSpPr/>
          <p:nvPr/>
        </p:nvSpPr>
        <p:spPr>
          <a:xfrm>
            <a:off x="1229868" y="5306568"/>
            <a:ext cx="228600" cy="32918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764792" y="504444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Ends in Silence</a:t>
            </a:r>
          </a:p>
          <a:p>
            <a:pPr algn="l">
              <a:spcAft>
                <a:spcPts val="200"/>
              </a:spcAft>
            </a:pPr>
            <a:r>
              <a:rPr sz="1100" b="0">
                <a:solidFill>
                  <a:srgbClr val="5B6372"/>
                </a:solidFill>
                <a:latin typeface="Arial"/>
              </a:rPr>
              <a:t>"Any questions?" — and there are none.</a:t>
            </a:r>
          </a:p>
        </p:txBody>
      </p:sp>
      <p:sp>
        <p:nvSpPr>
          <p:cNvPr id="28" name="Right Arrow 27"/>
          <p:cNvSpPr/>
          <p:nvPr/>
        </p:nvSpPr>
        <p:spPr>
          <a:xfrm>
            <a:off x="6277356" y="2103120"/>
            <a:ext cx="5134356" cy="658368"/>
          </a:xfrm>
          <a:prstGeom prst="rightArrow">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34556" y="2103120"/>
            <a:ext cx="4219956" cy="658368"/>
          </a:xfrm>
          <a:prstGeom prst="rect">
            <a:avLst/>
          </a:prstGeom>
          <a:noFill/>
        </p:spPr>
        <p:txBody>
          <a:bodyPr wrap="square" anchor="ctr">
            <a:spAutoFit/>
          </a:bodyPr>
          <a:lstStyle/>
          <a:p>
            <a:pPr algn="ctr">
              <a:spcAft>
                <a:spcPts val="400"/>
              </a:spcAft>
            </a:pPr>
            <a:r>
              <a:rPr sz="1500" b="1">
                <a:solidFill>
                  <a:srgbClr val="FFFFFF"/>
                </a:solidFill>
                <a:latin typeface="Arial"/>
              </a:rPr>
              <a:t>THE EARNED DEMO</a:t>
            </a:r>
          </a:p>
        </p:txBody>
      </p:sp>
      <p:sp>
        <p:nvSpPr>
          <p:cNvPr id="30" name="Rectangle 29"/>
          <p:cNvSpPr/>
          <p:nvPr/>
        </p:nvSpPr>
        <p:spPr>
          <a:xfrm>
            <a:off x="6277356" y="297180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77356" y="297180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615684" y="316992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onut 32"/>
          <p:cNvSpPr/>
          <p:nvPr/>
        </p:nvSpPr>
        <p:spPr>
          <a:xfrm>
            <a:off x="6670548" y="3224784"/>
            <a:ext cx="347472" cy="347472"/>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784848" y="3339084"/>
            <a:ext cx="118872" cy="1188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264908" y="297180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Shows Three Things</a:t>
            </a:r>
          </a:p>
          <a:p>
            <a:pPr algn="l">
              <a:spcAft>
                <a:spcPts val="200"/>
              </a:spcAft>
            </a:pPr>
            <a:r>
              <a:rPr sz="1100" b="0">
                <a:solidFill>
                  <a:srgbClr val="5B6372"/>
                </a:solidFill>
                <a:latin typeface="Arial"/>
              </a:rPr>
              <a:t>Only what maps to a stated problem.</a:t>
            </a:r>
          </a:p>
        </p:txBody>
      </p:sp>
      <p:sp>
        <p:nvSpPr>
          <p:cNvPr id="36" name="Rectangle 35"/>
          <p:cNvSpPr/>
          <p:nvPr/>
        </p:nvSpPr>
        <p:spPr>
          <a:xfrm>
            <a:off x="6277356" y="400812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77356" y="400812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615684" y="42062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ular Callout 38"/>
          <p:cNvSpPr/>
          <p:nvPr/>
        </p:nvSpPr>
        <p:spPr>
          <a:xfrm>
            <a:off x="6693408" y="4302252"/>
            <a:ext cx="301752" cy="228600"/>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264908" y="400812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Runs Interactive</a:t>
            </a:r>
          </a:p>
          <a:p>
            <a:pPr algn="l">
              <a:spcAft>
                <a:spcPts val="200"/>
              </a:spcAft>
            </a:pPr>
            <a:r>
              <a:rPr sz="1100" b="0">
                <a:solidFill>
                  <a:srgbClr val="5B6372"/>
                </a:solidFill>
                <a:latin typeface="Arial"/>
              </a:rPr>
              <a:t>Trial closes keep the buyer talking throughout.</a:t>
            </a:r>
          </a:p>
        </p:txBody>
      </p:sp>
      <p:sp>
        <p:nvSpPr>
          <p:cNvPr id="41" name="Rectangle 40"/>
          <p:cNvSpPr/>
          <p:nvPr/>
        </p:nvSpPr>
        <p:spPr>
          <a:xfrm>
            <a:off x="6277356" y="504444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77356" y="504444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615684" y="524256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rot="2700000">
            <a:off x="6718554" y="5475732"/>
            <a:ext cx="114300" cy="365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rot="18900000">
            <a:off x="6780276" y="5448300"/>
            <a:ext cx="210312" cy="365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264908" y="504444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Ends in a Next Step</a:t>
            </a:r>
          </a:p>
          <a:p>
            <a:pPr algn="l">
              <a:spcAft>
                <a:spcPts val="200"/>
              </a:spcAft>
            </a:pPr>
            <a:r>
              <a:rPr sz="1100" b="0">
                <a:solidFill>
                  <a:srgbClr val="5B6372"/>
                </a:solidFill>
                <a:latin typeface="Arial"/>
              </a:rPr>
              <a:t>"What would rollout look like for you?"</a:t>
            </a:r>
          </a:p>
        </p:txBody>
      </p:sp>
      <p:sp>
        <p:nvSpPr>
          <p:cNvPr id="47" name="TextBox 46"/>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demo-effectiveness practice</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Mini Closes — Small Yeses Along the 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big yes is terrifying. Five small yeses are easy — and they add up to the same signature.</a:t>
            </a:r>
          </a:p>
        </p:txBody>
      </p:sp>
      <p:sp>
        <p:nvSpPr>
          <p:cNvPr id="8" name="Rectangle 7"/>
          <p:cNvSpPr/>
          <p:nvPr/>
        </p:nvSpPr>
        <p:spPr>
          <a:xfrm>
            <a:off x="777240" y="2519172"/>
            <a:ext cx="2452878" cy="305409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519172"/>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656332"/>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rot="2700000">
            <a:off x="1847773" y="2945465"/>
            <a:ext cx="141732"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rot="18900000">
            <a:off x="1924309" y="2911449"/>
            <a:ext cx="260786"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1832" y="354330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Sense Check</a:t>
            </a:r>
          </a:p>
        </p:txBody>
      </p:sp>
      <p:sp>
        <p:nvSpPr>
          <p:cNvPr id="14" name="TextBox 13"/>
          <p:cNvSpPr txBox="1"/>
          <p:nvPr/>
        </p:nvSpPr>
        <p:spPr>
          <a:xfrm>
            <a:off x="941832" y="4146804"/>
            <a:ext cx="2123694" cy="1316736"/>
          </a:xfrm>
          <a:prstGeom prst="rect">
            <a:avLst/>
          </a:prstGeom>
          <a:noFill/>
        </p:spPr>
        <p:txBody>
          <a:bodyPr wrap="square" anchor="t">
            <a:spAutoFit/>
          </a:bodyPr>
          <a:lstStyle/>
          <a:p>
            <a:pPr algn="ctr">
              <a:spcAft>
                <a:spcPts val="400"/>
              </a:spcAft>
            </a:pPr>
            <a:r>
              <a:rPr sz="1150" b="0">
                <a:solidFill>
                  <a:srgbClr val="5B6372"/>
                </a:solidFill>
                <a:latin typeface="Arial"/>
              </a:rPr>
              <a:t>"Does that approach make sense so far?"</a:t>
            </a:r>
          </a:p>
        </p:txBody>
      </p:sp>
      <p:sp>
        <p:nvSpPr>
          <p:cNvPr id="15" name="Rectangle 14"/>
          <p:cNvSpPr/>
          <p:nvPr/>
        </p:nvSpPr>
        <p:spPr>
          <a:xfrm>
            <a:off x="3504438" y="2519172"/>
            <a:ext cx="2452878" cy="305409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04438" y="2519172"/>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47413" y="2656332"/>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ular Callout 17"/>
          <p:cNvSpPr/>
          <p:nvPr/>
        </p:nvSpPr>
        <p:spPr>
          <a:xfrm>
            <a:off x="4543790" y="2775386"/>
            <a:ext cx="374172" cy="283464"/>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54330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Fit Check</a:t>
            </a:r>
          </a:p>
        </p:txBody>
      </p:sp>
      <p:sp>
        <p:nvSpPr>
          <p:cNvPr id="20" name="TextBox 19"/>
          <p:cNvSpPr txBox="1"/>
          <p:nvPr/>
        </p:nvSpPr>
        <p:spPr>
          <a:xfrm>
            <a:off x="3669030" y="4146804"/>
            <a:ext cx="2123694" cy="1316736"/>
          </a:xfrm>
          <a:prstGeom prst="rect">
            <a:avLst/>
          </a:prstGeom>
          <a:noFill/>
        </p:spPr>
        <p:txBody>
          <a:bodyPr wrap="square" anchor="t">
            <a:spAutoFit/>
          </a:bodyPr>
          <a:lstStyle/>
          <a:p>
            <a:pPr algn="ctr">
              <a:spcAft>
                <a:spcPts val="400"/>
              </a:spcAft>
            </a:pPr>
            <a:r>
              <a:rPr sz="1150" b="0">
                <a:solidFill>
                  <a:srgbClr val="5B6372"/>
                </a:solidFill>
                <a:latin typeface="Arial"/>
              </a:rPr>
              <a:t>"Is that closer to how your team works?"</a:t>
            </a:r>
          </a:p>
        </p:txBody>
      </p:sp>
      <p:sp>
        <p:nvSpPr>
          <p:cNvPr id="21" name="Rectangle 20"/>
          <p:cNvSpPr/>
          <p:nvPr/>
        </p:nvSpPr>
        <p:spPr>
          <a:xfrm>
            <a:off x="6231636" y="2519172"/>
            <a:ext cx="2452878" cy="305409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519172"/>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656332"/>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nut 23"/>
          <p:cNvSpPr/>
          <p:nvPr/>
        </p:nvSpPr>
        <p:spPr>
          <a:xfrm>
            <a:off x="7282327" y="2752709"/>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rot="2700000">
            <a:off x="7503429" y="2996488"/>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96228" y="354330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Gap Check</a:t>
            </a:r>
          </a:p>
        </p:txBody>
      </p:sp>
      <p:sp>
        <p:nvSpPr>
          <p:cNvPr id="27" name="TextBox 26"/>
          <p:cNvSpPr txBox="1"/>
          <p:nvPr/>
        </p:nvSpPr>
        <p:spPr>
          <a:xfrm>
            <a:off x="6396228" y="4146804"/>
            <a:ext cx="2123694" cy="1316736"/>
          </a:xfrm>
          <a:prstGeom prst="rect">
            <a:avLst/>
          </a:prstGeom>
          <a:noFill/>
        </p:spPr>
        <p:txBody>
          <a:bodyPr wrap="square" anchor="t">
            <a:spAutoFit/>
          </a:bodyPr>
          <a:lstStyle/>
          <a:p>
            <a:pPr algn="ctr">
              <a:spcAft>
                <a:spcPts val="400"/>
              </a:spcAft>
            </a:pPr>
            <a:r>
              <a:rPr sz="1150" b="0">
                <a:solidFill>
                  <a:srgbClr val="5B6372"/>
                </a:solidFill>
                <a:latin typeface="Arial"/>
              </a:rPr>
              <a:t>"Anything missing from what I've shown?"</a:t>
            </a:r>
          </a:p>
        </p:txBody>
      </p:sp>
      <p:sp>
        <p:nvSpPr>
          <p:cNvPr id="28" name="Rectangle 27"/>
          <p:cNvSpPr/>
          <p:nvPr/>
        </p:nvSpPr>
        <p:spPr>
          <a:xfrm>
            <a:off x="8958834" y="2519172"/>
            <a:ext cx="2452878" cy="305409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958834" y="2519172"/>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01809" y="2656332"/>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nut 30"/>
          <p:cNvSpPr/>
          <p:nvPr/>
        </p:nvSpPr>
        <p:spPr>
          <a:xfrm>
            <a:off x="9969840" y="2724363"/>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10111572" y="2866095"/>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23426" y="354330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Forward Check</a:t>
            </a:r>
          </a:p>
        </p:txBody>
      </p:sp>
      <p:sp>
        <p:nvSpPr>
          <p:cNvPr id="34" name="TextBox 33"/>
          <p:cNvSpPr txBox="1"/>
          <p:nvPr/>
        </p:nvSpPr>
        <p:spPr>
          <a:xfrm>
            <a:off x="9123426" y="4146804"/>
            <a:ext cx="2123694" cy="1316736"/>
          </a:xfrm>
          <a:prstGeom prst="rect">
            <a:avLst/>
          </a:prstGeom>
          <a:noFill/>
        </p:spPr>
        <p:txBody>
          <a:bodyPr wrap="square" anchor="t">
            <a:spAutoFit/>
          </a:bodyPr>
          <a:lstStyle/>
          <a:p>
            <a:pPr algn="ctr">
              <a:spcAft>
                <a:spcPts val="400"/>
              </a:spcAft>
            </a:pPr>
            <a:r>
              <a:rPr sz="1150" b="0">
                <a:solidFill>
                  <a:srgbClr val="5B6372"/>
                </a:solidFill>
                <a:latin typeface="Arial"/>
              </a:rPr>
              <a:t>"Shall I show you how rollout would work?"</a:t>
            </a:r>
          </a:p>
        </p:txBody>
      </p:sp>
      <p:sp>
        <p:nvSpPr>
          <p:cNvPr id="35" name="TextBox 34"/>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trial-close / mini-close technique (alexberman.com; sales practice)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Upselling &amp; Cross-Selling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Upselling &amp; Cross-Selling?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Upsell too early and you look greedy. Upsell after they've felt the win and you look like a partner. Timing IS the technique.</a:t>
            </a:r>
          </a:p>
        </p:txBody>
      </p:sp>
      <p:sp>
        <p:nvSpPr>
          <p:cNvPr id="8" name="Rectangle 7"/>
          <p:cNvSpPr/>
          <p:nvPr/>
        </p:nvSpPr>
        <p:spPr>
          <a:xfrm>
            <a:off x="777240" y="2400300"/>
            <a:ext cx="2452878" cy="32918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00300"/>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37460"/>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7931" y="2854939"/>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946986" y="2755727"/>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066041" y="2670688"/>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41832" y="342442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Upselling</a:t>
            </a:r>
          </a:p>
        </p:txBody>
      </p:sp>
      <p:sp>
        <p:nvSpPr>
          <p:cNvPr id="15" name="TextBox 14"/>
          <p:cNvSpPr txBox="1"/>
          <p:nvPr/>
        </p:nvSpPr>
        <p:spPr>
          <a:xfrm>
            <a:off x="941832" y="4027932"/>
            <a:ext cx="2123694" cy="1554480"/>
          </a:xfrm>
          <a:prstGeom prst="rect">
            <a:avLst/>
          </a:prstGeom>
          <a:noFill/>
        </p:spPr>
        <p:txBody>
          <a:bodyPr wrap="square" anchor="t">
            <a:spAutoFit/>
          </a:bodyPr>
          <a:lstStyle/>
          <a:p>
            <a:pPr algn="ctr">
              <a:spcAft>
                <a:spcPts val="400"/>
              </a:spcAft>
            </a:pPr>
            <a:r>
              <a:rPr sz="1000" b="0">
                <a:solidFill>
                  <a:srgbClr val="5B6372"/>
                </a:solidFill>
                <a:latin typeface="Arial"/>
              </a:rPr>
              <a:t>A better version of the thing they already chose.</a:t>
            </a:r>
          </a:p>
        </p:txBody>
      </p:sp>
      <p:sp>
        <p:nvSpPr>
          <p:cNvPr id="16" name="Rectangle 15"/>
          <p:cNvSpPr/>
          <p:nvPr/>
        </p:nvSpPr>
        <p:spPr>
          <a:xfrm>
            <a:off x="3504438" y="2400300"/>
            <a:ext cx="2452878" cy="32918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4438" y="2400300"/>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447413" y="2537460"/>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ircular Arrow 18"/>
          <p:cNvSpPr/>
          <p:nvPr/>
        </p:nvSpPr>
        <p:spPr>
          <a:xfrm>
            <a:off x="4475759" y="2565806"/>
            <a:ext cx="510235" cy="510235"/>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69030" y="342442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Cross-Selling</a:t>
            </a:r>
          </a:p>
        </p:txBody>
      </p:sp>
      <p:sp>
        <p:nvSpPr>
          <p:cNvPr id="21" name="TextBox 20"/>
          <p:cNvSpPr txBox="1"/>
          <p:nvPr/>
        </p:nvSpPr>
        <p:spPr>
          <a:xfrm>
            <a:off x="3669030" y="4027932"/>
            <a:ext cx="2123694" cy="1554480"/>
          </a:xfrm>
          <a:prstGeom prst="rect">
            <a:avLst/>
          </a:prstGeom>
          <a:noFill/>
        </p:spPr>
        <p:txBody>
          <a:bodyPr wrap="square" anchor="t">
            <a:spAutoFit/>
          </a:bodyPr>
          <a:lstStyle/>
          <a:p>
            <a:pPr algn="ctr">
              <a:spcAft>
                <a:spcPts val="400"/>
              </a:spcAft>
            </a:pPr>
            <a:r>
              <a:rPr sz="1000" b="0">
                <a:solidFill>
                  <a:srgbClr val="5B6372"/>
                </a:solidFill>
                <a:latin typeface="Arial"/>
              </a:rPr>
              <a:t>A genuinely related add-on that completes the job.</a:t>
            </a:r>
          </a:p>
        </p:txBody>
      </p:sp>
      <p:sp>
        <p:nvSpPr>
          <p:cNvPr id="22" name="Rectangle 21"/>
          <p:cNvSpPr/>
          <p:nvPr/>
        </p:nvSpPr>
        <p:spPr>
          <a:xfrm>
            <a:off x="6231636" y="2400300"/>
            <a:ext cx="2452878" cy="32918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31636" y="2400300"/>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74611" y="2537460"/>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nut 24"/>
          <p:cNvSpPr/>
          <p:nvPr/>
        </p:nvSpPr>
        <p:spPr>
          <a:xfrm>
            <a:off x="7253980" y="2616829"/>
            <a:ext cx="408188" cy="408188"/>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441067" y="2673522"/>
            <a:ext cx="34015" cy="1587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441067" y="2803916"/>
            <a:ext cx="130393" cy="34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96228" y="342442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Earn the Right First</a:t>
            </a:r>
          </a:p>
        </p:txBody>
      </p:sp>
      <p:sp>
        <p:nvSpPr>
          <p:cNvPr id="29" name="TextBox 28"/>
          <p:cNvSpPr txBox="1"/>
          <p:nvPr/>
        </p:nvSpPr>
        <p:spPr>
          <a:xfrm>
            <a:off x="6396228" y="4027932"/>
            <a:ext cx="2123694" cy="1554480"/>
          </a:xfrm>
          <a:prstGeom prst="rect">
            <a:avLst/>
          </a:prstGeom>
          <a:noFill/>
        </p:spPr>
        <p:txBody>
          <a:bodyPr wrap="square" anchor="t">
            <a:spAutoFit/>
          </a:bodyPr>
          <a:lstStyle/>
          <a:p>
            <a:pPr algn="ctr">
              <a:spcAft>
                <a:spcPts val="400"/>
              </a:spcAft>
            </a:pPr>
            <a:r>
              <a:rPr sz="1000" b="0">
                <a:solidFill>
                  <a:srgbClr val="5B6372"/>
                </a:solidFill>
                <a:latin typeface="Arial"/>
              </a:rPr>
              <a:t>Only after the first purchase has delivered real value.</a:t>
            </a:r>
          </a:p>
        </p:txBody>
      </p:sp>
      <p:sp>
        <p:nvSpPr>
          <p:cNvPr id="30" name="Rectangle 29"/>
          <p:cNvSpPr/>
          <p:nvPr/>
        </p:nvSpPr>
        <p:spPr>
          <a:xfrm>
            <a:off x="8958834" y="2400300"/>
            <a:ext cx="2452878" cy="32918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58834" y="2400300"/>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01809" y="2537460"/>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entagon 32"/>
          <p:cNvSpPr/>
          <p:nvPr/>
        </p:nvSpPr>
        <p:spPr>
          <a:xfrm rot="5400000">
            <a:off x="10020863" y="2656514"/>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23426" y="3424428"/>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Relevance Over Revenue</a:t>
            </a:r>
          </a:p>
        </p:txBody>
      </p:sp>
      <p:sp>
        <p:nvSpPr>
          <p:cNvPr id="35" name="TextBox 34"/>
          <p:cNvSpPr txBox="1"/>
          <p:nvPr/>
        </p:nvSpPr>
        <p:spPr>
          <a:xfrm>
            <a:off x="9123426" y="4027932"/>
            <a:ext cx="2123694" cy="1554480"/>
          </a:xfrm>
          <a:prstGeom prst="rect">
            <a:avLst/>
          </a:prstGeom>
          <a:noFill/>
        </p:spPr>
        <p:txBody>
          <a:bodyPr wrap="square" anchor="t">
            <a:spAutoFit/>
          </a:bodyPr>
          <a:lstStyle/>
          <a:p>
            <a:pPr algn="ctr">
              <a:spcAft>
                <a:spcPts val="400"/>
              </a:spcAft>
            </a:pPr>
            <a:r>
              <a:rPr sz="1000" b="0">
                <a:solidFill>
                  <a:srgbClr val="5B6372"/>
                </a:solidFill>
                <a:latin typeface="Arial"/>
              </a:rPr>
              <a:t>An irrelevant add-on costs you the whole relationship.</a:t>
            </a:r>
          </a:p>
        </p:txBody>
      </p:sp>
      <p:sp>
        <p:nvSpPr>
          <p:cNvPr id="36" name="TextBox 3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upsell / cross-sell practice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Upsell vs Cross-Sell — Know Which One You're Doing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5134356" cy="37947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5134356" cy="1234440"/>
          </a:xfrm>
          <a:prstGeom prst="roundRect">
            <a:avLst/>
          </a:prstGeom>
          <a:gradFill rotWithShape="1">
            <a:gsLst>
              <a:gs pos="0">
                <a:srgbClr val="307AEC"/>
              </a:gs>
              <a:gs pos="100000">
                <a:srgbClr val="1858BC"/>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49424"/>
            <a:ext cx="1371600" cy="914400"/>
          </a:xfrm>
          <a:prstGeom prst="rect">
            <a:avLst/>
          </a:prstGeom>
          <a:noFill/>
        </p:spPr>
        <p:txBody>
          <a:bodyPr wrap="square" anchor="ctr">
            <a:spAutoFit/>
          </a:bodyPr>
          <a:lstStyle/>
          <a:p>
            <a:pPr algn="l">
              <a:spcAft>
                <a:spcPts val="400"/>
              </a:spcAft>
            </a:pPr>
            <a:r>
              <a:rPr sz="4400" b="1">
                <a:solidFill>
                  <a:srgbClr val="FFFFFF"/>
                </a:solidFill>
                <a:latin typeface="Arial"/>
              </a:rPr>
              <a:t>U</a:t>
            </a:r>
          </a:p>
        </p:txBody>
      </p:sp>
      <p:sp>
        <p:nvSpPr>
          <p:cNvPr id="10" name="TextBox 9"/>
          <p:cNvSpPr txBox="1"/>
          <p:nvPr/>
        </p:nvSpPr>
        <p:spPr>
          <a:xfrm>
            <a:off x="2514600" y="2249424"/>
            <a:ext cx="3122676" cy="914400"/>
          </a:xfrm>
          <a:prstGeom prst="rect">
            <a:avLst/>
          </a:prstGeom>
          <a:noFill/>
        </p:spPr>
        <p:txBody>
          <a:bodyPr wrap="square" anchor="ctr">
            <a:spAutoFit/>
          </a:bodyPr>
          <a:lstStyle/>
          <a:p>
            <a:pPr algn="l">
              <a:spcAft>
                <a:spcPts val="400"/>
              </a:spcAft>
            </a:pPr>
            <a:r>
              <a:rPr sz="1700" b="1">
                <a:solidFill>
                  <a:srgbClr val="FFFFFF"/>
                </a:solidFill>
                <a:latin typeface="Arial"/>
              </a:rPr>
              <a:t>Upselling</a:t>
            </a:r>
          </a:p>
        </p:txBody>
      </p:sp>
      <p:sp>
        <p:nvSpPr>
          <p:cNvPr id="11" name="TextBox 10"/>
          <p:cNvSpPr txBox="1"/>
          <p:nvPr/>
        </p:nvSpPr>
        <p:spPr>
          <a:xfrm>
            <a:off x="1106424" y="3584448"/>
            <a:ext cx="4494276" cy="2148840"/>
          </a:xfrm>
          <a:prstGeom prst="rect">
            <a:avLst/>
          </a:prstGeom>
          <a:noFill/>
        </p:spPr>
        <p:txBody>
          <a:bodyPr wrap="square">
            <a:spAutoFit/>
          </a:bodyPr>
          <a:lstStyle/>
          <a:p>
            <a:pPr>
              <a:spcAft>
                <a:spcPts val="800"/>
              </a:spcAft>
            </a:pPr>
            <a:r>
              <a:rPr sz="1300" b="0">
                <a:solidFill>
                  <a:srgbClr val="161B26"/>
                </a:solidFill>
                <a:latin typeface="Arial"/>
              </a:rPr>
              <a:t>•  Same need, higher tier or capacity.</a:t>
            </a:r>
          </a:p>
          <a:p>
            <a:pPr>
              <a:spcAft>
                <a:spcPts val="800"/>
              </a:spcAft>
            </a:pPr>
            <a:r>
              <a:rPr sz="1300" b="0">
                <a:solidFill>
                  <a:srgbClr val="161B26"/>
                </a:solidFill>
                <a:latin typeface="Arial"/>
              </a:rPr>
              <a:t>•  "You've hit the 10-user limit twice this month."</a:t>
            </a:r>
          </a:p>
          <a:p>
            <a:pPr>
              <a:spcAft>
                <a:spcPts val="800"/>
              </a:spcAft>
            </a:pPr>
            <a:r>
              <a:rPr sz="1300" b="0">
                <a:solidFill>
                  <a:srgbClr val="161B26"/>
                </a:solidFill>
                <a:latin typeface="Arial"/>
              </a:rPr>
              <a:t>•  Triggered by the customer outgrowing the plan.</a:t>
            </a:r>
          </a:p>
          <a:p>
            <a:pPr>
              <a:spcAft>
                <a:spcPts val="800"/>
              </a:spcAft>
            </a:pPr>
            <a:r>
              <a:rPr sz="1300" b="0">
                <a:solidFill>
                  <a:srgbClr val="161B26"/>
                </a:solidFill>
                <a:latin typeface="Arial"/>
              </a:rPr>
              <a:t>•  Risk: feels like a toll gate if raised too early.</a:t>
            </a:r>
          </a:p>
        </p:txBody>
      </p:sp>
      <p:sp>
        <p:nvSpPr>
          <p:cNvPr id="12" name="Rectangle 11"/>
          <p:cNvSpPr/>
          <p:nvPr/>
        </p:nvSpPr>
        <p:spPr>
          <a:xfrm>
            <a:off x="6277356" y="2103120"/>
            <a:ext cx="5134356" cy="37947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77356" y="2103120"/>
            <a:ext cx="5134356" cy="1234440"/>
          </a:xfrm>
          <a:prstGeom prst="roundRect">
            <a:avLst/>
          </a:prstGeom>
          <a:gradFill rotWithShape="1">
            <a:gsLst>
              <a:gs pos="0">
                <a:srgbClr val="23BE8B"/>
              </a:gs>
              <a:gs pos="100000">
                <a:srgbClr val="0C9467"/>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1676" y="2249424"/>
            <a:ext cx="1371600" cy="914400"/>
          </a:xfrm>
          <a:prstGeom prst="rect">
            <a:avLst/>
          </a:prstGeom>
          <a:noFill/>
        </p:spPr>
        <p:txBody>
          <a:bodyPr wrap="square" anchor="ctr">
            <a:spAutoFit/>
          </a:bodyPr>
          <a:lstStyle/>
          <a:p>
            <a:pPr algn="l">
              <a:spcAft>
                <a:spcPts val="400"/>
              </a:spcAft>
            </a:pPr>
            <a:r>
              <a:rPr sz="4400" b="1">
                <a:solidFill>
                  <a:srgbClr val="FFFFFF"/>
                </a:solidFill>
                <a:latin typeface="Arial"/>
              </a:rPr>
              <a:t>X</a:t>
            </a:r>
          </a:p>
        </p:txBody>
      </p:sp>
      <p:sp>
        <p:nvSpPr>
          <p:cNvPr id="15" name="TextBox 14"/>
          <p:cNvSpPr txBox="1"/>
          <p:nvPr/>
        </p:nvSpPr>
        <p:spPr>
          <a:xfrm>
            <a:off x="8014716" y="2249424"/>
            <a:ext cx="3122676" cy="914400"/>
          </a:xfrm>
          <a:prstGeom prst="rect">
            <a:avLst/>
          </a:prstGeom>
          <a:noFill/>
        </p:spPr>
        <p:txBody>
          <a:bodyPr wrap="square" anchor="ctr">
            <a:spAutoFit/>
          </a:bodyPr>
          <a:lstStyle/>
          <a:p>
            <a:pPr algn="l">
              <a:spcAft>
                <a:spcPts val="400"/>
              </a:spcAft>
            </a:pPr>
            <a:r>
              <a:rPr sz="1700" b="1">
                <a:solidFill>
                  <a:srgbClr val="FFFFFF"/>
                </a:solidFill>
                <a:latin typeface="Arial"/>
              </a:rPr>
              <a:t>Cross-Selling</a:t>
            </a:r>
          </a:p>
        </p:txBody>
      </p:sp>
      <p:sp>
        <p:nvSpPr>
          <p:cNvPr id="16" name="TextBox 15"/>
          <p:cNvSpPr txBox="1"/>
          <p:nvPr/>
        </p:nvSpPr>
        <p:spPr>
          <a:xfrm>
            <a:off x="6606540" y="3584448"/>
            <a:ext cx="4494276" cy="2148840"/>
          </a:xfrm>
          <a:prstGeom prst="rect">
            <a:avLst/>
          </a:prstGeom>
          <a:noFill/>
        </p:spPr>
        <p:txBody>
          <a:bodyPr wrap="square">
            <a:spAutoFit/>
          </a:bodyPr>
          <a:lstStyle/>
          <a:p>
            <a:pPr>
              <a:spcAft>
                <a:spcPts val="800"/>
              </a:spcAft>
            </a:pPr>
            <a:r>
              <a:rPr sz="1300" b="0">
                <a:solidFill>
                  <a:srgbClr val="161B26"/>
                </a:solidFill>
                <a:latin typeface="Arial"/>
              </a:rPr>
              <a:t>•  Adjacent need, a different product entirely.</a:t>
            </a:r>
          </a:p>
          <a:p>
            <a:pPr>
              <a:spcAft>
                <a:spcPts val="800"/>
              </a:spcAft>
            </a:pPr>
            <a:r>
              <a:rPr sz="1300" b="0">
                <a:solidFill>
                  <a:srgbClr val="161B26"/>
                </a:solidFill>
                <a:latin typeface="Arial"/>
              </a:rPr>
              <a:t>•  "Site photos keep getting lost in chat — that's our mobile add-on."</a:t>
            </a:r>
          </a:p>
          <a:p>
            <a:pPr>
              <a:spcAft>
                <a:spcPts val="800"/>
              </a:spcAft>
            </a:pPr>
            <a:r>
              <a:rPr sz="1300" b="0">
                <a:solidFill>
                  <a:srgbClr val="161B26"/>
                </a:solidFill>
                <a:latin typeface="Arial"/>
              </a:rPr>
              <a:t>•  Triggered by a second problem surfacing in use.</a:t>
            </a:r>
          </a:p>
          <a:p>
            <a:pPr>
              <a:spcAft>
                <a:spcPts val="800"/>
              </a:spcAft>
            </a:pPr>
            <a:r>
              <a:rPr sz="1300" b="0">
                <a:solidFill>
                  <a:srgbClr val="161B26"/>
                </a:solidFill>
                <a:latin typeface="Arial"/>
              </a:rPr>
              <a:t>•  Risk: feels random if it isn't clearly connected.</a:t>
            </a:r>
          </a:p>
        </p:txBody>
      </p:sp>
      <p:sp>
        <p:nvSpPr>
          <p:cNvPr id="17" name="TextBox 16"/>
          <p:cNvSpPr txBox="1"/>
          <p:nvPr/>
        </p:nvSpPr>
        <p:spPr>
          <a:xfrm>
            <a:off x="777240" y="605332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upsell / cross-sell definitions, sales practice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When to Raise an Upsell — Follow the Customer's Confidence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Read the emotional arc. The only safe moment to expand the deal is after the first real win has landed.</a:t>
            </a:r>
          </a:p>
        </p:txBody>
      </p:sp>
      <p:sp>
        <p:nvSpPr>
          <p:cNvPr id="8" name="Rectangle 7"/>
          <p:cNvSpPr/>
          <p:nvPr/>
        </p:nvSpPr>
        <p:spPr>
          <a:xfrm>
            <a:off x="777240" y="2084831"/>
            <a:ext cx="1965960" cy="181051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84831"/>
            <a:ext cx="19659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504188" y="2432303"/>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nut 10"/>
          <p:cNvSpPr/>
          <p:nvPr/>
        </p:nvSpPr>
        <p:spPr>
          <a:xfrm>
            <a:off x="1601480" y="2519353"/>
            <a:ext cx="243230" cy="24323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rot="2700000">
            <a:off x="1801185" y="2739541"/>
            <a:ext cx="133136" cy="40965"/>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68680" y="3017519"/>
            <a:ext cx="1783080" cy="384048"/>
          </a:xfrm>
          <a:prstGeom prst="rect">
            <a:avLst/>
          </a:prstGeom>
          <a:noFill/>
        </p:spPr>
        <p:txBody>
          <a:bodyPr wrap="square" anchor="t">
            <a:spAutoFit/>
          </a:bodyPr>
          <a:lstStyle/>
          <a:p>
            <a:pPr algn="ctr">
              <a:spcAft>
                <a:spcPts val="400"/>
              </a:spcAft>
            </a:pPr>
            <a:r>
              <a:rPr sz="1250" b="1">
                <a:solidFill>
                  <a:srgbClr val="161B26"/>
                </a:solidFill>
                <a:latin typeface="Arial"/>
              </a:rPr>
              <a:t>Evaluation</a:t>
            </a:r>
          </a:p>
        </p:txBody>
      </p:sp>
      <p:sp>
        <p:nvSpPr>
          <p:cNvPr id="14" name="TextBox 13"/>
          <p:cNvSpPr txBox="1"/>
          <p:nvPr/>
        </p:nvSpPr>
        <p:spPr>
          <a:xfrm>
            <a:off x="868680" y="3383279"/>
            <a:ext cx="1783080" cy="457200"/>
          </a:xfrm>
          <a:prstGeom prst="rect">
            <a:avLst/>
          </a:prstGeom>
          <a:noFill/>
        </p:spPr>
        <p:txBody>
          <a:bodyPr wrap="square" anchor="t">
            <a:spAutoFit/>
          </a:bodyPr>
          <a:lstStyle/>
          <a:p>
            <a:pPr algn="ctr">
              <a:spcAft>
                <a:spcPts val="400"/>
              </a:spcAft>
            </a:pPr>
            <a:r>
              <a:rPr sz="1050" b="0">
                <a:solidFill>
                  <a:srgbClr val="5B6372"/>
                </a:solidFill>
                <a:latin typeface="Arial"/>
              </a:rPr>
              <a:t>Comparing options, still sceptical</a:t>
            </a:r>
          </a:p>
        </p:txBody>
      </p:sp>
      <p:sp>
        <p:nvSpPr>
          <p:cNvPr id="15" name="Rectangle 14"/>
          <p:cNvSpPr/>
          <p:nvPr/>
        </p:nvSpPr>
        <p:spPr>
          <a:xfrm>
            <a:off x="2944368" y="2084831"/>
            <a:ext cx="1965960" cy="181051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44368" y="2084831"/>
            <a:ext cx="19659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1316" y="2432303"/>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rot="2700000">
            <a:off x="3786530" y="2693455"/>
            <a:ext cx="128016" cy="40965"/>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rot="18900000">
            <a:off x="3855659" y="2662731"/>
            <a:ext cx="235549" cy="40965"/>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35808" y="3017519"/>
            <a:ext cx="1783080" cy="384048"/>
          </a:xfrm>
          <a:prstGeom prst="rect">
            <a:avLst/>
          </a:prstGeom>
          <a:noFill/>
        </p:spPr>
        <p:txBody>
          <a:bodyPr wrap="square" anchor="t">
            <a:spAutoFit/>
          </a:bodyPr>
          <a:lstStyle/>
          <a:p>
            <a:pPr algn="ctr">
              <a:spcAft>
                <a:spcPts val="400"/>
              </a:spcAft>
            </a:pPr>
            <a:r>
              <a:rPr sz="1250" b="1">
                <a:solidFill>
                  <a:srgbClr val="161B26"/>
                </a:solidFill>
                <a:latin typeface="Arial"/>
              </a:rPr>
              <a:t>Purchase</a:t>
            </a:r>
          </a:p>
        </p:txBody>
      </p:sp>
      <p:sp>
        <p:nvSpPr>
          <p:cNvPr id="21" name="TextBox 20"/>
          <p:cNvSpPr txBox="1"/>
          <p:nvPr/>
        </p:nvSpPr>
        <p:spPr>
          <a:xfrm>
            <a:off x="3035808" y="3383279"/>
            <a:ext cx="1783080" cy="457200"/>
          </a:xfrm>
          <a:prstGeom prst="rect">
            <a:avLst/>
          </a:prstGeom>
          <a:noFill/>
        </p:spPr>
        <p:txBody>
          <a:bodyPr wrap="square" anchor="t">
            <a:spAutoFit/>
          </a:bodyPr>
          <a:lstStyle/>
          <a:p>
            <a:pPr algn="ctr">
              <a:spcAft>
                <a:spcPts val="400"/>
              </a:spcAft>
            </a:pPr>
            <a:r>
              <a:rPr sz="900" b="0">
                <a:solidFill>
                  <a:srgbClr val="5B6372"/>
                </a:solidFill>
                <a:latin typeface="Arial"/>
              </a:rPr>
              <a:t>Committed but nervous about rollout</a:t>
            </a:r>
          </a:p>
        </p:txBody>
      </p:sp>
      <p:sp>
        <p:nvSpPr>
          <p:cNvPr id="22" name="Rectangle 21"/>
          <p:cNvSpPr/>
          <p:nvPr/>
        </p:nvSpPr>
        <p:spPr>
          <a:xfrm>
            <a:off x="5111496" y="2084831"/>
            <a:ext cx="1965960" cy="181051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1496" y="2084831"/>
            <a:ext cx="196596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4" y="2432303"/>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ear 6 24"/>
          <p:cNvSpPr/>
          <p:nvPr/>
        </p:nvSpPr>
        <p:spPr>
          <a:xfrm>
            <a:off x="5925494" y="2519353"/>
            <a:ext cx="337962" cy="337962"/>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02936" y="3017519"/>
            <a:ext cx="1783080" cy="384048"/>
          </a:xfrm>
          <a:prstGeom prst="rect">
            <a:avLst/>
          </a:prstGeom>
          <a:noFill/>
        </p:spPr>
        <p:txBody>
          <a:bodyPr wrap="square" anchor="t">
            <a:spAutoFit/>
          </a:bodyPr>
          <a:lstStyle/>
          <a:p>
            <a:pPr algn="ctr">
              <a:spcAft>
                <a:spcPts val="400"/>
              </a:spcAft>
            </a:pPr>
            <a:r>
              <a:rPr sz="1250" b="1">
                <a:solidFill>
                  <a:srgbClr val="161B26"/>
                </a:solidFill>
                <a:latin typeface="Arial"/>
              </a:rPr>
              <a:t>Onboarding</a:t>
            </a:r>
          </a:p>
        </p:txBody>
      </p:sp>
      <p:sp>
        <p:nvSpPr>
          <p:cNvPr id="27" name="TextBox 26"/>
          <p:cNvSpPr txBox="1"/>
          <p:nvPr/>
        </p:nvSpPr>
        <p:spPr>
          <a:xfrm>
            <a:off x="5202936" y="3383279"/>
            <a:ext cx="1783080" cy="457200"/>
          </a:xfrm>
          <a:prstGeom prst="rect">
            <a:avLst/>
          </a:prstGeom>
          <a:noFill/>
        </p:spPr>
        <p:txBody>
          <a:bodyPr wrap="square" anchor="t">
            <a:spAutoFit/>
          </a:bodyPr>
          <a:lstStyle/>
          <a:p>
            <a:pPr algn="ctr">
              <a:spcAft>
                <a:spcPts val="400"/>
              </a:spcAft>
            </a:pPr>
            <a:r>
              <a:rPr sz="900" b="0">
                <a:solidFill>
                  <a:srgbClr val="5B6372"/>
                </a:solidFill>
                <a:latin typeface="Arial"/>
              </a:rPr>
              <a:t>Effortful — the team is still learning</a:t>
            </a:r>
          </a:p>
        </p:txBody>
      </p:sp>
      <p:sp>
        <p:nvSpPr>
          <p:cNvPr id="28" name="Rectangle 27"/>
          <p:cNvSpPr/>
          <p:nvPr/>
        </p:nvSpPr>
        <p:spPr>
          <a:xfrm>
            <a:off x="7278624" y="2084831"/>
            <a:ext cx="1965960" cy="181051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78624" y="2084831"/>
            <a:ext cx="196596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05572" y="2432303"/>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5-Point Star 30"/>
          <p:cNvSpPr/>
          <p:nvPr/>
        </p:nvSpPr>
        <p:spPr>
          <a:xfrm>
            <a:off x="8077260" y="2503991"/>
            <a:ext cx="368686" cy="368686"/>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370064" y="3017519"/>
            <a:ext cx="1783080" cy="384048"/>
          </a:xfrm>
          <a:prstGeom prst="rect">
            <a:avLst/>
          </a:prstGeom>
          <a:noFill/>
        </p:spPr>
        <p:txBody>
          <a:bodyPr wrap="square" anchor="t">
            <a:spAutoFit/>
          </a:bodyPr>
          <a:lstStyle/>
          <a:p>
            <a:pPr algn="ctr">
              <a:spcAft>
                <a:spcPts val="400"/>
              </a:spcAft>
            </a:pPr>
            <a:r>
              <a:rPr sz="1250" b="1">
                <a:solidFill>
                  <a:srgbClr val="161B26"/>
                </a:solidFill>
                <a:latin typeface="Arial"/>
              </a:rPr>
              <a:t>First Win</a:t>
            </a:r>
          </a:p>
        </p:txBody>
      </p:sp>
      <p:sp>
        <p:nvSpPr>
          <p:cNvPr id="33" name="TextBox 32"/>
          <p:cNvSpPr txBox="1"/>
          <p:nvPr/>
        </p:nvSpPr>
        <p:spPr>
          <a:xfrm>
            <a:off x="7370064" y="3383279"/>
            <a:ext cx="1783080" cy="457200"/>
          </a:xfrm>
          <a:prstGeom prst="rect">
            <a:avLst/>
          </a:prstGeom>
          <a:noFill/>
        </p:spPr>
        <p:txBody>
          <a:bodyPr wrap="square" anchor="t">
            <a:spAutoFit/>
          </a:bodyPr>
          <a:lstStyle/>
          <a:p>
            <a:pPr algn="ctr">
              <a:spcAft>
                <a:spcPts val="400"/>
              </a:spcAft>
            </a:pPr>
            <a:r>
              <a:rPr sz="900" b="0">
                <a:solidFill>
                  <a:srgbClr val="5B6372"/>
                </a:solidFill>
                <a:latin typeface="Arial"/>
              </a:rPr>
              <a:t>A deadline hit that would have slipped</a:t>
            </a:r>
          </a:p>
        </p:txBody>
      </p:sp>
      <p:sp>
        <p:nvSpPr>
          <p:cNvPr id="34" name="Rectangle 33"/>
          <p:cNvSpPr/>
          <p:nvPr/>
        </p:nvSpPr>
        <p:spPr>
          <a:xfrm>
            <a:off x="9445752" y="2084831"/>
            <a:ext cx="1965960" cy="181051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45752" y="2084831"/>
            <a:ext cx="19659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72700" y="2432303"/>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69992" y="2719058"/>
            <a:ext cx="71688"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10377525" y="2629447"/>
            <a:ext cx="71688" cy="217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10485059" y="2552638"/>
            <a:ext cx="71688" cy="2944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537192" y="3017519"/>
            <a:ext cx="1783080" cy="384048"/>
          </a:xfrm>
          <a:prstGeom prst="rect">
            <a:avLst/>
          </a:prstGeom>
          <a:noFill/>
        </p:spPr>
        <p:txBody>
          <a:bodyPr wrap="square" anchor="t">
            <a:spAutoFit/>
          </a:bodyPr>
          <a:lstStyle/>
          <a:p>
            <a:pPr algn="ctr">
              <a:spcAft>
                <a:spcPts val="400"/>
              </a:spcAft>
            </a:pPr>
            <a:r>
              <a:rPr sz="1250" b="1">
                <a:solidFill>
                  <a:srgbClr val="161B26"/>
                </a:solidFill>
                <a:latin typeface="Arial"/>
              </a:rPr>
              <a:t>Expansion</a:t>
            </a:r>
          </a:p>
        </p:txBody>
      </p:sp>
      <p:sp>
        <p:nvSpPr>
          <p:cNvPr id="41" name="TextBox 40"/>
          <p:cNvSpPr txBox="1"/>
          <p:nvPr/>
        </p:nvSpPr>
        <p:spPr>
          <a:xfrm>
            <a:off x="9537192" y="3383279"/>
            <a:ext cx="1783080" cy="457200"/>
          </a:xfrm>
          <a:prstGeom prst="rect">
            <a:avLst/>
          </a:prstGeom>
          <a:noFill/>
        </p:spPr>
        <p:txBody>
          <a:bodyPr wrap="square" anchor="t">
            <a:spAutoFit/>
          </a:bodyPr>
          <a:lstStyle/>
          <a:p>
            <a:pPr algn="ctr">
              <a:spcAft>
                <a:spcPts val="400"/>
              </a:spcAft>
            </a:pPr>
            <a:r>
              <a:rPr sz="900" b="0">
                <a:solidFill>
                  <a:srgbClr val="5B6372"/>
                </a:solidFill>
                <a:latin typeface="Arial"/>
              </a:rPr>
              <a:t>Open to more — ask HERE, not before</a:t>
            </a:r>
          </a:p>
        </p:txBody>
      </p:sp>
      <p:sp>
        <p:nvSpPr>
          <p:cNvPr id="42" name="Rectangle 41"/>
          <p:cNvSpPr/>
          <p:nvPr/>
        </p:nvSpPr>
        <p:spPr>
          <a:xfrm>
            <a:off x="777240" y="4133087"/>
            <a:ext cx="1063447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3544" y="4187951"/>
            <a:ext cx="3657600" cy="274320"/>
          </a:xfrm>
          <a:prstGeom prst="rect">
            <a:avLst/>
          </a:prstGeom>
          <a:noFill/>
        </p:spPr>
        <p:txBody>
          <a:bodyPr wrap="square" anchor="t">
            <a:spAutoFit/>
          </a:bodyPr>
          <a:lstStyle/>
          <a:p>
            <a:pPr algn="l">
              <a:spcAft>
                <a:spcPts val="400"/>
              </a:spcAft>
            </a:pPr>
            <a:r>
              <a:rPr sz="1050" b="1">
                <a:solidFill>
                  <a:srgbClr val="5B6372"/>
                </a:solidFill>
                <a:latin typeface="Arial"/>
              </a:rPr>
              <a:t>HOW THE BUYER FEELS</a:t>
            </a:r>
          </a:p>
        </p:txBody>
      </p:sp>
      <p:cxnSp>
        <p:nvCxnSpPr>
          <p:cNvPr id="44" name="Connector 43"/>
          <p:cNvCxnSpPr/>
          <p:nvPr/>
        </p:nvCxnSpPr>
        <p:spPr>
          <a:xfrm flipV="1">
            <a:off x="1760220" y="5065775"/>
            <a:ext cx="2167128" cy="265176"/>
          </a:xfrm>
          <a:prstGeom prst="line">
            <a:avLst/>
          </a:prstGeom>
          <a:ln w="28575">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927348" y="5065775"/>
            <a:ext cx="2167128" cy="265176"/>
          </a:xfrm>
          <a:prstGeom prst="line">
            <a:avLst/>
          </a:prstGeom>
          <a:ln w="28575">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094476" y="4535423"/>
            <a:ext cx="2167128" cy="795528"/>
          </a:xfrm>
          <a:prstGeom prst="line">
            <a:avLst/>
          </a:prstGeom>
          <a:ln w="28575">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261604" y="4535423"/>
            <a:ext cx="2167128" cy="265176"/>
          </a:xfrm>
          <a:prstGeom prst="line">
            <a:avLst/>
          </a:prstGeom>
          <a:ln w="28575">
            <a:solidFill>
              <a:srgbClr val="1F6FEB"/>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1641348" y="5212079"/>
            <a:ext cx="237744" cy="237744"/>
          </a:xfrm>
          <a:prstGeom prst="ellipse">
            <a:avLst/>
          </a:prstGeom>
          <a:solidFill>
            <a:srgbClr val="E14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808476" y="4946903"/>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975604" y="5212079"/>
            <a:ext cx="237744" cy="237744"/>
          </a:xfrm>
          <a:prstGeom prst="ellipse">
            <a:avLst/>
          </a:prstGeom>
          <a:solidFill>
            <a:srgbClr val="E14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142732" y="4416551"/>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309860" y="4681727"/>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797296"/>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77240" y="5797296"/>
            <a:ext cx="91440"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97280" y="5797296"/>
            <a:ext cx="10058400" cy="475488"/>
          </a:xfrm>
          <a:prstGeom prst="rect">
            <a:avLst/>
          </a:prstGeom>
          <a:noFill/>
        </p:spPr>
        <p:txBody>
          <a:bodyPr wrap="square" anchor="ctr">
            <a:spAutoFit/>
          </a:bodyPr>
          <a:lstStyle/>
          <a:p>
            <a:pPr algn="l">
              <a:spcAft>
                <a:spcPts val="400"/>
              </a:spcAft>
            </a:pPr>
            <a:r>
              <a:rPr sz="1150" b="1">
                <a:solidFill>
                  <a:srgbClr val="161B26"/>
                </a:solidFill>
                <a:latin typeface="Arial"/>
              </a:rPr>
              <a:t>Raising an add-on during the onboarding dip is the single most common upsell mistake — the customer is still paying for the last decision.</a:t>
            </a:r>
          </a:p>
        </p:txBody>
      </p:sp>
      <p:sp>
        <p:nvSpPr>
          <p:cNvPr id="56" name="TextBox 5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customer-lifecycle and upsell-timing practice (illustrative arc)</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Personalisation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Personalisation?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Personalisation is not putting their first name in the subject line. It is proving you remember what they told you.</a:t>
            </a:r>
          </a:p>
        </p:txBody>
      </p:sp>
      <p:sp>
        <p:nvSpPr>
          <p:cNvPr id="8" name="Rectangle 7"/>
          <p:cNvSpPr/>
          <p:nvPr/>
        </p:nvSpPr>
        <p:spPr>
          <a:xfrm>
            <a:off x="777240"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09444"/>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46604"/>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nut 10"/>
          <p:cNvSpPr/>
          <p:nvPr/>
        </p:nvSpPr>
        <p:spPr>
          <a:xfrm>
            <a:off x="1827931" y="2642981"/>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rot="2700000">
            <a:off x="2049033" y="2886760"/>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1832"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Reference the Specific</a:t>
            </a:r>
          </a:p>
        </p:txBody>
      </p:sp>
      <p:sp>
        <p:nvSpPr>
          <p:cNvPr id="14" name="TextBox 13"/>
          <p:cNvSpPr txBox="1"/>
          <p:nvPr/>
        </p:nvSpPr>
        <p:spPr>
          <a:xfrm>
            <a:off x="941832"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Name their actual project, team size or deadline.</a:t>
            </a:r>
          </a:p>
        </p:txBody>
      </p:sp>
      <p:sp>
        <p:nvSpPr>
          <p:cNvPr id="15" name="Rectangle 14"/>
          <p:cNvSpPr/>
          <p:nvPr/>
        </p:nvSpPr>
        <p:spPr>
          <a:xfrm>
            <a:off x="3504438"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04438" y="2409444"/>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47413" y="2546604"/>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ular Callout 17"/>
          <p:cNvSpPr/>
          <p:nvPr/>
        </p:nvSpPr>
        <p:spPr>
          <a:xfrm>
            <a:off x="4543790" y="2665658"/>
            <a:ext cx="374172" cy="283464"/>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Reuse Their Language</a:t>
            </a:r>
          </a:p>
        </p:txBody>
      </p:sp>
      <p:sp>
        <p:nvSpPr>
          <p:cNvPr id="20" name="TextBox 19"/>
          <p:cNvSpPr txBox="1"/>
          <p:nvPr/>
        </p:nvSpPr>
        <p:spPr>
          <a:xfrm>
            <a:off x="3669030"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Quote the phrase they used to describe the pain.</a:t>
            </a:r>
          </a:p>
        </p:txBody>
      </p:sp>
      <p:sp>
        <p:nvSpPr>
          <p:cNvPr id="21" name="Rectangle 20"/>
          <p:cNvSpPr/>
          <p:nvPr/>
        </p:nvSpPr>
        <p:spPr>
          <a:xfrm>
            <a:off x="6231636"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409444"/>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546604"/>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nut 23"/>
          <p:cNvSpPr/>
          <p:nvPr/>
        </p:nvSpPr>
        <p:spPr>
          <a:xfrm>
            <a:off x="7242642" y="2614635"/>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384374" y="2756367"/>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96228"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Match the Buyer Type</a:t>
            </a:r>
          </a:p>
        </p:txBody>
      </p:sp>
      <p:sp>
        <p:nvSpPr>
          <p:cNvPr id="27" name="TextBox 26"/>
          <p:cNvSpPr txBox="1"/>
          <p:nvPr/>
        </p:nvSpPr>
        <p:spPr>
          <a:xfrm>
            <a:off x="6396228"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Data for analytical buyers; brevity for decisive ones.</a:t>
            </a:r>
          </a:p>
        </p:txBody>
      </p:sp>
      <p:sp>
        <p:nvSpPr>
          <p:cNvPr id="28" name="Rectangle 27"/>
          <p:cNvSpPr/>
          <p:nvPr/>
        </p:nvSpPr>
        <p:spPr>
          <a:xfrm>
            <a:off x="8958834"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958834" y="2409444"/>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01809" y="2546604"/>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nut 30"/>
          <p:cNvSpPr/>
          <p:nvPr/>
        </p:nvSpPr>
        <p:spPr>
          <a:xfrm>
            <a:off x="9981178" y="2625973"/>
            <a:ext cx="408188" cy="408188"/>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10168265" y="2682666"/>
            <a:ext cx="34015" cy="1587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0168265" y="2813060"/>
            <a:ext cx="130393" cy="34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23426"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Time It to Their Cycle</a:t>
            </a:r>
          </a:p>
        </p:txBody>
      </p:sp>
      <p:sp>
        <p:nvSpPr>
          <p:cNvPr id="35" name="TextBox 34"/>
          <p:cNvSpPr txBox="1"/>
          <p:nvPr/>
        </p:nvSpPr>
        <p:spPr>
          <a:xfrm>
            <a:off x="9123426"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Fit their budget calendar, not your quarter-end.</a:t>
            </a:r>
          </a:p>
        </p:txBody>
      </p:sp>
      <p:sp>
        <p:nvSpPr>
          <p:cNvPr id="36" name="TextBox 3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personalisation and buyer-type adaptation practice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Adapting to the Buyer in Front of You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Analytical</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Wants the data, the method and the caveats.</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Relationship</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Wants trust, references and reassurance.</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Decisive</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Wants the headline, the price and the next step.</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Cautious</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Wants the risk addressed and a way to reverse.</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Selling to all four the same way means you are selling well to only one of them.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buyer-personality adaptation, emotional-intelligence sales practice</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Generic Pitch vs Personalised, Value-Earned Pitch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Generic Pitch</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Personalised Pitch</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"Customers love our premium tier."</a:t>
            </a:r>
          </a:p>
          <a:p>
            <a:pPr>
              <a:spcAft>
                <a:spcPts val="1000"/>
              </a:spcAft>
            </a:pPr>
            <a:r>
              <a:rPr sz="1600" b="0">
                <a:solidFill>
                  <a:srgbClr val="161B26"/>
                </a:solidFill>
                <a:latin typeface="Arial"/>
              </a:rPr>
              <a:t>•  Could have been sent to any company on the list.</a:t>
            </a:r>
          </a:p>
          <a:p>
            <a:pPr>
              <a:spcAft>
                <a:spcPts val="1000"/>
              </a:spcAft>
            </a:pPr>
            <a:r>
              <a:rPr sz="1600" b="0">
                <a:solidFill>
                  <a:srgbClr val="161B26"/>
                </a:solidFill>
                <a:latin typeface="Arial"/>
              </a:rPr>
              <a:t>•  Add-on raised at the first available opportunity.</a:t>
            </a:r>
          </a:p>
          <a:p>
            <a:pPr>
              <a:spcAft>
                <a:spcPts val="1000"/>
              </a:spcAft>
            </a:pPr>
            <a:r>
              <a:rPr sz="1600" b="0">
                <a:solidFill>
                  <a:srgbClr val="161B26"/>
                </a:solidFill>
                <a:latin typeface="Arial"/>
              </a:rPr>
              <a:t>•  Buyer hears a quota being filled.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"You mentioned the Jurong handover — this is the piece that covers it."</a:t>
            </a:r>
          </a:p>
          <a:p>
            <a:pPr>
              <a:spcAft>
                <a:spcPts val="1000"/>
              </a:spcAft>
            </a:pPr>
            <a:r>
              <a:rPr sz="1600" b="0">
                <a:solidFill>
                  <a:srgbClr val="161B26"/>
                </a:solidFill>
                <a:latin typeface="Arial"/>
              </a:rPr>
              <a:t>•  Could only have been written for this one buyer.</a:t>
            </a:r>
          </a:p>
          <a:p>
            <a:pPr>
              <a:spcAft>
                <a:spcPts val="1000"/>
              </a:spcAft>
            </a:pPr>
            <a:r>
              <a:rPr sz="1600" b="0">
                <a:solidFill>
                  <a:srgbClr val="161B26"/>
                </a:solidFill>
                <a:latin typeface="Arial"/>
              </a:rPr>
              <a:t>•  Add-on raised after the first win was felt.</a:t>
            </a:r>
          </a:p>
          <a:p>
            <a:pPr>
              <a:spcAft>
                <a:spcPts val="1000"/>
              </a:spcAft>
            </a:pPr>
            <a:r>
              <a:rPr sz="1600" b="0">
                <a:solidFill>
                  <a:srgbClr val="161B26"/>
                </a:solidFill>
                <a:latin typeface="Arial"/>
              </a:rPr>
              <a:t>•  Buyer hears a problem being solved.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personalisation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Where B2B Deals Are Lost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Illustrative split of lost-deal causes — note how little of it is the competitor you were worried about.</a:t>
            </a:r>
          </a:p>
        </p:txBody>
      </p:sp>
      <p:graphicFrame>
        <p:nvGraphicFramePr>
          <p:cNvPr id="8" name="Chart 7"/>
          <p:cNvGraphicFramePr>
            <a:graphicFrameLocks noGrp="1"/>
          </p:cNvGraphicFramePr>
          <p:nvPr/>
        </p:nvGraphicFramePr>
        <p:xfrm>
          <a:off x="2377440" y="2011680"/>
          <a:ext cx="7406640" cy="3749039"/>
        </p:xfrm>
        <a:graphic>
          <a:graphicData uri="http://schemas.openxmlformats.org/drawingml/2006/chart">
            <c:chart xmlns:c="http://schemas.openxmlformats.org/drawingml/2006/chart" r:id="rId2"/>
          </a:graphicData>
        </a:graphic>
      </p:graphicFrame>
      <p:sp>
        <p:nvSpPr>
          <p:cNvPr id="9" name="Rectangle 8"/>
          <p:cNvSpPr/>
          <p:nvPr/>
        </p:nvSpPr>
        <p:spPr>
          <a:xfrm>
            <a:off x="777240" y="5760720"/>
            <a:ext cx="10634472"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0720"/>
            <a:ext cx="91440"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0720"/>
            <a:ext cx="10058400" cy="493776"/>
          </a:xfrm>
          <a:prstGeom prst="rect">
            <a:avLst/>
          </a:prstGeom>
          <a:noFill/>
        </p:spPr>
        <p:txBody>
          <a:bodyPr wrap="square" anchor="ctr">
            <a:spAutoFit/>
          </a:bodyPr>
          <a:lstStyle/>
          <a:p>
            <a:pPr algn="l">
              <a:spcAft>
                <a:spcPts val="400"/>
              </a:spcAft>
            </a:pPr>
            <a:r>
              <a:rPr sz="1200" b="1">
                <a:solidFill>
                  <a:srgbClr val="161B26"/>
                </a:solidFill>
                <a:latin typeface="Arial"/>
              </a:rPr>
              <a:t>Illustrative composition based on reported B2B lost-deal analysis.</a:t>
            </a:r>
          </a:p>
        </p:txBody>
      </p:sp>
      <p:sp>
        <p:nvSpPr>
          <p:cNvPr id="12" name="TextBox 11"/>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B2B lost-deal synthesis (alexberman.com) — illustrative composition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Champion Selling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Champion Selling?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6094476" y="2221991"/>
            <a:ext cx="0" cy="1755648"/>
          </a:xfrm>
          <a:prstGeom prst="line">
            <a:avLst/>
          </a:prstGeom>
          <a:ln w="22225">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4476" y="3099815"/>
            <a:ext cx="3444736" cy="877824"/>
          </a:xfrm>
          <a:prstGeom prst="line">
            <a:avLst/>
          </a:prstGeom>
          <a:ln w="22225">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4476" y="3977639"/>
            <a:ext cx="3444736" cy="877824"/>
          </a:xfrm>
          <a:prstGeom prst="line">
            <a:avLst/>
          </a:prstGeom>
          <a:ln w="22225">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4476" y="3977639"/>
            <a:ext cx="0" cy="1755648"/>
          </a:xfrm>
          <a:prstGeom prst="line">
            <a:avLst/>
          </a:prstGeom>
          <a:ln w="22225">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49739" y="3977639"/>
            <a:ext cx="3444737" cy="877824"/>
          </a:xfrm>
          <a:prstGeom prst="line">
            <a:avLst/>
          </a:prstGeom>
          <a:ln w="22225">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49739" y="3099815"/>
            <a:ext cx="3444737" cy="877824"/>
          </a:xfrm>
          <a:prstGeom prst="line">
            <a:avLst/>
          </a:prstGeom>
          <a:ln w="22225">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701284" y="1828799"/>
            <a:ext cx="786384" cy="7863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19241" y="1978211"/>
            <a:ext cx="216255" cy="21625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153454" y="1978211"/>
            <a:ext cx="216255" cy="21625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787786" y="2229854"/>
            <a:ext cx="275234" cy="24377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125931" y="2229854"/>
            <a:ext cx="275234" cy="24377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65776" y="2670047"/>
            <a:ext cx="2057400" cy="512064"/>
          </a:xfrm>
          <a:prstGeom prst="rect">
            <a:avLst/>
          </a:prstGeom>
          <a:noFill/>
        </p:spPr>
        <p:txBody>
          <a:bodyPr wrap="square" anchor="t">
            <a:spAutoFit/>
          </a:bodyPr>
          <a:lstStyle/>
          <a:p>
            <a:pPr algn="ctr">
              <a:spcAft>
                <a:spcPts val="400"/>
              </a:spcAft>
            </a:pPr>
            <a:r>
              <a:rPr sz="1150" b="1">
                <a:solidFill>
                  <a:srgbClr val="161B26"/>
                </a:solidFill>
                <a:latin typeface="Arial"/>
              </a:rPr>
              <a:t>Champion</a:t>
            </a:r>
          </a:p>
        </p:txBody>
      </p:sp>
      <p:sp>
        <p:nvSpPr>
          <p:cNvPr id="19" name="Oval 18"/>
          <p:cNvSpPr/>
          <p:nvPr/>
        </p:nvSpPr>
        <p:spPr>
          <a:xfrm>
            <a:off x="9146020" y="2706623"/>
            <a:ext cx="786384" cy="7863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entagon 19"/>
          <p:cNvSpPr/>
          <p:nvPr/>
        </p:nvSpPr>
        <p:spPr>
          <a:xfrm rot="5400000">
            <a:off x="9311160" y="2871763"/>
            <a:ext cx="456102" cy="456102"/>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510512" y="3547871"/>
            <a:ext cx="2057400" cy="512064"/>
          </a:xfrm>
          <a:prstGeom prst="rect">
            <a:avLst/>
          </a:prstGeom>
          <a:noFill/>
        </p:spPr>
        <p:txBody>
          <a:bodyPr wrap="square" anchor="t">
            <a:spAutoFit/>
          </a:bodyPr>
          <a:lstStyle/>
          <a:p>
            <a:pPr algn="ctr">
              <a:spcAft>
                <a:spcPts val="400"/>
              </a:spcAft>
            </a:pPr>
            <a:r>
              <a:rPr sz="1150" b="1">
                <a:solidFill>
                  <a:srgbClr val="161B26"/>
                </a:solidFill>
                <a:latin typeface="Arial"/>
              </a:rPr>
              <a:t>Gatekeeper</a:t>
            </a:r>
          </a:p>
        </p:txBody>
      </p:sp>
      <p:sp>
        <p:nvSpPr>
          <p:cNvPr id="22" name="Oval 21"/>
          <p:cNvSpPr/>
          <p:nvPr/>
        </p:nvSpPr>
        <p:spPr>
          <a:xfrm>
            <a:off x="9146020" y="4462271"/>
            <a:ext cx="786384" cy="7863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95432" y="4902646"/>
            <a:ext cx="110093" cy="1965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9460573" y="4765028"/>
            <a:ext cx="110093" cy="33421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625714" y="4647071"/>
            <a:ext cx="110093" cy="4521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510512" y="5303519"/>
            <a:ext cx="2057400" cy="512064"/>
          </a:xfrm>
          <a:prstGeom prst="rect">
            <a:avLst/>
          </a:prstGeom>
          <a:noFill/>
        </p:spPr>
        <p:txBody>
          <a:bodyPr wrap="square" anchor="t">
            <a:spAutoFit/>
          </a:bodyPr>
          <a:lstStyle/>
          <a:p>
            <a:pPr algn="ctr">
              <a:spcAft>
                <a:spcPts val="400"/>
              </a:spcAft>
            </a:pPr>
            <a:r>
              <a:rPr sz="1150" b="1">
                <a:solidFill>
                  <a:srgbClr val="161B26"/>
                </a:solidFill>
                <a:latin typeface="Arial"/>
              </a:rPr>
              <a:t>Finance</a:t>
            </a:r>
          </a:p>
        </p:txBody>
      </p:sp>
      <p:sp>
        <p:nvSpPr>
          <p:cNvPr id="27" name="Oval 26"/>
          <p:cNvSpPr/>
          <p:nvPr/>
        </p:nvSpPr>
        <p:spPr>
          <a:xfrm>
            <a:off x="5701284" y="5340095"/>
            <a:ext cx="786384" cy="7863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Gear 6 27"/>
          <p:cNvSpPr/>
          <p:nvPr/>
        </p:nvSpPr>
        <p:spPr>
          <a:xfrm>
            <a:off x="5834969" y="5473780"/>
            <a:ext cx="519013" cy="519013"/>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65776" y="6181343"/>
            <a:ext cx="2057400" cy="512064"/>
          </a:xfrm>
          <a:prstGeom prst="rect">
            <a:avLst/>
          </a:prstGeom>
          <a:noFill/>
        </p:spPr>
        <p:txBody>
          <a:bodyPr wrap="square" anchor="t">
            <a:spAutoFit/>
          </a:bodyPr>
          <a:lstStyle/>
          <a:p>
            <a:pPr algn="ctr">
              <a:spcAft>
                <a:spcPts val="400"/>
              </a:spcAft>
            </a:pPr>
            <a:r>
              <a:rPr sz="1150" b="1">
                <a:solidFill>
                  <a:srgbClr val="161B26"/>
                </a:solidFill>
                <a:latin typeface="Arial"/>
              </a:rPr>
              <a:t>Technical Buyer</a:t>
            </a:r>
          </a:p>
        </p:txBody>
      </p:sp>
      <p:sp>
        <p:nvSpPr>
          <p:cNvPr id="30" name="Oval 29"/>
          <p:cNvSpPr/>
          <p:nvPr/>
        </p:nvSpPr>
        <p:spPr>
          <a:xfrm>
            <a:off x="2256547" y="4462271"/>
            <a:ext cx="786384" cy="7863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5-Point Star 30"/>
          <p:cNvSpPr/>
          <p:nvPr/>
        </p:nvSpPr>
        <p:spPr>
          <a:xfrm>
            <a:off x="2366640" y="4572364"/>
            <a:ext cx="566196" cy="566196"/>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621039" y="5303519"/>
            <a:ext cx="2057400" cy="512064"/>
          </a:xfrm>
          <a:prstGeom prst="rect">
            <a:avLst/>
          </a:prstGeom>
          <a:noFill/>
        </p:spPr>
        <p:txBody>
          <a:bodyPr wrap="square" anchor="t">
            <a:spAutoFit/>
          </a:bodyPr>
          <a:lstStyle/>
          <a:p>
            <a:pPr algn="ctr">
              <a:spcAft>
                <a:spcPts val="400"/>
              </a:spcAft>
            </a:pPr>
            <a:r>
              <a:rPr sz="1150" b="1">
                <a:solidFill>
                  <a:srgbClr val="161B26"/>
                </a:solidFill>
                <a:latin typeface="Arial"/>
              </a:rPr>
              <a:t>Executive Sponsor</a:t>
            </a:r>
          </a:p>
        </p:txBody>
      </p:sp>
      <p:sp>
        <p:nvSpPr>
          <p:cNvPr id="33" name="Oval 32"/>
          <p:cNvSpPr/>
          <p:nvPr/>
        </p:nvSpPr>
        <p:spPr>
          <a:xfrm>
            <a:off x="2256547" y="2706623"/>
            <a:ext cx="786384" cy="7863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eart 33"/>
          <p:cNvSpPr/>
          <p:nvPr/>
        </p:nvSpPr>
        <p:spPr>
          <a:xfrm>
            <a:off x="2390232" y="2856035"/>
            <a:ext cx="519013" cy="487558"/>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621039" y="3547871"/>
            <a:ext cx="2057400" cy="512064"/>
          </a:xfrm>
          <a:prstGeom prst="rect">
            <a:avLst/>
          </a:prstGeom>
          <a:noFill/>
        </p:spPr>
        <p:txBody>
          <a:bodyPr wrap="square" anchor="t">
            <a:spAutoFit/>
          </a:bodyPr>
          <a:lstStyle/>
          <a:p>
            <a:pPr algn="ctr">
              <a:spcAft>
                <a:spcPts val="400"/>
              </a:spcAft>
            </a:pPr>
            <a:r>
              <a:rPr sz="1150" b="1">
                <a:solidFill>
                  <a:srgbClr val="161B26"/>
                </a:solidFill>
                <a:latin typeface="Arial"/>
              </a:rPr>
              <a:t>End User</a:t>
            </a:r>
          </a:p>
        </p:txBody>
      </p:sp>
      <p:sp>
        <p:nvSpPr>
          <p:cNvPr id="36" name="Oval 35"/>
          <p:cNvSpPr/>
          <p:nvPr/>
        </p:nvSpPr>
        <p:spPr>
          <a:xfrm>
            <a:off x="5202936" y="3086099"/>
            <a:ext cx="1783080" cy="1783080"/>
          </a:xfrm>
          <a:prstGeom prst="ellipse">
            <a:avLst/>
          </a:prstGeom>
          <a:solidFill>
            <a:srgbClr val="161B26"/>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02936" y="3086099"/>
            <a:ext cx="1783080" cy="1783080"/>
          </a:xfrm>
          <a:prstGeom prst="rect">
            <a:avLst/>
          </a:prstGeom>
          <a:noFill/>
        </p:spPr>
        <p:txBody>
          <a:bodyPr wrap="square" anchor="ctr">
            <a:spAutoFit/>
          </a:bodyPr>
          <a:lstStyle/>
          <a:p>
            <a:pPr algn="ctr">
              <a:spcAft>
                <a:spcPts val="400"/>
              </a:spcAft>
            </a:pPr>
            <a:r>
              <a:rPr sz="1400" b="1">
                <a:solidFill>
                  <a:srgbClr val="FFFFFF"/>
                </a:solidFill>
                <a:latin typeface="Arial"/>
              </a:rPr>
              <a:t>THE DEAL</a:t>
            </a:r>
          </a:p>
        </p:txBody>
      </p:sp>
      <p:sp>
        <p:nvSpPr>
          <p:cNvPr id="38" name="TextBox 37"/>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buying-committee mapping, B2B sales practice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T5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How to Build a Champion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Identify</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Who gains personally if this succeeds?</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Equip</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Give them the numbers and the one-page case.</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Rehearse</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Prepare them for the objection Finance will raise.</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Support</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Stay reachable while they sell it internally.</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Your champion has to win an argument you will never be in the room for. Arm them for that argument, not for your demo.</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champion-selling and buying-committee practice</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T5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Contact vs A Champion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 Contact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 Champion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Takes your call and likes the product.</a:t>
            </a:r>
          </a:p>
          <a:p>
            <a:pPr>
              <a:spcAft>
                <a:spcPts val="1000"/>
              </a:spcAft>
            </a:pPr>
            <a:r>
              <a:rPr sz="1600" b="0">
                <a:solidFill>
                  <a:srgbClr val="161B26"/>
                </a:solidFill>
                <a:latin typeface="Arial"/>
              </a:rPr>
              <a:t>•  Forwards your deck without comment.</a:t>
            </a:r>
          </a:p>
          <a:p>
            <a:pPr>
              <a:spcAft>
                <a:spcPts val="1000"/>
              </a:spcAft>
            </a:pPr>
            <a:r>
              <a:rPr sz="1600" b="0">
                <a:solidFill>
                  <a:srgbClr val="161B26"/>
                </a:solidFill>
                <a:latin typeface="Arial"/>
              </a:rPr>
              <a:t>•  Goes quiet when the deal meets resistance.</a:t>
            </a:r>
          </a:p>
          <a:p>
            <a:pPr>
              <a:spcAft>
                <a:spcPts val="1000"/>
              </a:spcAft>
            </a:pPr>
            <a:r>
              <a:rPr sz="1600" b="0">
                <a:solidFill>
                  <a:srgbClr val="161B26"/>
                </a:solidFill>
                <a:latin typeface="Arial"/>
              </a:rPr>
              <a:t>•  Cannot tell you who else must approve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Gains personally when the project succeeds.</a:t>
            </a:r>
          </a:p>
          <a:p>
            <a:pPr>
              <a:spcAft>
                <a:spcPts val="1000"/>
              </a:spcAft>
            </a:pPr>
            <a:r>
              <a:rPr sz="1600" b="0">
                <a:solidFill>
                  <a:srgbClr val="161B26"/>
                </a:solidFill>
                <a:latin typeface="Arial"/>
              </a:rPr>
              <a:t>•  Rewrites your case in their own internal language.</a:t>
            </a:r>
          </a:p>
          <a:p>
            <a:pPr>
              <a:spcAft>
                <a:spcPts val="1000"/>
              </a:spcAft>
            </a:pPr>
            <a:r>
              <a:rPr sz="1600" b="0">
                <a:solidFill>
                  <a:srgbClr val="161B26"/>
                </a:solidFill>
                <a:latin typeface="Arial"/>
              </a:rPr>
              <a:t>•  Argues for it in the meeting you're not invited to.</a:t>
            </a:r>
          </a:p>
          <a:p>
            <a:pPr>
              <a:spcAft>
                <a:spcPts val="1000"/>
              </a:spcAft>
            </a:pPr>
            <a:r>
              <a:rPr sz="1600" b="0">
                <a:solidFill>
                  <a:srgbClr val="161B26"/>
                </a:solidFill>
                <a:latin typeface="Arial"/>
              </a:rPr>
              <a:t>•  Names every stakeholder and their objection.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champion-selling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T5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Three People You Must Convince at Sunrise Builders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Same deal, three completely different definitions of 'good'.</a:t>
            </a:r>
          </a:p>
        </p:txBody>
      </p:sp>
      <p:sp>
        <p:nvSpPr>
          <p:cNvPr id="8" name="Rectangle 7"/>
          <p:cNvSpPr/>
          <p:nvPr/>
        </p:nvSpPr>
        <p:spPr>
          <a:xfrm>
            <a:off x="777240" y="2240280"/>
            <a:ext cx="3361944" cy="37490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240280"/>
            <a:ext cx="3361944" cy="93268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14984" y="2432304"/>
            <a:ext cx="548640" cy="548640"/>
          </a:xfrm>
          <a:prstGeom prst="ellipse">
            <a:avLst/>
          </a:prstGeom>
          <a:solidFill>
            <a:srgbClr val="154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243230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JT</a:t>
            </a:r>
          </a:p>
        </p:txBody>
      </p:sp>
      <p:sp>
        <p:nvSpPr>
          <p:cNvPr id="12" name="TextBox 11"/>
          <p:cNvSpPr txBox="1"/>
          <p:nvPr/>
        </p:nvSpPr>
        <p:spPr>
          <a:xfrm>
            <a:off x="1673352" y="2441448"/>
            <a:ext cx="2319529" cy="365760"/>
          </a:xfrm>
          <a:prstGeom prst="rect">
            <a:avLst/>
          </a:prstGeom>
          <a:noFill/>
        </p:spPr>
        <p:txBody>
          <a:bodyPr wrap="square" anchor="t">
            <a:spAutoFit/>
          </a:bodyPr>
          <a:lstStyle/>
          <a:p>
            <a:pPr algn="l">
              <a:spcAft>
                <a:spcPts val="400"/>
              </a:spcAft>
            </a:pPr>
            <a:r>
              <a:rPr sz="1500" b="1">
                <a:solidFill>
                  <a:srgbClr val="FFFFFF"/>
                </a:solidFill>
                <a:latin typeface="Arial"/>
              </a:rPr>
              <a:t>John Tan</a:t>
            </a:r>
          </a:p>
        </p:txBody>
      </p:sp>
      <p:sp>
        <p:nvSpPr>
          <p:cNvPr id="13" name="TextBox 12"/>
          <p:cNvSpPr txBox="1"/>
          <p:nvPr/>
        </p:nvSpPr>
        <p:spPr>
          <a:xfrm>
            <a:off x="1673352" y="2788920"/>
            <a:ext cx="2319529" cy="329184"/>
          </a:xfrm>
          <a:prstGeom prst="rect">
            <a:avLst/>
          </a:prstGeom>
          <a:noFill/>
        </p:spPr>
        <p:txBody>
          <a:bodyPr wrap="square" anchor="t">
            <a:spAutoFit/>
          </a:bodyPr>
          <a:lstStyle/>
          <a:p>
            <a:pPr algn="l">
              <a:spcAft>
                <a:spcPts val="400"/>
              </a:spcAft>
            </a:pPr>
            <a:r>
              <a:rPr sz="1100" b="0">
                <a:solidFill>
                  <a:srgbClr val="FFFFFF"/>
                </a:solidFill>
                <a:latin typeface="Arial"/>
              </a:rPr>
              <a:t>Project Manager · Champion</a:t>
            </a:r>
          </a:p>
        </p:txBody>
      </p:sp>
      <p:sp>
        <p:nvSpPr>
          <p:cNvPr id="14" name="TextBox 13"/>
          <p:cNvSpPr txBox="1"/>
          <p:nvPr/>
        </p:nvSpPr>
        <p:spPr>
          <a:xfrm>
            <a:off x="1033272" y="3355848"/>
            <a:ext cx="2904744" cy="292608"/>
          </a:xfrm>
          <a:prstGeom prst="rect">
            <a:avLst/>
          </a:prstGeom>
          <a:noFill/>
        </p:spPr>
        <p:txBody>
          <a:bodyPr wrap="square" anchor="t">
            <a:spAutoFit/>
          </a:bodyPr>
          <a:lstStyle/>
          <a:p>
            <a:pPr algn="l">
              <a:spcAft>
                <a:spcPts val="400"/>
              </a:spcAft>
            </a:pPr>
            <a:r>
              <a:rPr sz="1100" b="1">
                <a:solidFill>
                  <a:srgbClr val="1F6FEB"/>
                </a:solidFill>
                <a:latin typeface="Arial"/>
              </a:rPr>
              <a:t>GOALS</a:t>
            </a:r>
          </a:p>
        </p:txBody>
      </p:sp>
      <p:sp>
        <p:nvSpPr>
          <p:cNvPr id="15" name="TextBox 14"/>
          <p:cNvSpPr txBox="1"/>
          <p:nvPr/>
        </p:nvSpPr>
        <p:spPr>
          <a:xfrm>
            <a:off x="1033272" y="3648456"/>
            <a:ext cx="2904744" cy="1371600"/>
          </a:xfrm>
          <a:prstGeom prst="rect">
            <a:avLst/>
          </a:prstGeom>
          <a:noFill/>
        </p:spPr>
        <p:txBody>
          <a:bodyPr wrap="square">
            <a:spAutoFit/>
          </a:bodyPr>
          <a:lstStyle/>
          <a:p>
            <a:pPr>
              <a:spcAft>
                <a:spcPts val="500"/>
              </a:spcAft>
            </a:pPr>
            <a:r>
              <a:rPr sz="1150" b="0">
                <a:solidFill>
                  <a:srgbClr val="161B26"/>
                </a:solidFill>
                <a:latin typeface="Arial"/>
              </a:rPr>
              <a:t>•  Stop deadlines slipping</a:t>
            </a:r>
          </a:p>
          <a:p>
            <a:pPr>
              <a:spcAft>
                <a:spcPts val="500"/>
              </a:spcAft>
            </a:pPr>
            <a:r>
              <a:rPr sz="1150" b="0">
                <a:solidFill>
                  <a:srgbClr val="161B26"/>
                </a:solidFill>
                <a:latin typeface="Arial"/>
              </a:rPr>
              <a:t>•  See job status without chasing</a:t>
            </a:r>
          </a:p>
        </p:txBody>
      </p:sp>
      <p:sp>
        <p:nvSpPr>
          <p:cNvPr id="16" name="TextBox 15"/>
          <p:cNvSpPr txBox="1"/>
          <p:nvPr/>
        </p:nvSpPr>
        <p:spPr>
          <a:xfrm>
            <a:off x="1033272" y="5184648"/>
            <a:ext cx="2904744" cy="292608"/>
          </a:xfrm>
          <a:prstGeom prst="rect">
            <a:avLst/>
          </a:prstGeom>
          <a:noFill/>
        </p:spPr>
        <p:txBody>
          <a:bodyPr wrap="square" anchor="t">
            <a:spAutoFit/>
          </a:bodyPr>
          <a:lstStyle/>
          <a:p>
            <a:pPr algn="l">
              <a:spcAft>
                <a:spcPts val="400"/>
              </a:spcAft>
            </a:pPr>
            <a:r>
              <a:rPr sz="1100" b="1">
                <a:solidFill>
                  <a:srgbClr val="C03939"/>
                </a:solidFill>
                <a:latin typeface="Arial"/>
              </a:rPr>
              <a:t>FRUSTRATIONS</a:t>
            </a:r>
          </a:p>
        </p:txBody>
      </p:sp>
      <p:sp>
        <p:nvSpPr>
          <p:cNvPr id="17" name="TextBox 16"/>
          <p:cNvSpPr txBox="1"/>
          <p:nvPr/>
        </p:nvSpPr>
        <p:spPr>
          <a:xfrm>
            <a:off x="1033272" y="5477256"/>
            <a:ext cx="2904744" cy="1371600"/>
          </a:xfrm>
          <a:prstGeom prst="rect">
            <a:avLst/>
          </a:prstGeom>
          <a:noFill/>
        </p:spPr>
        <p:txBody>
          <a:bodyPr wrap="square">
            <a:spAutoFit/>
          </a:bodyPr>
          <a:lstStyle/>
          <a:p>
            <a:pPr>
              <a:spcAft>
                <a:spcPts val="500"/>
              </a:spcAft>
            </a:pPr>
            <a:r>
              <a:rPr sz="1150" b="0">
                <a:solidFill>
                  <a:srgbClr val="161B26"/>
                </a:solidFill>
                <a:latin typeface="Arial"/>
              </a:rPr>
              <a:t>•  Burned by a past rollout</a:t>
            </a:r>
          </a:p>
          <a:p>
            <a:pPr>
              <a:spcAft>
                <a:spcPts val="500"/>
              </a:spcAft>
            </a:pPr>
            <a:r>
              <a:rPr sz="1150" b="0">
                <a:solidFill>
                  <a:srgbClr val="161B26"/>
                </a:solidFill>
                <a:latin typeface="Arial"/>
              </a:rPr>
              <a:t>•  No time to run a migration</a:t>
            </a:r>
          </a:p>
        </p:txBody>
      </p:sp>
      <p:sp>
        <p:nvSpPr>
          <p:cNvPr id="18" name="Rectangle 17"/>
          <p:cNvSpPr/>
          <p:nvPr/>
        </p:nvSpPr>
        <p:spPr>
          <a:xfrm>
            <a:off x="4413504" y="2240280"/>
            <a:ext cx="3361944" cy="37490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13504" y="2240280"/>
            <a:ext cx="3361944" cy="93268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651248" y="2432304"/>
            <a:ext cx="548640" cy="548640"/>
          </a:xfrm>
          <a:prstGeom prst="ellipse">
            <a:avLst/>
          </a:prstGeom>
          <a:solidFill>
            <a:srgbClr val="0A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51248" y="243230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PR</a:t>
            </a:r>
          </a:p>
        </p:txBody>
      </p:sp>
      <p:sp>
        <p:nvSpPr>
          <p:cNvPr id="22" name="TextBox 21"/>
          <p:cNvSpPr txBox="1"/>
          <p:nvPr/>
        </p:nvSpPr>
        <p:spPr>
          <a:xfrm>
            <a:off x="5309616" y="2441448"/>
            <a:ext cx="2319529" cy="365760"/>
          </a:xfrm>
          <a:prstGeom prst="rect">
            <a:avLst/>
          </a:prstGeom>
          <a:noFill/>
        </p:spPr>
        <p:txBody>
          <a:bodyPr wrap="square" anchor="t">
            <a:spAutoFit/>
          </a:bodyPr>
          <a:lstStyle/>
          <a:p>
            <a:pPr algn="l">
              <a:spcAft>
                <a:spcPts val="400"/>
              </a:spcAft>
            </a:pPr>
            <a:r>
              <a:rPr sz="1500" b="1">
                <a:solidFill>
                  <a:srgbClr val="FFFFFF"/>
                </a:solidFill>
                <a:latin typeface="Arial"/>
              </a:rPr>
              <a:t>Priya Raman</a:t>
            </a:r>
          </a:p>
        </p:txBody>
      </p:sp>
      <p:sp>
        <p:nvSpPr>
          <p:cNvPr id="23" name="TextBox 22"/>
          <p:cNvSpPr txBox="1"/>
          <p:nvPr/>
        </p:nvSpPr>
        <p:spPr>
          <a:xfrm>
            <a:off x="5309616" y="2788920"/>
            <a:ext cx="2319529" cy="329184"/>
          </a:xfrm>
          <a:prstGeom prst="rect">
            <a:avLst/>
          </a:prstGeom>
          <a:noFill/>
        </p:spPr>
        <p:txBody>
          <a:bodyPr wrap="square" anchor="t">
            <a:spAutoFit/>
          </a:bodyPr>
          <a:lstStyle/>
          <a:p>
            <a:pPr algn="l">
              <a:spcAft>
                <a:spcPts val="400"/>
              </a:spcAft>
            </a:pPr>
            <a:r>
              <a:rPr sz="950" b="0">
                <a:solidFill>
                  <a:srgbClr val="FFFFFF"/>
                </a:solidFill>
                <a:latin typeface="Arial"/>
              </a:rPr>
              <a:t>Finance Director · Gatekeeper</a:t>
            </a:r>
          </a:p>
        </p:txBody>
      </p:sp>
      <p:sp>
        <p:nvSpPr>
          <p:cNvPr id="24" name="TextBox 23"/>
          <p:cNvSpPr txBox="1"/>
          <p:nvPr/>
        </p:nvSpPr>
        <p:spPr>
          <a:xfrm>
            <a:off x="4669536" y="3355848"/>
            <a:ext cx="2904744" cy="292608"/>
          </a:xfrm>
          <a:prstGeom prst="rect">
            <a:avLst/>
          </a:prstGeom>
          <a:noFill/>
        </p:spPr>
        <p:txBody>
          <a:bodyPr wrap="square" anchor="t">
            <a:spAutoFit/>
          </a:bodyPr>
          <a:lstStyle/>
          <a:p>
            <a:pPr algn="l">
              <a:spcAft>
                <a:spcPts val="400"/>
              </a:spcAft>
            </a:pPr>
            <a:r>
              <a:rPr sz="1100" b="1">
                <a:solidFill>
                  <a:srgbClr val="10B981"/>
                </a:solidFill>
                <a:latin typeface="Arial"/>
              </a:rPr>
              <a:t>GOALS</a:t>
            </a:r>
          </a:p>
        </p:txBody>
      </p:sp>
      <p:sp>
        <p:nvSpPr>
          <p:cNvPr id="25" name="TextBox 24"/>
          <p:cNvSpPr txBox="1"/>
          <p:nvPr/>
        </p:nvSpPr>
        <p:spPr>
          <a:xfrm>
            <a:off x="4669536" y="3648456"/>
            <a:ext cx="2904744" cy="1371600"/>
          </a:xfrm>
          <a:prstGeom prst="rect">
            <a:avLst/>
          </a:prstGeom>
          <a:noFill/>
        </p:spPr>
        <p:txBody>
          <a:bodyPr wrap="square">
            <a:spAutoFit/>
          </a:bodyPr>
          <a:lstStyle/>
          <a:p>
            <a:pPr>
              <a:spcAft>
                <a:spcPts val="500"/>
              </a:spcAft>
            </a:pPr>
            <a:r>
              <a:rPr sz="1150" b="0">
                <a:solidFill>
                  <a:srgbClr val="161B26"/>
                </a:solidFill>
                <a:latin typeface="Arial"/>
              </a:rPr>
              <a:t>•  Predictable annual cost</a:t>
            </a:r>
          </a:p>
          <a:p>
            <a:pPr>
              <a:spcAft>
                <a:spcPts val="500"/>
              </a:spcAft>
            </a:pPr>
            <a:r>
              <a:rPr sz="1150" b="0">
                <a:solidFill>
                  <a:srgbClr val="161B26"/>
                </a:solidFill>
                <a:latin typeface="Arial"/>
              </a:rPr>
              <a:t>•  Clear payback period</a:t>
            </a:r>
          </a:p>
        </p:txBody>
      </p:sp>
      <p:sp>
        <p:nvSpPr>
          <p:cNvPr id="26" name="TextBox 25"/>
          <p:cNvSpPr txBox="1"/>
          <p:nvPr/>
        </p:nvSpPr>
        <p:spPr>
          <a:xfrm>
            <a:off x="4669536" y="5184648"/>
            <a:ext cx="2904744" cy="292608"/>
          </a:xfrm>
          <a:prstGeom prst="rect">
            <a:avLst/>
          </a:prstGeom>
          <a:noFill/>
        </p:spPr>
        <p:txBody>
          <a:bodyPr wrap="square" anchor="t">
            <a:spAutoFit/>
          </a:bodyPr>
          <a:lstStyle/>
          <a:p>
            <a:pPr algn="l">
              <a:spcAft>
                <a:spcPts val="400"/>
              </a:spcAft>
            </a:pPr>
            <a:r>
              <a:rPr sz="1100" b="1">
                <a:solidFill>
                  <a:srgbClr val="C03939"/>
                </a:solidFill>
                <a:latin typeface="Arial"/>
              </a:rPr>
              <a:t>FRUSTRATIONS</a:t>
            </a:r>
          </a:p>
        </p:txBody>
      </p:sp>
      <p:sp>
        <p:nvSpPr>
          <p:cNvPr id="27" name="TextBox 26"/>
          <p:cNvSpPr txBox="1"/>
          <p:nvPr/>
        </p:nvSpPr>
        <p:spPr>
          <a:xfrm>
            <a:off x="4669536" y="5477256"/>
            <a:ext cx="2904744" cy="1371600"/>
          </a:xfrm>
          <a:prstGeom prst="rect">
            <a:avLst/>
          </a:prstGeom>
          <a:noFill/>
        </p:spPr>
        <p:txBody>
          <a:bodyPr wrap="square">
            <a:spAutoFit/>
          </a:bodyPr>
          <a:lstStyle/>
          <a:p>
            <a:pPr>
              <a:spcAft>
                <a:spcPts val="500"/>
              </a:spcAft>
            </a:pPr>
            <a:r>
              <a:rPr sz="1150" b="0">
                <a:solidFill>
                  <a:srgbClr val="161B26"/>
                </a:solidFill>
                <a:latin typeface="Arial"/>
              </a:rPr>
              <a:t>•  Another recurring licence</a:t>
            </a:r>
          </a:p>
          <a:p>
            <a:pPr>
              <a:spcAft>
                <a:spcPts val="500"/>
              </a:spcAft>
            </a:pPr>
            <a:r>
              <a:rPr sz="1150" b="0">
                <a:solidFill>
                  <a:srgbClr val="161B26"/>
                </a:solidFill>
                <a:latin typeface="Arial"/>
              </a:rPr>
              <a:t>•  Vague ROI claims</a:t>
            </a:r>
          </a:p>
        </p:txBody>
      </p:sp>
      <p:sp>
        <p:nvSpPr>
          <p:cNvPr id="28" name="Rectangle 27"/>
          <p:cNvSpPr/>
          <p:nvPr/>
        </p:nvSpPr>
        <p:spPr>
          <a:xfrm>
            <a:off x="8049768" y="2240280"/>
            <a:ext cx="3361944" cy="37490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049768" y="2240280"/>
            <a:ext cx="3361944" cy="93268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87512" y="2432304"/>
            <a:ext cx="548640" cy="548640"/>
          </a:xfrm>
          <a:prstGeom prst="ellipse">
            <a:avLst/>
          </a:prstGeom>
          <a:solidFill>
            <a:srgbClr val="542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87512" y="243230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ML</a:t>
            </a:r>
          </a:p>
        </p:txBody>
      </p:sp>
      <p:sp>
        <p:nvSpPr>
          <p:cNvPr id="32" name="TextBox 31"/>
          <p:cNvSpPr txBox="1"/>
          <p:nvPr/>
        </p:nvSpPr>
        <p:spPr>
          <a:xfrm>
            <a:off x="8945880" y="2441448"/>
            <a:ext cx="2319529" cy="365760"/>
          </a:xfrm>
          <a:prstGeom prst="rect">
            <a:avLst/>
          </a:prstGeom>
          <a:noFill/>
        </p:spPr>
        <p:txBody>
          <a:bodyPr wrap="square" anchor="t">
            <a:spAutoFit/>
          </a:bodyPr>
          <a:lstStyle/>
          <a:p>
            <a:pPr algn="l">
              <a:spcAft>
                <a:spcPts val="400"/>
              </a:spcAft>
            </a:pPr>
            <a:r>
              <a:rPr sz="1500" b="1">
                <a:solidFill>
                  <a:srgbClr val="FFFFFF"/>
                </a:solidFill>
                <a:latin typeface="Arial"/>
              </a:rPr>
              <a:t>Marcus Lee</a:t>
            </a:r>
          </a:p>
        </p:txBody>
      </p:sp>
      <p:sp>
        <p:nvSpPr>
          <p:cNvPr id="33" name="TextBox 32"/>
          <p:cNvSpPr txBox="1"/>
          <p:nvPr/>
        </p:nvSpPr>
        <p:spPr>
          <a:xfrm>
            <a:off x="8945880" y="2788920"/>
            <a:ext cx="2319529" cy="329184"/>
          </a:xfrm>
          <a:prstGeom prst="rect">
            <a:avLst/>
          </a:prstGeom>
          <a:noFill/>
        </p:spPr>
        <p:txBody>
          <a:bodyPr wrap="square" anchor="t">
            <a:spAutoFit/>
          </a:bodyPr>
          <a:lstStyle/>
          <a:p>
            <a:pPr algn="l">
              <a:spcAft>
                <a:spcPts val="400"/>
              </a:spcAft>
            </a:pPr>
            <a:r>
              <a:rPr sz="1100" b="0">
                <a:solidFill>
                  <a:srgbClr val="FFFFFF"/>
                </a:solidFill>
                <a:latin typeface="Arial"/>
              </a:rPr>
              <a:t>Site Foreman · End User</a:t>
            </a:r>
          </a:p>
        </p:txBody>
      </p:sp>
      <p:sp>
        <p:nvSpPr>
          <p:cNvPr id="34" name="TextBox 33"/>
          <p:cNvSpPr txBox="1"/>
          <p:nvPr/>
        </p:nvSpPr>
        <p:spPr>
          <a:xfrm>
            <a:off x="8305800" y="3355848"/>
            <a:ext cx="2904744" cy="292608"/>
          </a:xfrm>
          <a:prstGeom prst="rect">
            <a:avLst/>
          </a:prstGeom>
          <a:noFill/>
        </p:spPr>
        <p:txBody>
          <a:bodyPr wrap="square" anchor="t">
            <a:spAutoFit/>
          </a:bodyPr>
          <a:lstStyle/>
          <a:p>
            <a:pPr algn="l">
              <a:spcAft>
                <a:spcPts val="400"/>
              </a:spcAft>
            </a:pPr>
            <a:r>
              <a:rPr sz="1100" b="1">
                <a:solidFill>
                  <a:srgbClr val="7C3AED"/>
                </a:solidFill>
                <a:latin typeface="Arial"/>
              </a:rPr>
              <a:t>GOALS</a:t>
            </a:r>
          </a:p>
        </p:txBody>
      </p:sp>
      <p:sp>
        <p:nvSpPr>
          <p:cNvPr id="35" name="TextBox 34"/>
          <p:cNvSpPr txBox="1"/>
          <p:nvPr/>
        </p:nvSpPr>
        <p:spPr>
          <a:xfrm>
            <a:off x="8305800" y="3648456"/>
            <a:ext cx="2904744" cy="1371600"/>
          </a:xfrm>
          <a:prstGeom prst="rect">
            <a:avLst/>
          </a:prstGeom>
          <a:noFill/>
        </p:spPr>
        <p:txBody>
          <a:bodyPr wrap="square">
            <a:spAutoFit/>
          </a:bodyPr>
          <a:lstStyle/>
          <a:p>
            <a:pPr>
              <a:spcAft>
                <a:spcPts val="500"/>
              </a:spcAft>
            </a:pPr>
            <a:r>
              <a:rPr sz="1150" b="0">
                <a:solidFill>
                  <a:srgbClr val="161B26"/>
                </a:solidFill>
                <a:latin typeface="Arial"/>
              </a:rPr>
              <a:t>•  Fewer status phone calls</a:t>
            </a:r>
          </a:p>
          <a:p>
            <a:pPr>
              <a:spcAft>
                <a:spcPts val="500"/>
              </a:spcAft>
            </a:pPr>
            <a:r>
              <a:rPr sz="1150" b="0">
                <a:solidFill>
                  <a:srgbClr val="161B26"/>
                </a:solidFill>
                <a:latin typeface="Arial"/>
              </a:rPr>
              <a:t>•  Something usable on site</a:t>
            </a:r>
          </a:p>
        </p:txBody>
      </p:sp>
      <p:sp>
        <p:nvSpPr>
          <p:cNvPr id="36" name="TextBox 35"/>
          <p:cNvSpPr txBox="1"/>
          <p:nvPr/>
        </p:nvSpPr>
        <p:spPr>
          <a:xfrm>
            <a:off x="8305800" y="5184648"/>
            <a:ext cx="2904744" cy="292608"/>
          </a:xfrm>
          <a:prstGeom prst="rect">
            <a:avLst/>
          </a:prstGeom>
          <a:noFill/>
        </p:spPr>
        <p:txBody>
          <a:bodyPr wrap="square" anchor="t">
            <a:spAutoFit/>
          </a:bodyPr>
          <a:lstStyle/>
          <a:p>
            <a:pPr algn="l">
              <a:spcAft>
                <a:spcPts val="400"/>
              </a:spcAft>
            </a:pPr>
            <a:r>
              <a:rPr sz="1100" b="1">
                <a:solidFill>
                  <a:srgbClr val="C03939"/>
                </a:solidFill>
                <a:latin typeface="Arial"/>
              </a:rPr>
              <a:t>FRUSTRATIONS</a:t>
            </a:r>
          </a:p>
        </p:txBody>
      </p:sp>
      <p:sp>
        <p:nvSpPr>
          <p:cNvPr id="37" name="TextBox 36"/>
          <p:cNvSpPr txBox="1"/>
          <p:nvPr/>
        </p:nvSpPr>
        <p:spPr>
          <a:xfrm>
            <a:off x="8305800" y="5477256"/>
            <a:ext cx="2904744" cy="1371600"/>
          </a:xfrm>
          <a:prstGeom prst="rect">
            <a:avLst/>
          </a:prstGeom>
          <a:noFill/>
        </p:spPr>
        <p:txBody>
          <a:bodyPr wrap="square">
            <a:spAutoFit/>
          </a:bodyPr>
          <a:lstStyle/>
          <a:p>
            <a:pPr>
              <a:spcAft>
                <a:spcPts val="500"/>
              </a:spcAft>
            </a:pPr>
            <a:r>
              <a:rPr sz="1150" b="0">
                <a:solidFill>
                  <a:srgbClr val="161B26"/>
                </a:solidFill>
                <a:latin typeface="Arial"/>
              </a:rPr>
              <a:t>•  Typing reports on a phone</a:t>
            </a:r>
          </a:p>
          <a:p>
            <a:pPr>
              <a:spcAft>
                <a:spcPts val="500"/>
              </a:spcAft>
            </a:pPr>
            <a:r>
              <a:rPr sz="1150" b="0">
                <a:solidFill>
                  <a:srgbClr val="161B26"/>
                </a:solidFill>
                <a:latin typeface="Arial"/>
              </a:rPr>
              <a:t>•  Anything with training</a:t>
            </a:r>
          </a:p>
        </p:txBody>
      </p:sp>
      <p:sp>
        <p:nvSpPr>
          <p:cNvPr id="38" name="TextBox 37"/>
          <p:cNvSpPr txBox="1"/>
          <p:nvPr/>
        </p:nvSpPr>
        <p:spPr>
          <a:xfrm>
            <a:off x="777240" y="605332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buying-committee personas, grounded in this course's role-play scenario</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T5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Land-and-Expand: Why the Second Sale Is Easier Than the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Salesforce</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Salesforce built its growth on the land-and-expand model — win a small team first, prove value, then expand across departments. The principle generalises: the cheapest deal you will ever close is the next one with a customer who has already felt a win.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ROLE PLAY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Selling Techniques &amp; Problem-Solving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Alex is a sales rep for a CRM platform. Emma is Marketing Director at Northlight Retail, a growing Singapore chain with 14 outlets. Her team runs campaigns from a mix of spreadsheets, a mailing tool and WhatsApp groups. Last quarter a promotion went out twice to the same 4,000 customers, and a complaint reached the CEO.</a:t>
            </a:r>
          </a:p>
          <a:p>
            <a:pPr algn="l">
              <a:spcAft>
                <a:spcPts val="800"/>
              </a:spcAft>
            </a:pPr>
            <a:r>
              <a:rPr sz="1450" b="0">
                <a:solidFill>
                  <a:srgbClr val="161B26"/>
                </a:solidFill>
                <a:latin typeface="Arial"/>
              </a:rPr>
              <a:t>Emma has already had one discovery call with Alex and agreed to a 45-minute demo. She is genuinely interested but has two unspoken worries: her team is not technical, and she has to justify any new spend to a finance director who has just frozen new software purchases.</a:t>
            </a:r>
          </a:p>
          <a:p>
            <a:pPr algn="l">
              <a:spcAft>
                <a:spcPts val="800"/>
              </a:spcAft>
            </a:pPr>
            <a:r>
              <a:rPr sz="1450" b="0">
                <a:solidFill>
                  <a:srgbClr val="161B26"/>
                </a:solidFill>
                <a:latin typeface="Arial"/>
              </a:rPr>
              <a:t>The scene covers the demo itself — Educate, Demonstrate, Buy-In — with mini closes along the way, then Emma's concern about ease of use, and finally Alex's decision about whether (and when) to raise the automation add-on that would genuinely help her, without derailing the core deal.</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Demo &amp; Upsell Observer Scorecard citing the three problem-mapped features, the mini closes used, and the upsell timing decision with its signal</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1 hour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ROLE PLAY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Selling Techniques &amp; Problem-Solving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Alex — Sales Rep, CRM Platform</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Run a problem-led demo, earn buy-in with mini closes, and judge the upsell moment</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Must resist demoing all 20 features. Only three of them map to what Emma actually said. The upsell is real and useful — but raising it before Emma has committed to the core product will cost the deal.</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Emma — Marketing Director, Northlight Retail</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Decide whether this solves the duplicate-send problem without breaking her team</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Interested but cautious. Will ask 'how easy is it for my team to get started?' — the real question underneath is 'will I be blamed if they don't use it?' She has a finance director who has frozen new spend.</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Observer / Coach</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Score the demo structure, the mini closes and the upsell timing</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Tracks whether Alex educated before demonstrating, how many mini closes were used and whether they were genuine, and whether the upsell was raised at a moment Emma was ready for — quoting the exact lines.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wipe dir="l"/>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ROLE PLAY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Selling Techniques &amp; Problem-Solving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234184"/>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234184"/>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597152" y="2148840"/>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Did Alex educate before demonstrating, or jump straight to the product? What was the cost either way?</a:t>
            </a:r>
          </a:p>
        </p:txBody>
      </p:sp>
      <p:sp>
        <p:nvSpPr>
          <p:cNvPr id="13" name="Rectangle 12"/>
          <p:cNvSpPr/>
          <p:nvPr/>
        </p:nvSpPr>
        <p:spPr>
          <a:xfrm>
            <a:off x="777240" y="2828544"/>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828544"/>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2913888"/>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2913888"/>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597152" y="2828544"/>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Which three features did Alex choose to show — and were they the three Emma actually named?</a:t>
            </a:r>
          </a:p>
        </p:txBody>
      </p:sp>
      <p:sp>
        <p:nvSpPr>
          <p:cNvPr id="18" name="Rectangle 17"/>
          <p:cNvSpPr/>
          <p:nvPr/>
        </p:nvSpPr>
        <p:spPr>
          <a:xfrm>
            <a:off x="777240" y="3508248"/>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508248"/>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3593592"/>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3593592"/>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597152" y="3508248"/>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Count the mini closes. Which ones were genuine checks, and which were rhetorical questions that didn't invite a real answer?</a:t>
            </a:r>
          </a:p>
        </p:txBody>
      </p:sp>
      <p:sp>
        <p:nvSpPr>
          <p:cNvPr id="23" name="Rectangle 22"/>
          <p:cNvSpPr/>
          <p:nvPr/>
        </p:nvSpPr>
        <p:spPr>
          <a:xfrm>
            <a:off x="777240" y="4187952"/>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187952"/>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4273296"/>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4273296"/>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597152" y="4187952"/>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Emma asked 'how easy is it to get started?' What was the real question underneath, and did Alex answer that one?</a:t>
            </a:r>
          </a:p>
        </p:txBody>
      </p:sp>
      <p:sp>
        <p:nvSpPr>
          <p:cNvPr id="28" name="Rectangle 27"/>
          <p:cNvSpPr/>
          <p:nvPr/>
        </p:nvSpPr>
        <p:spPr>
          <a:xfrm>
            <a:off x="777240" y="4867656"/>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867656"/>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78408" y="4953000"/>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 y="4953000"/>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2" name="TextBox 31"/>
          <p:cNvSpPr txBox="1"/>
          <p:nvPr/>
        </p:nvSpPr>
        <p:spPr>
          <a:xfrm>
            <a:off x="1597152" y="4867656"/>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Was the upsell raised at the right moment? What signal would have told Alex to wait — or to go?</a:t>
            </a:r>
          </a:p>
        </p:txBody>
      </p:sp>
      <p:sp>
        <p:nvSpPr>
          <p:cNvPr id="33" name="Rectangle 32"/>
          <p:cNvSpPr/>
          <p:nvPr/>
        </p:nvSpPr>
        <p:spPr>
          <a:xfrm>
            <a:off x="777240" y="5547360"/>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547360"/>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8408" y="5632704"/>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8" y="5632704"/>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7" name="TextBox 36"/>
          <p:cNvSpPr txBox="1"/>
          <p:nvPr/>
        </p:nvSpPr>
        <p:spPr>
          <a:xfrm>
            <a:off x="1597152" y="5547360"/>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How did Alex equip Emma to win the argument with her finance director when he wasn't in the room?</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wipe dir="l"/>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ROLE PLAY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Selling Techniques &amp; Problem-Solving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What did showing fewer features do to the quality of the conversation?</a:t>
            </a:r>
          </a:p>
          <a:p>
            <a:pPr>
              <a:spcAft>
                <a:spcPts val="900"/>
              </a:spcAft>
            </a:pPr>
            <a:r>
              <a:rPr sz="1450" b="0">
                <a:solidFill>
                  <a:srgbClr val="161B26"/>
                </a:solidFill>
                <a:latin typeface="Arial"/>
              </a:rPr>
              <a:t>•  Which mini close would you steal for your own next demo?</a:t>
            </a:r>
          </a:p>
          <a:p>
            <a:pPr>
              <a:spcAft>
                <a:spcPts val="900"/>
              </a:spcAft>
            </a:pPr>
            <a:r>
              <a:rPr sz="1450" b="0">
                <a:solidFill>
                  <a:srgbClr val="161B26"/>
                </a:solidFill>
                <a:latin typeface="Arial"/>
              </a:rPr>
              <a:t>•  Where is the line between a helpful upsell and one that costs you the core deal?</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observer can name the three features shown and tie each to something Emma said, quote at least two genuine mini closes, identify the real question behind 'how easy is it?', and state whether the upsell was correctly timed — with the signal that justified the call.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Selling Techniques &amp; Problem-Solving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Problem-Based Selling</a:t>
            </a:r>
          </a:p>
          <a:p>
            <a:pPr algn="l">
              <a:spcAft>
                <a:spcPts val="300"/>
              </a:spcAft>
            </a:pPr>
            <a:r>
              <a:rPr sz="1100" b="0">
                <a:solidFill>
                  <a:srgbClr val="5B6372"/>
                </a:solidFill>
                <a:latin typeface="Arial"/>
              </a:rPr>
              <a:t>You can now: lead with the customer's stated problem rather than the product's feature list.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Running a Great Demo</a:t>
            </a:r>
          </a:p>
          <a:p>
            <a:pPr algn="l">
              <a:spcAft>
                <a:spcPts val="300"/>
              </a:spcAft>
            </a:pPr>
            <a:r>
              <a:rPr sz="1100" b="0">
                <a:solidFill>
                  <a:srgbClr val="5B6372"/>
                </a:solidFill>
                <a:latin typeface="Arial"/>
              </a:rPr>
              <a:t>You can now: structure a demonstration around Educate, Demonstrate and Buy-In.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Upselling &amp; Cross-Selling</a:t>
            </a:r>
          </a:p>
          <a:p>
            <a:pPr algn="l">
              <a:spcAft>
                <a:spcPts val="300"/>
              </a:spcAft>
            </a:pPr>
            <a:r>
              <a:rPr sz="1100" b="0">
                <a:solidFill>
                  <a:srgbClr val="5B6372"/>
                </a:solidFill>
                <a:latin typeface="Arial"/>
              </a:rPr>
              <a:t>You can now: apply upselling and cross-selling with the right timing and genuine relevance.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Personalisation That Converts</a:t>
            </a:r>
          </a:p>
          <a:p>
            <a:pPr algn="l">
              <a:spcAft>
                <a:spcPts val="300"/>
              </a:spcAft>
            </a:pPr>
            <a:r>
              <a:rPr sz="1100" b="0">
                <a:solidFill>
                  <a:srgbClr val="5B6372"/>
                </a:solidFill>
                <a:latin typeface="Arial"/>
              </a:rPr>
              <a:t>You can now: personalise a recommendation to the buyer's stated problem rather than a generic pitch.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Champion Selling</a:t>
            </a:r>
          </a:p>
          <a:p>
            <a:pPr algn="l">
              <a:spcAft>
                <a:spcPts val="300"/>
              </a:spcAft>
            </a:pPr>
            <a:r>
              <a:rPr sz="1100" b="0">
                <a:solidFill>
                  <a:srgbClr val="5B6372"/>
                </a:solidFill>
                <a:latin typeface="Arial"/>
              </a:rPr>
              <a:t>You can now: identify, equip and mobilise an internal champion across the buying committee.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 Play: Selling Techniques &amp; Problem-Solving</a:t>
            </a:r>
          </a:p>
          <a:p>
            <a:pPr algn="l">
              <a:spcAft>
                <a:spcPts val="300"/>
              </a:spcAft>
            </a:pPr>
            <a:r>
              <a:rPr sz="1100" b="0">
                <a:solidFill>
                  <a:srgbClr val="5B6372"/>
                </a:solidFill>
                <a:latin typeface="Arial"/>
              </a:rPr>
              <a:t>You practised: run a problem-led demo, apply mini closes, and time an upsell correctly.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demo that only shows features is a lecture. A demo that solves a stated problem is a conversation.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LU2: Selling Techniques &amp; Problem-Solving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zoom/>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Closing the Sale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Buying Signals · Closing Techniques · Justifying Price · Easy to Buy · Follow-Up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push dir="l"/>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Closing the Sale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close is the culmination of the whole sales cycle, not a single trick — read verbal, behavioural and digital buying signals before you ever ask.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Choose an ethical close that fits the moment — Summary, Thermometer, Test Drive or Empathy Close — never manufactured urgency or pressure.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Justify price with value and ROI before discounting is even on the table; frequent discounting quietly devalues everything else you said.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Make it easy to buy: simple contracts, a dated mutual action plan with named owners, and de-risked options like a pilot.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Follow up properly: 80% of sales need 5-12 touches across a 17-21 day window, and every touch must carry new value.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PROPER FOLLOW 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17-21 Day Follow-Up Cadence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Most sales need 5 or more follow-up touches — space them roughly 2-3 days apart across a 17-21 day window instead of one call and silence.</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40177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2" name="TextBox 11"/>
          <p:cNvSpPr txBox="1"/>
          <p:nvPr/>
        </p:nvSpPr>
        <p:spPr>
          <a:xfrm>
            <a:off x="905256"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Day 1</a:t>
            </a:r>
          </a:p>
        </p:txBody>
      </p:sp>
      <p:sp>
        <p:nvSpPr>
          <p:cNvPr id="13" name="TextBox 12"/>
          <p:cNvSpPr txBox="1"/>
          <p:nvPr/>
        </p:nvSpPr>
        <p:spPr>
          <a:xfrm>
            <a:off x="905256"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Thank the prospect and reiterate benefits in their own words.</a:t>
            </a:r>
          </a:p>
        </p:txBody>
      </p:sp>
      <p:sp>
        <p:nvSpPr>
          <p:cNvPr id="14" name="TextBox 13"/>
          <p:cNvSpPr txBox="1"/>
          <p:nvPr/>
        </p:nvSpPr>
        <p:spPr>
          <a:xfrm>
            <a:off x="266639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5" name="Rectangle 14"/>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8353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9" name="TextBox 18"/>
          <p:cNvSpPr txBox="1"/>
          <p:nvPr/>
        </p:nvSpPr>
        <p:spPr>
          <a:xfrm>
            <a:off x="3087014"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Day 3-4</a:t>
            </a:r>
          </a:p>
        </p:txBody>
      </p:sp>
      <p:sp>
        <p:nvSpPr>
          <p:cNvPr id="20" name="TextBox 19"/>
          <p:cNvSpPr txBox="1"/>
          <p:nvPr/>
        </p:nvSpPr>
        <p:spPr>
          <a:xfrm>
            <a:off x="3087014"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New value touch — a relevant insight, not just 'checking in.'</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652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6" name="TextBox 25"/>
          <p:cNvSpPr txBox="1"/>
          <p:nvPr/>
        </p:nvSpPr>
        <p:spPr>
          <a:xfrm>
            <a:off x="5268772"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Day 7-8</a:t>
            </a:r>
          </a:p>
        </p:txBody>
      </p:sp>
      <p:sp>
        <p:nvSpPr>
          <p:cNvPr id="27" name="TextBox 26"/>
          <p:cNvSpPr txBox="1"/>
          <p:nvPr/>
        </p:nvSpPr>
        <p:spPr>
          <a:xfrm>
            <a:off x="5268772"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Address any open concern directly; re-confirm the timeline.</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4704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3" name="TextBox 32"/>
          <p:cNvSpPr txBox="1"/>
          <p:nvPr/>
        </p:nvSpPr>
        <p:spPr>
          <a:xfrm>
            <a:off x="7450530"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Day 14</a:t>
            </a:r>
          </a:p>
        </p:txBody>
      </p:sp>
      <p:sp>
        <p:nvSpPr>
          <p:cNvPr id="34" name="TextBox 33"/>
          <p:cNvSpPr txBox="1"/>
          <p:nvPr/>
        </p:nvSpPr>
        <p:spPr>
          <a:xfrm>
            <a:off x="7450530"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A fresh angle — a case example or a testimonial, not a repeat pitch.</a:t>
            </a:r>
          </a:p>
        </p:txBody>
      </p:sp>
      <p:sp>
        <p:nvSpPr>
          <p:cNvPr id="35" name="TextBox 34"/>
          <p:cNvSpPr txBox="1"/>
          <p:nvPr/>
        </p:nvSpPr>
        <p:spPr>
          <a:xfrm>
            <a:off x="9211664"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6" name="Rectangle 35"/>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28807"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40" name="TextBox 39"/>
          <p:cNvSpPr txBox="1"/>
          <p:nvPr/>
        </p:nvSpPr>
        <p:spPr>
          <a:xfrm>
            <a:off x="9632288"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Day 17-21</a:t>
            </a:r>
          </a:p>
        </p:txBody>
      </p:sp>
      <p:sp>
        <p:nvSpPr>
          <p:cNvPr id="41" name="TextBox 40"/>
          <p:cNvSpPr txBox="1"/>
          <p:nvPr/>
        </p:nvSpPr>
        <p:spPr>
          <a:xfrm>
            <a:off x="9632288"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Final proper check-in; respect the answer either way.</a:t>
            </a:r>
          </a:p>
        </p:txBody>
      </p:sp>
      <p:sp>
        <p:nvSpPr>
          <p:cNvPr id="42" name="Rectangle 4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80% of sales need 5-12 follow-ups — and most sellers stop after just one.</a:t>
            </a:r>
          </a:p>
        </p:txBody>
      </p:sp>
      <p:sp>
        <p:nvSpPr>
          <p:cNvPr id="45" name="TextBox 4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6" name="TextBox 4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SIX CLOSES THAT RESPECT THE BUYER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Empathy-Driven Closing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Six techniques that still work when the buyer knows exactly what you are doing — because none of them depend on pressure.</a:t>
            </a:r>
          </a:p>
        </p:txBody>
      </p:sp>
      <p:sp>
        <p:nvSpPr>
          <p:cNvPr id="8" name="Rectangle 7"/>
          <p:cNvSpPr/>
          <p:nvPr/>
        </p:nvSpPr>
        <p:spPr>
          <a:xfrm>
            <a:off x="777240" y="2103120"/>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103120"/>
            <a:ext cx="3361944" cy="713232"/>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01448" y="2202972"/>
            <a:ext cx="513527" cy="513527"/>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rot="2700000">
            <a:off x="2316992" y="2464871"/>
            <a:ext cx="128381" cy="4108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rot="18900000">
            <a:off x="2386318" y="2434059"/>
            <a:ext cx="236222" cy="4108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1832" y="2944368"/>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Summary Close</a:t>
            </a:r>
          </a:p>
        </p:txBody>
      </p:sp>
      <p:sp>
        <p:nvSpPr>
          <p:cNvPr id="14" name="TextBox 13"/>
          <p:cNvSpPr txBox="1"/>
          <p:nvPr/>
        </p:nvSpPr>
        <p:spPr>
          <a:xfrm>
            <a:off x="941832" y="3346704"/>
            <a:ext cx="3032760" cy="461772"/>
          </a:xfrm>
          <a:prstGeom prst="rect">
            <a:avLst/>
          </a:prstGeom>
          <a:noFill/>
        </p:spPr>
        <p:txBody>
          <a:bodyPr wrap="square" anchor="t">
            <a:spAutoFit/>
          </a:bodyPr>
          <a:lstStyle/>
          <a:p>
            <a:pPr algn="ctr">
              <a:spcAft>
                <a:spcPts val="400"/>
              </a:spcAft>
            </a:pPr>
            <a:r>
              <a:rPr sz="1000" b="0">
                <a:solidFill>
                  <a:srgbClr val="5B6372"/>
                </a:solidFill>
                <a:latin typeface="Arial"/>
              </a:rPr>
              <a:t>Recap the agreement, then ask if it sounds right.</a:t>
            </a:r>
          </a:p>
        </p:txBody>
      </p:sp>
      <p:sp>
        <p:nvSpPr>
          <p:cNvPr id="15" name="Rectangle 14"/>
          <p:cNvSpPr/>
          <p:nvPr/>
        </p:nvSpPr>
        <p:spPr>
          <a:xfrm>
            <a:off x="4413504" y="2103120"/>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13504" y="2103120"/>
            <a:ext cx="3361944" cy="713232"/>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37712" y="2202972"/>
            <a:ext cx="513527" cy="513527"/>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35282" y="2490547"/>
            <a:ext cx="71893" cy="1283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043123" y="2400680"/>
            <a:ext cx="71893" cy="2182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50963" y="2323651"/>
            <a:ext cx="71893" cy="29527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78096" y="2944368"/>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Visual Close</a:t>
            </a:r>
          </a:p>
        </p:txBody>
      </p:sp>
      <p:sp>
        <p:nvSpPr>
          <p:cNvPr id="22" name="TextBox 21"/>
          <p:cNvSpPr txBox="1"/>
          <p:nvPr/>
        </p:nvSpPr>
        <p:spPr>
          <a:xfrm>
            <a:off x="4578096" y="3346704"/>
            <a:ext cx="3032760" cy="461772"/>
          </a:xfrm>
          <a:prstGeom prst="rect">
            <a:avLst/>
          </a:prstGeom>
          <a:noFill/>
        </p:spPr>
        <p:txBody>
          <a:bodyPr wrap="square" anchor="t">
            <a:spAutoFit/>
          </a:bodyPr>
          <a:lstStyle/>
          <a:p>
            <a:pPr algn="ctr">
              <a:spcAft>
                <a:spcPts val="400"/>
              </a:spcAft>
            </a:pPr>
            <a:r>
              <a:rPr sz="1000" b="0">
                <a:solidFill>
                  <a:srgbClr val="5B6372"/>
                </a:solidFill>
                <a:latin typeface="Arial"/>
              </a:rPr>
              <a:t>Show the decision as a chart, timeline or checklist.</a:t>
            </a:r>
          </a:p>
        </p:txBody>
      </p:sp>
      <p:sp>
        <p:nvSpPr>
          <p:cNvPr id="23" name="Rectangle 22"/>
          <p:cNvSpPr/>
          <p:nvPr/>
        </p:nvSpPr>
        <p:spPr>
          <a:xfrm>
            <a:off x="8049768" y="2103120"/>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49768" y="2103120"/>
            <a:ext cx="3361944" cy="713232"/>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73976" y="2202972"/>
            <a:ext cx="513527" cy="513527"/>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ircular Arrow 25"/>
          <p:cNvSpPr/>
          <p:nvPr/>
        </p:nvSpPr>
        <p:spPr>
          <a:xfrm>
            <a:off x="9499652" y="2228648"/>
            <a:ext cx="462174" cy="462174"/>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14360" y="2944368"/>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Backwards Close</a:t>
            </a:r>
          </a:p>
        </p:txBody>
      </p:sp>
      <p:sp>
        <p:nvSpPr>
          <p:cNvPr id="28" name="TextBox 27"/>
          <p:cNvSpPr txBox="1"/>
          <p:nvPr/>
        </p:nvSpPr>
        <p:spPr>
          <a:xfrm>
            <a:off x="8214360" y="3346704"/>
            <a:ext cx="3032760" cy="461772"/>
          </a:xfrm>
          <a:prstGeom prst="rect">
            <a:avLst/>
          </a:prstGeom>
          <a:noFill/>
        </p:spPr>
        <p:txBody>
          <a:bodyPr wrap="square" anchor="t">
            <a:spAutoFit/>
          </a:bodyPr>
          <a:lstStyle/>
          <a:p>
            <a:pPr algn="ctr">
              <a:spcAft>
                <a:spcPts val="400"/>
              </a:spcAft>
            </a:pPr>
            <a:r>
              <a:rPr sz="1150" b="0">
                <a:solidFill>
                  <a:srgbClr val="5B6372"/>
                </a:solidFill>
                <a:latin typeface="Arial"/>
              </a:rPr>
              <a:t>Ask who else needs this — fit over any fit.</a:t>
            </a:r>
          </a:p>
        </p:txBody>
      </p:sp>
      <p:sp>
        <p:nvSpPr>
          <p:cNvPr id="29" name="Rectangle 28"/>
          <p:cNvSpPr/>
          <p:nvPr/>
        </p:nvSpPr>
        <p:spPr>
          <a:xfrm>
            <a:off x="777240" y="4174236"/>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77240" y="4174236"/>
            <a:ext cx="3361944" cy="713232"/>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201448" y="4274088"/>
            <a:ext cx="513527" cy="513527"/>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ular Callout 31"/>
          <p:cNvSpPr/>
          <p:nvPr/>
        </p:nvSpPr>
        <p:spPr>
          <a:xfrm>
            <a:off x="2288748" y="4381929"/>
            <a:ext cx="338927" cy="256763"/>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41832" y="5015484"/>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Storytelling Close</a:t>
            </a:r>
          </a:p>
        </p:txBody>
      </p:sp>
      <p:sp>
        <p:nvSpPr>
          <p:cNvPr id="34" name="TextBox 33"/>
          <p:cNvSpPr txBox="1"/>
          <p:nvPr/>
        </p:nvSpPr>
        <p:spPr>
          <a:xfrm>
            <a:off x="941832" y="5417820"/>
            <a:ext cx="3032760" cy="461772"/>
          </a:xfrm>
          <a:prstGeom prst="rect">
            <a:avLst/>
          </a:prstGeom>
          <a:noFill/>
        </p:spPr>
        <p:txBody>
          <a:bodyPr wrap="square" anchor="t">
            <a:spAutoFit/>
          </a:bodyPr>
          <a:lstStyle/>
          <a:p>
            <a:pPr algn="ctr">
              <a:spcAft>
                <a:spcPts val="400"/>
              </a:spcAft>
            </a:pPr>
            <a:r>
              <a:rPr sz="1150" b="0">
                <a:solidFill>
                  <a:srgbClr val="5B6372"/>
                </a:solidFill>
                <a:latin typeface="Arial"/>
              </a:rPr>
              <a:t>A case study they can see themselves inside.</a:t>
            </a:r>
          </a:p>
        </p:txBody>
      </p:sp>
      <p:sp>
        <p:nvSpPr>
          <p:cNvPr id="35" name="Rectangle 34"/>
          <p:cNvSpPr/>
          <p:nvPr/>
        </p:nvSpPr>
        <p:spPr>
          <a:xfrm>
            <a:off x="4413504" y="4174236"/>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413504" y="4174236"/>
            <a:ext cx="3361944" cy="713232"/>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837712" y="4274088"/>
            <a:ext cx="513527" cy="513527"/>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onut 37"/>
          <p:cNvSpPr/>
          <p:nvPr/>
        </p:nvSpPr>
        <p:spPr>
          <a:xfrm>
            <a:off x="5899335" y="4335711"/>
            <a:ext cx="390280" cy="390280"/>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6027717" y="4464093"/>
            <a:ext cx="133517" cy="13351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8096" y="5015484"/>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Thermometer Close</a:t>
            </a:r>
          </a:p>
        </p:txBody>
      </p:sp>
      <p:sp>
        <p:nvSpPr>
          <p:cNvPr id="41" name="TextBox 40"/>
          <p:cNvSpPr txBox="1"/>
          <p:nvPr/>
        </p:nvSpPr>
        <p:spPr>
          <a:xfrm>
            <a:off x="4578096" y="5417820"/>
            <a:ext cx="3032760" cy="461772"/>
          </a:xfrm>
          <a:prstGeom prst="rect">
            <a:avLst/>
          </a:prstGeom>
          <a:noFill/>
        </p:spPr>
        <p:txBody>
          <a:bodyPr wrap="square" anchor="t">
            <a:spAutoFit/>
          </a:bodyPr>
          <a:lstStyle/>
          <a:p>
            <a:pPr algn="ctr">
              <a:spcAft>
                <a:spcPts val="400"/>
              </a:spcAft>
            </a:pPr>
            <a:r>
              <a:rPr sz="1150" b="0">
                <a:solidFill>
                  <a:srgbClr val="5B6372"/>
                </a:solidFill>
                <a:latin typeface="Arial"/>
              </a:rPr>
              <a:t>"One to ten — and why not a ten?"</a:t>
            </a:r>
          </a:p>
        </p:txBody>
      </p:sp>
      <p:sp>
        <p:nvSpPr>
          <p:cNvPr id="42" name="Rectangle 41"/>
          <p:cNvSpPr/>
          <p:nvPr/>
        </p:nvSpPr>
        <p:spPr>
          <a:xfrm>
            <a:off x="8049768" y="4174236"/>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049768" y="4174236"/>
            <a:ext cx="3361944" cy="713232"/>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473976" y="4274088"/>
            <a:ext cx="513527" cy="513527"/>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entagon 44"/>
          <p:cNvSpPr/>
          <p:nvPr/>
        </p:nvSpPr>
        <p:spPr>
          <a:xfrm rot="5400000">
            <a:off x="9581817" y="4381929"/>
            <a:ext cx="297845" cy="297845"/>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214360" y="5015484"/>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Assumptive Close</a:t>
            </a:r>
          </a:p>
        </p:txBody>
      </p:sp>
      <p:sp>
        <p:nvSpPr>
          <p:cNvPr id="47" name="TextBox 46"/>
          <p:cNvSpPr txBox="1"/>
          <p:nvPr/>
        </p:nvSpPr>
        <p:spPr>
          <a:xfrm>
            <a:off x="8214360" y="5417820"/>
            <a:ext cx="3032760" cy="461772"/>
          </a:xfrm>
          <a:prstGeom prst="rect">
            <a:avLst/>
          </a:prstGeom>
          <a:noFill/>
        </p:spPr>
        <p:txBody>
          <a:bodyPr wrap="square" anchor="t">
            <a:spAutoFit/>
          </a:bodyPr>
          <a:lstStyle/>
          <a:p>
            <a:pPr algn="ctr">
              <a:spcAft>
                <a:spcPts val="400"/>
              </a:spcAft>
            </a:pPr>
            <a:r>
              <a:rPr sz="1150" b="0">
                <a:solidFill>
                  <a:srgbClr val="5B6372"/>
                </a:solidFill>
                <a:latin typeface="Arial"/>
              </a:rPr>
              <a:t>Address the concern, then move to logistics.</a:t>
            </a:r>
          </a:p>
        </p:txBody>
      </p:sp>
      <p:sp>
        <p:nvSpPr>
          <p:cNvPr id="48" name="TextBox 47"/>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empathy-driven sales-closing techniques (mapmycustomers; monday.com; Indeed)</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Close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Close?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close is not a moment of pressure at the end. It is the natural consequence of everything you did before it.</a:t>
            </a:r>
          </a:p>
        </p:txBody>
      </p:sp>
      <p:sp>
        <p:nvSpPr>
          <p:cNvPr id="8" name="Rectangle 7"/>
          <p:cNvSpPr/>
          <p:nvPr/>
        </p:nvSpPr>
        <p:spPr>
          <a:xfrm>
            <a:off x="777240"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09444"/>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46604"/>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805254" y="2654320"/>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2046198" y="2654320"/>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1782577" y="2835737"/>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2026356" y="2835737"/>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41832"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Build Rapport</a:t>
            </a:r>
          </a:p>
        </p:txBody>
      </p:sp>
      <p:sp>
        <p:nvSpPr>
          <p:cNvPr id="16" name="TextBox 15"/>
          <p:cNvSpPr txBox="1"/>
          <p:nvPr/>
        </p:nvSpPr>
        <p:spPr>
          <a:xfrm>
            <a:off x="941832"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Establish a genuine connection with the prospect.</a:t>
            </a:r>
          </a:p>
        </p:txBody>
      </p:sp>
      <p:sp>
        <p:nvSpPr>
          <p:cNvPr id="17" name="Rectangle 16"/>
          <p:cNvSpPr/>
          <p:nvPr/>
        </p:nvSpPr>
        <p:spPr>
          <a:xfrm>
            <a:off x="3504438"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04438" y="2409444"/>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47413" y="2546604"/>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55129" y="2864083"/>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674184" y="2764871"/>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793239" y="2679832"/>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69030"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Present Value</a:t>
            </a:r>
          </a:p>
        </p:txBody>
      </p:sp>
      <p:sp>
        <p:nvSpPr>
          <p:cNvPr id="24" name="TextBox 23"/>
          <p:cNvSpPr txBox="1"/>
          <p:nvPr/>
        </p:nvSpPr>
        <p:spPr>
          <a:xfrm>
            <a:off x="3669030"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Demonstrate the benefit in the buyer's own terms.</a:t>
            </a:r>
          </a:p>
        </p:txBody>
      </p:sp>
      <p:sp>
        <p:nvSpPr>
          <p:cNvPr id="25" name="Rectangle 24"/>
          <p:cNvSpPr/>
          <p:nvPr/>
        </p:nvSpPr>
        <p:spPr>
          <a:xfrm>
            <a:off x="6231636"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31636" y="2409444"/>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174611" y="2546604"/>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rot="2700000">
            <a:off x="7302169" y="2835737"/>
            <a:ext cx="141732"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rot="18900000">
            <a:off x="7378705" y="2801721"/>
            <a:ext cx="260786"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396228"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Ask Clearly</a:t>
            </a:r>
          </a:p>
        </p:txBody>
      </p:sp>
      <p:sp>
        <p:nvSpPr>
          <p:cNvPr id="31" name="TextBox 30"/>
          <p:cNvSpPr txBox="1"/>
          <p:nvPr/>
        </p:nvSpPr>
        <p:spPr>
          <a:xfrm>
            <a:off x="6396228" y="4037076"/>
            <a:ext cx="2123694" cy="1536192"/>
          </a:xfrm>
          <a:prstGeom prst="rect">
            <a:avLst/>
          </a:prstGeom>
          <a:noFill/>
        </p:spPr>
        <p:txBody>
          <a:bodyPr wrap="square" anchor="t">
            <a:spAutoFit/>
          </a:bodyPr>
          <a:lstStyle/>
          <a:p>
            <a:pPr algn="ctr">
              <a:spcAft>
                <a:spcPts val="400"/>
              </a:spcAft>
            </a:pPr>
            <a:r>
              <a:rPr sz="1150" b="0">
                <a:solidFill>
                  <a:srgbClr val="5B6372"/>
                </a:solidFill>
                <a:latin typeface="Arial"/>
              </a:rPr>
              <a:t>Finalise with an explicit, confident request.</a:t>
            </a:r>
          </a:p>
        </p:txBody>
      </p:sp>
      <p:sp>
        <p:nvSpPr>
          <p:cNvPr id="32" name="Rectangle 31"/>
          <p:cNvSpPr/>
          <p:nvPr/>
        </p:nvSpPr>
        <p:spPr>
          <a:xfrm>
            <a:off x="8958834"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958834" y="2409444"/>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01809" y="2546604"/>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5-Point Star 34"/>
          <p:cNvSpPr/>
          <p:nvPr/>
        </p:nvSpPr>
        <p:spPr>
          <a:xfrm>
            <a:off x="9981178" y="2625973"/>
            <a:ext cx="408188" cy="408188"/>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123426"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Culmination</a:t>
            </a:r>
          </a:p>
        </p:txBody>
      </p:sp>
      <p:sp>
        <p:nvSpPr>
          <p:cNvPr id="37" name="TextBox 36"/>
          <p:cNvSpPr txBox="1"/>
          <p:nvPr/>
        </p:nvSpPr>
        <p:spPr>
          <a:xfrm>
            <a:off x="9123426"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The end result of the cycle — never an isolated trick.</a:t>
            </a:r>
          </a:p>
        </p:txBody>
      </p:sp>
      <p:sp>
        <p:nvSpPr>
          <p:cNvPr id="38" name="TextBox 37"/>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sales-cycle and closing practice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Reading the Room Before You Ask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Watch</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Track verbal, behavioural and digital signals.</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Test</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Use a trial close to check readiness safely.</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Isolate</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"Outside of that, is there anything else?"</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Ask</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Make the request plainly, then stop talking.</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Nearly half of sales calls end without the seller ever asking. The silence after the ask belongs to the buyer — do not fill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closing practice; isolation question (alexberman.com)</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Pushy Closing vs Empathy-Driven Closing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Pushy Closing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Empathy-Driven Closing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Manufactured urgency: "this price ends tonight."</a:t>
            </a:r>
          </a:p>
          <a:p>
            <a:pPr>
              <a:spcAft>
                <a:spcPts val="1000"/>
              </a:spcAft>
            </a:pPr>
            <a:r>
              <a:rPr sz="1600" b="0">
                <a:solidFill>
                  <a:srgbClr val="161B26"/>
                </a:solidFill>
                <a:latin typeface="Arial"/>
              </a:rPr>
              <a:t>•  Treats the objection as an obstacle to steamroll.</a:t>
            </a:r>
          </a:p>
          <a:p>
            <a:pPr>
              <a:spcAft>
                <a:spcPts val="1000"/>
              </a:spcAft>
            </a:pPr>
            <a:r>
              <a:rPr sz="1600" b="0">
                <a:solidFill>
                  <a:srgbClr val="161B26"/>
                </a:solidFill>
                <a:latin typeface="Arial"/>
              </a:rPr>
              <a:t>•  Asks for the signature regardless of readiness.</a:t>
            </a:r>
          </a:p>
          <a:p>
            <a:pPr>
              <a:spcAft>
                <a:spcPts val="1000"/>
              </a:spcAft>
            </a:pPr>
            <a:r>
              <a:rPr sz="1600" b="0">
                <a:solidFill>
                  <a:srgbClr val="161B26"/>
                </a:solidFill>
                <a:latin typeface="Arial"/>
              </a:rPr>
              <a:t>•  Wins the deal, loses the referral and the renewal.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Real deadlines only, stated plainly and honestly.</a:t>
            </a:r>
          </a:p>
          <a:p>
            <a:pPr>
              <a:spcAft>
                <a:spcPts val="1000"/>
              </a:spcAft>
            </a:pPr>
            <a:r>
              <a:rPr sz="1600" b="0">
                <a:solidFill>
                  <a:srgbClr val="161B26"/>
                </a:solidFill>
                <a:latin typeface="Arial"/>
              </a:rPr>
              <a:t>•  Treats the objection as information to work with.</a:t>
            </a:r>
          </a:p>
          <a:p>
            <a:pPr>
              <a:spcAft>
                <a:spcPts val="1000"/>
              </a:spcAft>
            </a:pPr>
            <a:r>
              <a:rPr sz="1600" b="0">
                <a:solidFill>
                  <a:srgbClr val="161B26"/>
                </a:solidFill>
                <a:latin typeface="Arial"/>
              </a:rPr>
              <a:t>•  Asks when the signals say the buyer is ready.</a:t>
            </a:r>
          </a:p>
          <a:p>
            <a:pPr>
              <a:spcAft>
                <a:spcPts val="1000"/>
              </a:spcAft>
            </a:pPr>
            <a:r>
              <a:rPr sz="1600" b="0">
                <a:solidFill>
                  <a:srgbClr val="161B26"/>
                </a:solidFill>
                <a:latin typeface="Arial"/>
              </a:rPr>
              <a:t>•  Wins the deal, the referral and the renewal.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empathy-driven closing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Buying Signals — What 'Ready' Actually Looks Like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Stop guessing. Buyers tell you they are ready in three distinct channels.</a:t>
            </a:r>
          </a:p>
        </p:txBody>
      </p:sp>
      <p:sp>
        <p:nvSpPr>
          <p:cNvPr id="8" name="Rectangle 7"/>
          <p:cNvSpPr/>
          <p:nvPr/>
        </p:nvSpPr>
        <p:spPr>
          <a:xfrm>
            <a:off x="777240"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09444"/>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46604"/>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ular Callout 10"/>
          <p:cNvSpPr/>
          <p:nvPr/>
        </p:nvSpPr>
        <p:spPr>
          <a:xfrm>
            <a:off x="1816592" y="2665658"/>
            <a:ext cx="374172" cy="283464"/>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Verbal</a:t>
            </a:r>
          </a:p>
        </p:txBody>
      </p:sp>
      <p:sp>
        <p:nvSpPr>
          <p:cNvPr id="13" name="TextBox 12"/>
          <p:cNvSpPr txBox="1"/>
          <p:nvPr/>
        </p:nvSpPr>
        <p:spPr>
          <a:xfrm>
            <a:off x="941832"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Asks about price, contract terms or implementation.</a:t>
            </a:r>
          </a:p>
        </p:txBody>
      </p:sp>
      <p:sp>
        <p:nvSpPr>
          <p:cNvPr id="14" name="Rectangle 13"/>
          <p:cNvSpPr/>
          <p:nvPr/>
        </p:nvSpPr>
        <p:spPr>
          <a:xfrm>
            <a:off x="3504438"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409444"/>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47413" y="2546604"/>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32452" y="2654320"/>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773396" y="2654320"/>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509775" y="2835737"/>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753554" y="2835737"/>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69030"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Verbal</a:t>
            </a:r>
          </a:p>
        </p:txBody>
      </p:sp>
      <p:sp>
        <p:nvSpPr>
          <p:cNvPr id="22" name="TextBox 21"/>
          <p:cNvSpPr txBox="1"/>
          <p:nvPr/>
        </p:nvSpPr>
        <p:spPr>
          <a:xfrm>
            <a:off x="3669030"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Requests references or mentions internal approval.</a:t>
            </a:r>
          </a:p>
        </p:txBody>
      </p:sp>
      <p:sp>
        <p:nvSpPr>
          <p:cNvPr id="23" name="Rectangle 22"/>
          <p:cNvSpPr/>
          <p:nvPr/>
        </p:nvSpPr>
        <p:spPr>
          <a:xfrm>
            <a:off x="6231636"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1636" y="2409444"/>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74611" y="2546604"/>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nut 25"/>
          <p:cNvSpPr/>
          <p:nvPr/>
        </p:nvSpPr>
        <p:spPr>
          <a:xfrm>
            <a:off x="7282327" y="2642981"/>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rot="2700000">
            <a:off x="7503429" y="2886760"/>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96228"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Behavioural</a:t>
            </a:r>
          </a:p>
        </p:txBody>
      </p:sp>
      <p:sp>
        <p:nvSpPr>
          <p:cNvPr id="29" name="TextBox 28"/>
          <p:cNvSpPr txBox="1"/>
          <p:nvPr/>
        </p:nvSpPr>
        <p:spPr>
          <a:xfrm>
            <a:off x="6396228" y="4037076"/>
            <a:ext cx="2123694" cy="1536192"/>
          </a:xfrm>
          <a:prstGeom prst="rect">
            <a:avLst/>
          </a:prstGeom>
          <a:noFill/>
        </p:spPr>
        <p:txBody>
          <a:bodyPr wrap="square" anchor="t">
            <a:spAutoFit/>
          </a:bodyPr>
          <a:lstStyle/>
          <a:p>
            <a:pPr algn="ctr">
              <a:spcAft>
                <a:spcPts val="400"/>
              </a:spcAft>
            </a:pPr>
            <a:r>
              <a:rPr sz="1150" b="0">
                <a:solidFill>
                  <a:srgbClr val="5B6372"/>
                </a:solidFill>
                <a:latin typeface="Arial"/>
              </a:rPr>
              <a:t>Takes notes, leans in, brings in a colleague.</a:t>
            </a:r>
          </a:p>
        </p:txBody>
      </p:sp>
      <p:sp>
        <p:nvSpPr>
          <p:cNvPr id="30" name="Rectangle 29"/>
          <p:cNvSpPr/>
          <p:nvPr/>
        </p:nvSpPr>
        <p:spPr>
          <a:xfrm>
            <a:off x="8958834"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58834" y="2409444"/>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01809" y="2546604"/>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009525" y="2864083"/>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0128580" y="2764871"/>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0247635" y="2679832"/>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123426"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Digital</a:t>
            </a:r>
          </a:p>
        </p:txBody>
      </p:sp>
      <p:sp>
        <p:nvSpPr>
          <p:cNvPr id="37" name="TextBox 36"/>
          <p:cNvSpPr txBox="1"/>
          <p:nvPr/>
        </p:nvSpPr>
        <p:spPr>
          <a:xfrm>
            <a:off x="9123426"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Reopens emails, downloads material, revisits the site.</a:t>
            </a:r>
          </a:p>
        </p:txBody>
      </p:sp>
      <p:sp>
        <p:nvSpPr>
          <p:cNvPr id="38" name="TextBox 37"/>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buying-signal taxonomy (monday.com; sales practice)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Closing Techniques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Closing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There are over a hundred named closes. These are the ones that still work when the buyer knows exactly what you are doing.</a:t>
            </a:r>
          </a:p>
        </p:txBody>
      </p:sp>
      <p:sp>
        <p:nvSpPr>
          <p:cNvPr id="8" name="Rectangle 7"/>
          <p:cNvSpPr/>
          <p:nvPr/>
        </p:nvSpPr>
        <p:spPr>
          <a:xfrm>
            <a:off x="777240"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18588"/>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55748"/>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rot="2700000">
            <a:off x="1847773" y="2844881"/>
            <a:ext cx="141732"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rot="18900000">
            <a:off x="1924309" y="2810865"/>
            <a:ext cx="260786"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1832"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Summary Close</a:t>
            </a:r>
          </a:p>
        </p:txBody>
      </p:sp>
      <p:sp>
        <p:nvSpPr>
          <p:cNvPr id="14" name="TextBox 13"/>
          <p:cNvSpPr txBox="1"/>
          <p:nvPr/>
        </p:nvSpPr>
        <p:spPr>
          <a:xfrm>
            <a:off x="941832"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Recap what was agreed, then ask if that sounds right.</a:t>
            </a:r>
          </a:p>
        </p:txBody>
      </p:sp>
      <p:sp>
        <p:nvSpPr>
          <p:cNvPr id="15" name="Rectangle 14"/>
          <p:cNvSpPr/>
          <p:nvPr/>
        </p:nvSpPr>
        <p:spPr>
          <a:xfrm>
            <a:off x="3504438"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04438" y="2418588"/>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47413" y="2555748"/>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55129" y="2873227"/>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674184" y="2774015"/>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793239" y="2688976"/>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69030"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Visual Close</a:t>
            </a:r>
          </a:p>
        </p:txBody>
      </p:sp>
      <p:sp>
        <p:nvSpPr>
          <p:cNvPr id="22" name="TextBox 21"/>
          <p:cNvSpPr txBox="1"/>
          <p:nvPr/>
        </p:nvSpPr>
        <p:spPr>
          <a:xfrm>
            <a:off x="3669030"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Show the decision as a chart, timeline or checklist.</a:t>
            </a:r>
          </a:p>
        </p:txBody>
      </p:sp>
      <p:sp>
        <p:nvSpPr>
          <p:cNvPr id="23" name="Rectangle 22"/>
          <p:cNvSpPr/>
          <p:nvPr/>
        </p:nvSpPr>
        <p:spPr>
          <a:xfrm>
            <a:off x="6231636"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1636" y="2418588"/>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74611" y="2555748"/>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nut 25"/>
          <p:cNvSpPr/>
          <p:nvPr/>
        </p:nvSpPr>
        <p:spPr>
          <a:xfrm>
            <a:off x="7242642" y="2623779"/>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7384374" y="2765511"/>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96228"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Thermometer Close</a:t>
            </a:r>
          </a:p>
        </p:txBody>
      </p:sp>
      <p:sp>
        <p:nvSpPr>
          <p:cNvPr id="29" name="TextBox 28"/>
          <p:cNvSpPr txBox="1"/>
          <p:nvPr/>
        </p:nvSpPr>
        <p:spPr>
          <a:xfrm>
            <a:off x="6396228" y="4046220"/>
            <a:ext cx="2123694" cy="1517904"/>
          </a:xfrm>
          <a:prstGeom prst="rect">
            <a:avLst/>
          </a:prstGeom>
          <a:noFill/>
        </p:spPr>
        <p:txBody>
          <a:bodyPr wrap="square" anchor="t">
            <a:spAutoFit/>
          </a:bodyPr>
          <a:lstStyle/>
          <a:p>
            <a:pPr algn="ctr">
              <a:spcAft>
                <a:spcPts val="400"/>
              </a:spcAft>
            </a:pPr>
            <a:r>
              <a:rPr sz="1150" b="0">
                <a:solidFill>
                  <a:srgbClr val="5B6372"/>
                </a:solidFill>
                <a:latin typeface="Arial"/>
              </a:rPr>
              <a:t>"On a scale of one to ten, where are you?"</a:t>
            </a:r>
          </a:p>
        </p:txBody>
      </p:sp>
      <p:sp>
        <p:nvSpPr>
          <p:cNvPr id="30" name="Rectangle 29"/>
          <p:cNvSpPr/>
          <p:nvPr/>
        </p:nvSpPr>
        <p:spPr>
          <a:xfrm>
            <a:off x="8958834"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58834" y="2418588"/>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01809" y="2555748"/>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eart 32"/>
          <p:cNvSpPr/>
          <p:nvPr/>
        </p:nvSpPr>
        <p:spPr>
          <a:xfrm>
            <a:off x="9998186" y="2663464"/>
            <a:ext cx="374172" cy="351495"/>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23426"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Empathy Close</a:t>
            </a:r>
          </a:p>
        </p:txBody>
      </p:sp>
      <p:sp>
        <p:nvSpPr>
          <p:cNvPr id="35" name="TextBox 34"/>
          <p:cNvSpPr txBox="1"/>
          <p:nvPr/>
        </p:nvSpPr>
        <p:spPr>
          <a:xfrm>
            <a:off x="9123426"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Name the concern honestly, then reinforce the value.</a:t>
            </a:r>
          </a:p>
        </p:txBody>
      </p:sp>
      <p:sp>
        <p:nvSpPr>
          <p:cNvPr id="36" name="TextBox 3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empathy-driven closing techniques (mapmycustomers; monday.com)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Which Close Fits the Moment?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345436" y="2148840"/>
            <a:ext cx="7498079" cy="932688"/>
          </a:xfrm>
          <a:prstGeom prst="roundRect">
            <a:avLst/>
          </a:prstGeom>
          <a:solidFill>
            <a:srgbClr val="161B26"/>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345436" y="2148840"/>
            <a:ext cx="7498079" cy="932688"/>
          </a:xfrm>
          <a:prstGeom prst="rect">
            <a:avLst/>
          </a:prstGeom>
          <a:noFill/>
        </p:spPr>
        <p:txBody>
          <a:bodyPr wrap="square" anchor="ctr">
            <a:spAutoFit/>
          </a:bodyPr>
          <a:lstStyle/>
          <a:p>
            <a:pPr algn="ctr">
              <a:spcAft>
                <a:spcPts val="400"/>
              </a:spcAft>
            </a:pPr>
            <a:r>
              <a:rPr sz="1350" b="1">
                <a:solidFill>
                  <a:srgbClr val="FFFFFF"/>
                </a:solidFill>
                <a:latin typeface="Arial"/>
              </a:rPr>
              <a:t>The buyer has heard everything and gone quiet. What do you actually do next?</a:t>
            </a:r>
          </a:p>
        </p:txBody>
      </p:sp>
      <p:cxnSp>
        <p:nvCxnSpPr>
          <p:cNvPr id="9" name="Connector 8"/>
          <p:cNvCxnSpPr/>
          <p:nvPr/>
        </p:nvCxnSpPr>
        <p:spPr>
          <a:xfrm flipH="1">
            <a:off x="2446020" y="3081528"/>
            <a:ext cx="3648456" cy="84124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074420" y="3630168"/>
            <a:ext cx="2743200" cy="457200"/>
          </a:xfrm>
          <a:prstGeom prst="roundRect">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4420" y="3630168"/>
            <a:ext cx="2743200" cy="457200"/>
          </a:xfrm>
          <a:prstGeom prst="rect">
            <a:avLst/>
          </a:prstGeom>
          <a:noFill/>
        </p:spPr>
        <p:txBody>
          <a:bodyPr wrap="square" anchor="ctr">
            <a:spAutoFit/>
          </a:bodyPr>
          <a:lstStyle/>
          <a:p>
            <a:pPr algn="ctr">
              <a:spcAft>
                <a:spcPts val="400"/>
              </a:spcAft>
            </a:pPr>
            <a:r>
              <a:rPr sz="1250" b="1">
                <a:solidFill>
                  <a:srgbClr val="FFFFFF"/>
                </a:solidFill>
                <a:latin typeface="Arial"/>
              </a:rPr>
              <a:t>THEY'RE WARM</a:t>
            </a:r>
          </a:p>
        </p:txBody>
      </p:sp>
      <p:sp>
        <p:nvSpPr>
          <p:cNvPr id="12" name="Rectangle 11"/>
          <p:cNvSpPr/>
          <p:nvPr/>
        </p:nvSpPr>
        <p:spPr>
          <a:xfrm>
            <a:off x="777240" y="4233672"/>
            <a:ext cx="3337560" cy="17099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33672"/>
            <a:ext cx="333756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453128"/>
            <a:ext cx="2935224" cy="457200"/>
          </a:xfrm>
          <a:prstGeom prst="rect">
            <a:avLst/>
          </a:prstGeom>
          <a:noFill/>
        </p:spPr>
        <p:txBody>
          <a:bodyPr wrap="square" anchor="t">
            <a:spAutoFit/>
          </a:bodyPr>
          <a:lstStyle/>
          <a:p>
            <a:pPr algn="ctr">
              <a:spcAft>
                <a:spcPts val="400"/>
              </a:spcAft>
            </a:pPr>
            <a:r>
              <a:rPr sz="1200" b="1">
                <a:solidFill>
                  <a:srgbClr val="161B26"/>
                </a:solidFill>
                <a:latin typeface="Arial"/>
              </a:rPr>
              <a:t>Assumptive or Alternative Close</a:t>
            </a:r>
          </a:p>
        </p:txBody>
      </p:sp>
      <p:sp>
        <p:nvSpPr>
          <p:cNvPr id="15" name="TextBox 14"/>
          <p:cNvSpPr txBox="1"/>
          <p:nvPr/>
        </p:nvSpPr>
        <p:spPr>
          <a:xfrm>
            <a:off x="996696" y="4946904"/>
            <a:ext cx="2898648" cy="649224"/>
          </a:xfrm>
          <a:prstGeom prst="rect">
            <a:avLst/>
          </a:prstGeom>
          <a:noFill/>
        </p:spPr>
        <p:txBody>
          <a:bodyPr wrap="square" anchor="t">
            <a:spAutoFit/>
          </a:bodyPr>
          <a:lstStyle/>
          <a:p>
            <a:pPr algn="ctr">
              <a:spcAft>
                <a:spcPts val="400"/>
              </a:spcAft>
            </a:pPr>
            <a:r>
              <a:rPr sz="1150" b="0">
                <a:solidFill>
                  <a:srgbClr val="5B6372"/>
                </a:solidFill>
                <a:latin typeface="Arial"/>
              </a:rPr>
              <a:t>Move to logistics: "Would you prefer to start this month or next?"</a:t>
            </a:r>
          </a:p>
        </p:txBody>
      </p:sp>
      <p:cxnSp>
        <p:nvCxnSpPr>
          <p:cNvPr id="16" name="Connector 15"/>
          <p:cNvCxnSpPr/>
          <p:nvPr/>
        </p:nvCxnSpPr>
        <p:spPr>
          <a:xfrm>
            <a:off x="6094476" y="3081528"/>
            <a:ext cx="0" cy="841248"/>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722876" y="3630168"/>
            <a:ext cx="2743200" cy="457200"/>
          </a:xfrm>
          <a:prstGeom prst="roundRect">
            <a:avLst/>
          </a:prstGeom>
          <a:solidFill>
            <a:srgbClr val="F59E0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22876" y="3630168"/>
            <a:ext cx="2743200" cy="457200"/>
          </a:xfrm>
          <a:prstGeom prst="rect">
            <a:avLst/>
          </a:prstGeom>
          <a:noFill/>
        </p:spPr>
        <p:txBody>
          <a:bodyPr wrap="square" anchor="ctr">
            <a:spAutoFit/>
          </a:bodyPr>
          <a:lstStyle/>
          <a:p>
            <a:pPr algn="ctr">
              <a:spcAft>
                <a:spcPts val="400"/>
              </a:spcAft>
            </a:pPr>
            <a:r>
              <a:rPr sz="1250" b="1">
                <a:solidFill>
                  <a:srgbClr val="FFFFFF"/>
                </a:solidFill>
                <a:latin typeface="Arial"/>
              </a:rPr>
              <a:t>THEY'RE UNSURE</a:t>
            </a:r>
          </a:p>
        </p:txBody>
      </p:sp>
      <p:sp>
        <p:nvSpPr>
          <p:cNvPr id="19" name="Rectangle 18"/>
          <p:cNvSpPr/>
          <p:nvPr/>
        </p:nvSpPr>
        <p:spPr>
          <a:xfrm>
            <a:off x="4425696" y="4233672"/>
            <a:ext cx="3337560" cy="17099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4233672"/>
            <a:ext cx="333756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26864" y="4453128"/>
            <a:ext cx="2935224" cy="457200"/>
          </a:xfrm>
          <a:prstGeom prst="rect">
            <a:avLst/>
          </a:prstGeom>
          <a:noFill/>
        </p:spPr>
        <p:txBody>
          <a:bodyPr wrap="square" anchor="t">
            <a:spAutoFit/>
          </a:bodyPr>
          <a:lstStyle/>
          <a:p>
            <a:pPr algn="ctr">
              <a:spcAft>
                <a:spcPts val="400"/>
              </a:spcAft>
            </a:pPr>
            <a:r>
              <a:rPr sz="1200" b="1">
                <a:solidFill>
                  <a:srgbClr val="161B26"/>
                </a:solidFill>
                <a:latin typeface="Arial"/>
              </a:rPr>
              <a:t>Thermometer or Summary Close</a:t>
            </a:r>
          </a:p>
        </p:txBody>
      </p:sp>
      <p:sp>
        <p:nvSpPr>
          <p:cNvPr id="22" name="TextBox 21"/>
          <p:cNvSpPr txBox="1"/>
          <p:nvPr/>
        </p:nvSpPr>
        <p:spPr>
          <a:xfrm>
            <a:off x="4645152" y="4946904"/>
            <a:ext cx="2898648" cy="649224"/>
          </a:xfrm>
          <a:prstGeom prst="rect">
            <a:avLst/>
          </a:prstGeom>
          <a:noFill/>
        </p:spPr>
        <p:txBody>
          <a:bodyPr wrap="square" anchor="t">
            <a:spAutoFit/>
          </a:bodyPr>
          <a:lstStyle/>
          <a:p>
            <a:pPr algn="ctr">
              <a:spcAft>
                <a:spcPts val="400"/>
              </a:spcAft>
            </a:pPr>
            <a:r>
              <a:rPr sz="1000" b="0">
                <a:solidFill>
                  <a:srgbClr val="5B6372"/>
                </a:solidFill>
                <a:latin typeface="Arial"/>
              </a:rPr>
              <a:t>Surface the gap: "Where are you on a scale of one to ten — and why not a ten?"</a:t>
            </a:r>
          </a:p>
        </p:txBody>
      </p:sp>
      <p:cxnSp>
        <p:nvCxnSpPr>
          <p:cNvPr id="23" name="Connector 22"/>
          <p:cNvCxnSpPr/>
          <p:nvPr/>
        </p:nvCxnSpPr>
        <p:spPr>
          <a:xfrm>
            <a:off x="6094476" y="3081528"/>
            <a:ext cx="3648456" cy="8412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71332" y="3630168"/>
            <a:ext cx="2743200" cy="457200"/>
          </a:xfrm>
          <a:prstGeom prst="roundRect">
            <a:avLst/>
          </a:prstGeom>
          <a:solidFill>
            <a:srgbClr val="7C3AED"/>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71332" y="3630168"/>
            <a:ext cx="2743200" cy="457200"/>
          </a:xfrm>
          <a:prstGeom prst="rect">
            <a:avLst/>
          </a:prstGeom>
          <a:noFill/>
        </p:spPr>
        <p:txBody>
          <a:bodyPr wrap="square" anchor="ctr">
            <a:spAutoFit/>
          </a:bodyPr>
          <a:lstStyle/>
          <a:p>
            <a:pPr algn="ctr">
              <a:spcAft>
                <a:spcPts val="400"/>
              </a:spcAft>
            </a:pPr>
            <a:r>
              <a:rPr sz="1250" b="1">
                <a:solidFill>
                  <a:srgbClr val="FFFFFF"/>
                </a:solidFill>
                <a:latin typeface="Arial"/>
              </a:rPr>
              <a:t>THEY'RE HESITANT</a:t>
            </a:r>
          </a:p>
        </p:txBody>
      </p:sp>
      <p:sp>
        <p:nvSpPr>
          <p:cNvPr id="26" name="Rectangle 25"/>
          <p:cNvSpPr/>
          <p:nvPr/>
        </p:nvSpPr>
        <p:spPr>
          <a:xfrm>
            <a:off x="8074152" y="4233672"/>
            <a:ext cx="3337560" cy="17099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74152" y="4233672"/>
            <a:ext cx="333756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4453128"/>
            <a:ext cx="2935224" cy="457200"/>
          </a:xfrm>
          <a:prstGeom prst="rect">
            <a:avLst/>
          </a:prstGeom>
          <a:noFill/>
        </p:spPr>
        <p:txBody>
          <a:bodyPr wrap="square" anchor="t">
            <a:spAutoFit/>
          </a:bodyPr>
          <a:lstStyle/>
          <a:p>
            <a:pPr algn="ctr">
              <a:spcAft>
                <a:spcPts val="400"/>
              </a:spcAft>
            </a:pPr>
            <a:r>
              <a:rPr sz="1200" b="1">
                <a:solidFill>
                  <a:srgbClr val="161B26"/>
                </a:solidFill>
                <a:latin typeface="Arial"/>
              </a:rPr>
              <a:t>Test Drive or Empathy Close</a:t>
            </a:r>
          </a:p>
        </p:txBody>
      </p:sp>
      <p:sp>
        <p:nvSpPr>
          <p:cNvPr id="29" name="TextBox 28"/>
          <p:cNvSpPr txBox="1"/>
          <p:nvPr/>
        </p:nvSpPr>
        <p:spPr>
          <a:xfrm>
            <a:off x="8293608" y="4946904"/>
            <a:ext cx="2898648" cy="649224"/>
          </a:xfrm>
          <a:prstGeom prst="rect">
            <a:avLst/>
          </a:prstGeom>
          <a:noFill/>
        </p:spPr>
        <p:txBody>
          <a:bodyPr wrap="square" anchor="t">
            <a:spAutoFit/>
          </a:bodyPr>
          <a:lstStyle/>
          <a:p>
            <a:pPr algn="ctr">
              <a:spcAft>
                <a:spcPts val="400"/>
              </a:spcAft>
            </a:pPr>
            <a:r>
              <a:rPr sz="1150" b="0">
                <a:solidFill>
                  <a:srgbClr val="5B6372"/>
                </a:solidFill>
                <a:latin typeface="Arial"/>
              </a:rPr>
              <a:t>De-risk it: name the fear, then offer a pilot instead of a commitment.</a:t>
            </a:r>
          </a:p>
        </p:txBody>
      </p:sp>
      <p:sp>
        <p:nvSpPr>
          <p:cNvPr id="30" name="TextBox 29"/>
          <p:cNvSpPr txBox="1"/>
          <p:nvPr/>
        </p:nvSpPr>
        <p:spPr>
          <a:xfrm>
            <a:off x="777240" y="605332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closing-technique selection, synthesised from named closes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50"/>
                                        <p:tgtEl>
                                          <p:spTgt spid="7"/>
                                        </p:tgtEl>
                                      </p:cBhvr>
                                    </p:animEffect>
                                    <p:anim calcmode="lin" valueType="num">
                                      <p:cBhvr additive="base">
                                        <p:cTn id="1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50"/>
                                        <p:tgtEl>
                                          <p:spTgt spid="8"/>
                                        </p:tgtEl>
                                      </p:cBhvr>
                                    </p:animEffect>
                                    <p:anim calcmode="lin" valueType="num">
                                      <p:cBhvr additive="base">
                                        <p:cTn id="2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350"/>
                                        <p:tgtEl>
                                          <p:spTgt spid="19"/>
                                        </p:tgtEl>
                                      </p:cBhvr>
                                    </p:animEffect>
                                    <p:anim calcmode="lin" valueType="num">
                                      <p:cBhvr additive="base">
                                        <p:cTn id="45" dur="350" fill="hold"/>
                                        <p:tgtEl>
                                          <p:spTgt spid="19"/>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350"/>
                                        <p:tgtEl>
                                          <p:spTgt spid="26"/>
                                        </p:tgtEl>
                                      </p:cBhvr>
                                    </p:animEffect>
                                    <p:anim calcmode="lin" valueType="num">
                                      <p:cBhvr additive="base">
                                        <p:cTn id="55" dur="350" fill="hold"/>
                                        <p:tgtEl>
                                          <p:spTgt spid="26"/>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350"/>
                                        <p:tgtEl>
                                          <p:spTgt spid="22"/>
                                        </p:tgtEl>
                                      </p:cBhvr>
                                    </p:animEffect>
                                    <p:anim calcmode="lin" valueType="num">
                                      <p:cBhvr additive="base">
                                        <p:cTn id="75" dur="350" fill="hold"/>
                                        <p:tgtEl>
                                          <p:spTgt spid="22"/>
                                        </p:tgtEl>
                                        <p:attrNameLst>
                                          <p:attrName>ppt_y</p:attrName>
                                        </p:attrNameLst>
                                      </p:cBhvr>
                                      <p:tavLst>
                                        <p:tav tm="0">
                                          <p:val>
                                            <p:strVal val="#ppt_y+0.0350"/>
                                          </p:val>
                                        </p:tav>
                                        <p:tav tm="100000">
                                          <p:val>
                                            <p:strVal val="#ppt_y"/>
                                          </p:val>
                                        </p:tav>
                                      </p:tavLst>
                                    </p:anim>
                                  </p:childTnLst>
                                </p:cTn>
                              </p:par>
                            </p:childTnLst>
                          </p:cTn>
                        </p:par>
                      </p:childTnLst>
                    </p:cTn>
                  </p:par>
                  <p:par>
                    <p:cTn id="80" fill="hold">
                      <p:stCondLst>
                        <p:cond delay="0"/>
                      </p:stCondLst>
                      <p:childTnLst>
                        <p:par>
                          <p:cTn id="81" fill="hold">
                            <p:stCondLst>
                              <p:cond delay="0"/>
                            </p:stCondLst>
                            <p:childTnLst>
                              <p:par>
                                <p:cTn id="82" presetID="10" presetClass="entr" presetSubtype="0" fill="hold" grpId="0" nodeType="after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350"/>
                                        <p:tgtEl>
                                          <p:spTgt spid="29"/>
                                        </p:tgtEl>
                                      </p:cBhvr>
                                    </p:animEffect>
                                    <p:anim calcmode="lin" valueType="num">
                                      <p:cBhvr additive="base">
                                        <p:cTn id="85" dur="350" fill="hold"/>
                                        <p:tgtEl>
                                          <p:spTgt spid="29"/>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Ethical Closes vs Pressure Closes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Use These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Avoid These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Summary Close — confirms mutual understanding.</a:t>
            </a:r>
          </a:p>
          <a:p>
            <a:pPr>
              <a:spcAft>
                <a:spcPts val="1000"/>
              </a:spcAft>
            </a:pPr>
            <a:r>
              <a:rPr sz="1600" b="0">
                <a:solidFill>
                  <a:srgbClr val="161B26"/>
                </a:solidFill>
                <a:latin typeface="Arial"/>
              </a:rPr>
              <a:t>•  Thermometer/Scale Close — invites the real objection.</a:t>
            </a:r>
          </a:p>
          <a:p>
            <a:pPr>
              <a:spcAft>
                <a:spcPts val="1000"/>
              </a:spcAft>
            </a:pPr>
            <a:r>
              <a:rPr sz="1600" b="0">
                <a:solidFill>
                  <a:srgbClr val="161B26"/>
                </a:solidFill>
                <a:latin typeface="Arial"/>
              </a:rPr>
              <a:t>•  Test Drive / Puppy Dog Close — lets the product prove itself.</a:t>
            </a:r>
          </a:p>
          <a:p>
            <a:pPr>
              <a:spcAft>
                <a:spcPts val="1000"/>
              </a:spcAft>
            </a:pPr>
            <a:r>
              <a:rPr sz="1600" b="0">
                <a:solidFill>
                  <a:srgbClr val="161B26"/>
                </a:solidFill>
                <a:latin typeface="Arial"/>
              </a:rPr>
              <a:t>•  Alternative Close — two genuine, good options.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Manufactured scarcity — a deadline you invented.</a:t>
            </a:r>
          </a:p>
          <a:p>
            <a:pPr>
              <a:spcAft>
                <a:spcPts val="1000"/>
              </a:spcAft>
            </a:pPr>
            <a:r>
              <a:rPr sz="1600" b="0">
                <a:solidFill>
                  <a:srgbClr val="161B26"/>
                </a:solidFill>
                <a:latin typeface="Arial"/>
              </a:rPr>
              <a:t>•  Guilt Close — leveraging obligation or family pressure.</a:t>
            </a:r>
          </a:p>
          <a:p>
            <a:pPr>
              <a:spcAft>
                <a:spcPts val="1000"/>
              </a:spcAft>
            </a:pPr>
            <a:r>
              <a:rPr sz="1600" b="0">
                <a:solidFill>
                  <a:srgbClr val="161B26"/>
                </a:solidFill>
                <a:latin typeface="Arial"/>
              </a:rPr>
              <a:t>•  Sudden Death Close — "decide right now or we're done."</a:t>
            </a:r>
          </a:p>
          <a:p>
            <a:pPr>
              <a:spcAft>
                <a:spcPts val="1000"/>
              </a:spcAft>
            </a:pPr>
            <a:r>
              <a:rPr sz="1600" b="0">
                <a:solidFill>
                  <a:srgbClr val="161B26"/>
                </a:solidFill>
                <a:latin typeface="Arial"/>
              </a:rPr>
              <a:t>•  Any close that relies on the buyer not thinking clearly.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closing-technique taxonomy (Stowell, 100+ closes) filtered for ethical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Six More Closes Worth Knowing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Match the technique to the buyer in front of you — not to your favourite.</a:t>
            </a:r>
          </a:p>
        </p:txBody>
      </p:sp>
      <p:sp>
        <p:nvSpPr>
          <p:cNvPr id="8" name="Rectangle 7"/>
          <p:cNvSpPr/>
          <p:nvPr/>
        </p:nvSpPr>
        <p:spPr>
          <a:xfrm>
            <a:off x="777240" y="2103120"/>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103120"/>
            <a:ext cx="3361944" cy="713232"/>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01448" y="2202972"/>
            <a:ext cx="513527" cy="513527"/>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ular Callout 10"/>
          <p:cNvSpPr/>
          <p:nvPr/>
        </p:nvSpPr>
        <p:spPr>
          <a:xfrm>
            <a:off x="2288748" y="2310813"/>
            <a:ext cx="338927" cy="256763"/>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2944368"/>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Storytelling Close</a:t>
            </a:r>
          </a:p>
        </p:txBody>
      </p:sp>
      <p:sp>
        <p:nvSpPr>
          <p:cNvPr id="13" name="TextBox 12"/>
          <p:cNvSpPr txBox="1"/>
          <p:nvPr/>
        </p:nvSpPr>
        <p:spPr>
          <a:xfrm>
            <a:off x="941832" y="3346704"/>
            <a:ext cx="3032760" cy="461772"/>
          </a:xfrm>
          <a:prstGeom prst="rect">
            <a:avLst/>
          </a:prstGeom>
          <a:noFill/>
        </p:spPr>
        <p:txBody>
          <a:bodyPr wrap="square" anchor="t">
            <a:spAutoFit/>
          </a:bodyPr>
          <a:lstStyle/>
          <a:p>
            <a:pPr algn="ctr">
              <a:spcAft>
                <a:spcPts val="400"/>
              </a:spcAft>
            </a:pPr>
            <a:r>
              <a:rPr sz="1150" b="0">
                <a:solidFill>
                  <a:srgbClr val="5B6372"/>
                </a:solidFill>
                <a:latin typeface="Arial"/>
              </a:rPr>
              <a:t>A case study they can see themselves inside.</a:t>
            </a:r>
          </a:p>
        </p:txBody>
      </p:sp>
      <p:sp>
        <p:nvSpPr>
          <p:cNvPr id="14" name="Rectangle 13"/>
          <p:cNvSpPr/>
          <p:nvPr/>
        </p:nvSpPr>
        <p:spPr>
          <a:xfrm>
            <a:off x="4413504" y="2103120"/>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13504" y="2103120"/>
            <a:ext cx="3361944" cy="713232"/>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37712" y="2202972"/>
            <a:ext cx="513527" cy="513527"/>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ircular Arrow 16"/>
          <p:cNvSpPr/>
          <p:nvPr/>
        </p:nvSpPr>
        <p:spPr>
          <a:xfrm>
            <a:off x="5863388" y="2228648"/>
            <a:ext cx="462174" cy="462174"/>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8096" y="2944368"/>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Backwards Close</a:t>
            </a:r>
          </a:p>
        </p:txBody>
      </p:sp>
      <p:sp>
        <p:nvSpPr>
          <p:cNvPr id="19" name="TextBox 18"/>
          <p:cNvSpPr txBox="1"/>
          <p:nvPr/>
        </p:nvSpPr>
        <p:spPr>
          <a:xfrm>
            <a:off x="4578096" y="3346704"/>
            <a:ext cx="3032760" cy="461772"/>
          </a:xfrm>
          <a:prstGeom prst="rect">
            <a:avLst/>
          </a:prstGeom>
          <a:noFill/>
        </p:spPr>
        <p:txBody>
          <a:bodyPr wrap="square" anchor="t">
            <a:spAutoFit/>
          </a:bodyPr>
          <a:lstStyle/>
          <a:p>
            <a:pPr algn="ctr">
              <a:spcAft>
                <a:spcPts val="400"/>
              </a:spcAft>
            </a:pPr>
            <a:r>
              <a:rPr sz="1000" b="0">
                <a:solidFill>
                  <a:srgbClr val="5B6372"/>
                </a:solidFill>
                <a:latin typeface="Arial"/>
              </a:rPr>
              <a:t>Ask who else needs this — signals fit over any fit.</a:t>
            </a:r>
          </a:p>
        </p:txBody>
      </p:sp>
      <p:sp>
        <p:nvSpPr>
          <p:cNvPr id="20" name="Rectangle 19"/>
          <p:cNvSpPr/>
          <p:nvPr/>
        </p:nvSpPr>
        <p:spPr>
          <a:xfrm>
            <a:off x="8049768" y="2103120"/>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9768" y="2103120"/>
            <a:ext cx="3361944" cy="713232"/>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73976" y="2202972"/>
            <a:ext cx="513527" cy="513527"/>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ear 6 22"/>
          <p:cNvSpPr/>
          <p:nvPr/>
        </p:nvSpPr>
        <p:spPr>
          <a:xfrm>
            <a:off x="9561276" y="2290272"/>
            <a:ext cx="338927" cy="338927"/>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14360" y="2944368"/>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Sharp Angle Close</a:t>
            </a:r>
          </a:p>
        </p:txBody>
      </p:sp>
      <p:sp>
        <p:nvSpPr>
          <p:cNvPr id="25" name="TextBox 24"/>
          <p:cNvSpPr txBox="1"/>
          <p:nvPr/>
        </p:nvSpPr>
        <p:spPr>
          <a:xfrm>
            <a:off x="8214360" y="3346704"/>
            <a:ext cx="3032760" cy="461772"/>
          </a:xfrm>
          <a:prstGeom prst="rect">
            <a:avLst/>
          </a:prstGeom>
          <a:noFill/>
        </p:spPr>
        <p:txBody>
          <a:bodyPr wrap="square" anchor="t">
            <a:spAutoFit/>
          </a:bodyPr>
          <a:lstStyle/>
          <a:p>
            <a:pPr algn="ctr">
              <a:spcAft>
                <a:spcPts val="400"/>
              </a:spcAft>
            </a:pPr>
            <a:r>
              <a:rPr sz="1150" b="0">
                <a:solidFill>
                  <a:srgbClr val="5B6372"/>
                </a:solidFill>
                <a:latin typeface="Arial"/>
              </a:rPr>
              <a:t>Trade a real concession for a real commitment.</a:t>
            </a:r>
          </a:p>
        </p:txBody>
      </p:sp>
      <p:sp>
        <p:nvSpPr>
          <p:cNvPr id="26" name="Rectangle 25"/>
          <p:cNvSpPr/>
          <p:nvPr/>
        </p:nvSpPr>
        <p:spPr>
          <a:xfrm>
            <a:off x="777240" y="4174236"/>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4174236"/>
            <a:ext cx="3361944" cy="713232"/>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201448" y="4274088"/>
            <a:ext cx="513527" cy="513527"/>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onut 28"/>
          <p:cNvSpPr/>
          <p:nvPr/>
        </p:nvSpPr>
        <p:spPr>
          <a:xfrm>
            <a:off x="2299018" y="4361388"/>
            <a:ext cx="243925" cy="243925"/>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rot="2700000">
            <a:off x="2499294" y="4582204"/>
            <a:ext cx="133517" cy="4108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41832" y="5015484"/>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Ben Franklin Close</a:t>
            </a:r>
          </a:p>
        </p:txBody>
      </p:sp>
      <p:sp>
        <p:nvSpPr>
          <p:cNvPr id="32" name="TextBox 31"/>
          <p:cNvSpPr txBox="1"/>
          <p:nvPr/>
        </p:nvSpPr>
        <p:spPr>
          <a:xfrm>
            <a:off x="941832" y="5417820"/>
            <a:ext cx="3032760" cy="461772"/>
          </a:xfrm>
          <a:prstGeom prst="rect">
            <a:avLst/>
          </a:prstGeom>
          <a:noFill/>
        </p:spPr>
        <p:txBody>
          <a:bodyPr wrap="square" anchor="t">
            <a:spAutoFit/>
          </a:bodyPr>
          <a:lstStyle/>
          <a:p>
            <a:pPr algn="ctr">
              <a:spcAft>
                <a:spcPts val="400"/>
              </a:spcAft>
            </a:pPr>
            <a:r>
              <a:rPr sz="1150" b="0">
                <a:solidFill>
                  <a:srgbClr val="5B6372"/>
                </a:solidFill>
                <a:latin typeface="Arial"/>
              </a:rPr>
              <a:t>Build the pros and cons list together.</a:t>
            </a:r>
          </a:p>
        </p:txBody>
      </p:sp>
      <p:sp>
        <p:nvSpPr>
          <p:cNvPr id="33" name="Rectangle 32"/>
          <p:cNvSpPr/>
          <p:nvPr/>
        </p:nvSpPr>
        <p:spPr>
          <a:xfrm>
            <a:off x="4413504" y="4174236"/>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413504" y="4174236"/>
            <a:ext cx="3361944" cy="713232"/>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37712" y="4274088"/>
            <a:ext cx="513527" cy="513527"/>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onut 35"/>
          <p:cNvSpPr/>
          <p:nvPr/>
        </p:nvSpPr>
        <p:spPr>
          <a:xfrm>
            <a:off x="5909606" y="4345982"/>
            <a:ext cx="369739" cy="369739"/>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079070" y="4397334"/>
            <a:ext cx="30811" cy="1437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079070" y="4515446"/>
            <a:ext cx="118111" cy="308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578096" y="5015484"/>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Columbo Close</a:t>
            </a:r>
          </a:p>
        </p:txBody>
      </p:sp>
      <p:sp>
        <p:nvSpPr>
          <p:cNvPr id="40" name="TextBox 39"/>
          <p:cNvSpPr txBox="1"/>
          <p:nvPr/>
        </p:nvSpPr>
        <p:spPr>
          <a:xfrm>
            <a:off x="4578096" y="5417820"/>
            <a:ext cx="3032760" cy="461772"/>
          </a:xfrm>
          <a:prstGeom prst="rect">
            <a:avLst/>
          </a:prstGeom>
          <a:noFill/>
        </p:spPr>
        <p:txBody>
          <a:bodyPr wrap="square" anchor="t">
            <a:spAutoFit/>
          </a:bodyPr>
          <a:lstStyle/>
          <a:p>
            <a:pPr algn="ctr">
              <a:spcAft>
                <a:spcPts val="400"/>
              </a:spcAft>
            </a:pPr>
            <a:r>
              <a:rPr sz="1150" b="0">
                <a:solidFill>
                  <a:srgbClr val="5B6372"/>
                </a:solidFill>
                <a:latin typeface="Arial"/>
              </a:rPr>
              <a:t>"Just one more thing…" after the no.</a:t>
            </a:r>
          </a:p>
        </p:txBody>
      </p:sp>
      <p:sp>
        <p:nvSpPr>
          <p:cNvPr id="41" name="Rectangle 40"/>
          <p:cNvSpPr/>
          <p:nvPr/>
        </p:nvSpPr>
        <p:spPr>
          <a:xfrm>
            <a:off x="8049768" y="4174236"/>
            <a:ext cx="3361944" cy="18150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049768" y="4174236"/>
            <a:ext cx="3361944" cy="713232"/>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473976" y="4274088"/>
            <a:ext cx="513527" cy="513527"/>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entagon 43"/>
          <p:cNvSpPr/>
          <p:nvPr/>
        </p:nvSpPr>
        <p:spPr>
          <a:xfrm rot="5400000">
            <a:off x="9581817" y="4381929"/>
            <a:ext cx="297845" cy="297845"/>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214360" y="5015484"/>
            <a:ext cx="3032760" cy="365760"/>
          </a:xfrm>
          <a:prstGeom prst="rect">
            <a:avLst/>
          </a:prstGeom>
          <a:noFill/>
        </p:spPr>
        <p:txBody>
          <a:bodyPr wrap="square" anchor="t">
            <a:spAutoFit/>
          </a:bodyPr>
          <a:lstStyle/>
          <a:p>
            <a:pPr algn="ctr">
              <a:spcAft>
                <a:spcPts val="400"/>
              </a:spcAft>
            </a:pPr>
            <a:r>
              <a:rPr sz="1400" b="1">
                <a:solidFill>
                  <a:srgbClr val="161B26"/>
                </a:solidFill>
                <a:latin typeface="Arial"/>
              </a:rPr>
              <a:t>Takeaway Close</a:t>
            </a:r>
          </a:p>
        </p:txBody>
      </p:sp>
      <p:sp>
        <p:nvSpPr>
          <p:cNvPr id="46" name="TextBox 45"/>
          <p:cNvSpPr txBox="1"/>
          <p:nvPr/>
        </p:nvSpPr>
        <p:spPr>
          <a:xfrm>
            <a:off x="8214360" y="5417820"/>
            <a:ext cx="3032760" cy="461772"/>
          </a:xfrm>
          <a:prstGeom prst="rect">
            <a:avLst/>
          </a:prstGeom>
          <a:noFill/>
        </p:spPr>
        <p:txBody>
          <a:bodyPr wrap="square" anchor="t">
            <a:spAutoFit/>
          </a:bodyPr>
          <a:lstStyle/>
          <a:p>
            <a:pPr algn="ctr">
              <a:spcAft>
                <a:spcPts val="400"/>
              </a:spcAft>
            </a:pPr>
            <a:r>
              <a:rPr sz="1000" b="0">
                <a:solidFill>
                  <a:srgbClr val="5B6372"/>
                </a:solidFill>
                <a:latin typeface="Arial"/>
              </a:rPr>
              <a:t>Remove the option that isn't earning its price.</a:t>
            </a:r>
          </a:p>
        </p:txBody>
      </p:sp>
      <p:sp>
        <p:nvSpPr>
          <p:cNvPr id="47" name="TextBox 46"/>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named closing techniques (Indeed; Stowell; monday.com)</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Justifying the Price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Justifying the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Discounting is the fastest way to tell a buyer that your first price was not honest. Lead with value, every time.</a:t>
            </a:r>
          </a:p>
        </p:txBody>
      </p:sp>
      <p:sp>
        <p:nvSpPr>
          <p:cNvPr id="8" name="Rectangle 7"/>
          <p:cNvSpPr/>
          <p:nvPr/>
        </p:nvSpPr>
        <p:spPr>
          <a:xfrm>
            <a:off x="777240" y="2436876"/>
            <a:ext cx="2452878" cy="321868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36876"/>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74036"/>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7931" y="2891515"/>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946986" y="2792303"/>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066041" y="2707264"/>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41832" y="346100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Emphasise Value</a:t>
            </a:r>
          </a:p>
        </p:txBody>
      </p:sp>
      <p:sp>
        <p:nvSpPr>
          <p:cNvPr id="15" name="TextBox 14"/>
          <p:cNvSpPr txBox="1"/>
          <p:nvPr/>
        </p:nvSpPr>
        <p:spPr>
          <a:xfrm>
            <a:off x="941832" y="4064508"/>
            <a:ext cx="2123694" cy="1481328"/>
          </a:xfrm>
          <a:prstGeom prst="rect">
            <a:avLst/>
          </a:prstGeom>
          <a:noFill/>
        </p:spPr>
        <p:txBody>
          <a:bodyPr wrap="square" anchor="t">
            <a:spAutoFit/>
          </a:bodyPr>
          <a:lstStyle/>
          <a:p>
            <a:pPr algn="ctr">
              <a:spcAft>
                <a:spcPts val="400"/>
              </a:spcAft>
            </a:pPr>
            <a:r>
              <a:rPr sz="1150" b="0">
                <a:solidFill>
                  <a:srgbClr val="5B6372"/>
                </a:solidFill>
                <a:latin typeface="Arial"/>
              </a:rPr>
              <a:t>Show ROI and outcome, not the feature count.</a:t>
            </a:r>
          </a:p>
        </p:txBody>
      </p:sp>
      <p:sp>
        <p:nvSpPr>
          <p:cNvPr id="16" name="Rectangle 15"/>
          <p:cNvSpPr/>
          <p:nvPr/>
        </p:nvSpPr>
        <p:spPr>
          <a:xfrm>
            <a:off x="3504438" y="2436876"/>
            <a:ext cx="2452878" cy="321868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4438" y="2436876"/>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447413" y="2574036"/>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entagon 18"/>
          <p:cNvSpPr/>
          <p:nvPr/>
        </p:nvSpPr>
        <p:spPr>
          <a:xfrm rot="5400000">
            <a:off x="4566467" y="2693090"/>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69030" y="346100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Support With Evidence</a:t>
            </a:r>
          </a:p>
        </p:txBody>
      </p:sp>
      <p:sp>
        <p:nvSpPr>
          <p:cNvPr id="21" name="TextBox 20"/>
          <p:cNvSpPr txBox="1"/>
          <p:nvPr/>
        </p:nvSpPr>
        <p:spPr>
          <a:xfrm>
            <a:off x="3669030" y="4064508"/>
            <a:ext cx="2123694" cy="1481328"/>
          </a:xfrm>
          <a:prstGeom prst="rect">
            <a:avLst/>
          </a:prstGeom>
          <a:noFill/>
        </p:spPr>
        <p:txBody>
          <a:bodyPr wrap="square" anchor="t">
            <a:spAutoFit/>
          </a:bodyPr>
          <a:lstStyle/>
          <a:p>
            <a:pPr algn="ctr">
              <a:spcAft>
                <a:spcPts val="400"/>
              </a:spcAft>
            </a:pPr>
            <a:r>
              <a:rPr sz="1000" b="0">
                <a:solidFill>
                  <a:srgbClr val="5B6372"/>
                </a:solidFill>
                <a:latin typeface="Arial"/>
              </a:rPr>
              <a:t>Back the claim with data, studies and testimonials.</a:t>
            </a:r>
          </a:p>
        </p:txBody>
      </p:sp>
      <p:sp>
        <p:nvSpPr>
          <p:cNvPr id="22" name="Rectangle 21"/>
          <p:cNvSpPr/>
          <p:nvPr/>
        </p:nvSpPr>
        <p:spPr>
          <a:xfrm>
            <a:off x="6231636" y="2436876"/>
            <a:ext cx="2452878" cy="321868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31636" y="2436876"/>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74611" y="2574036"/>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nut 24"/>
          <p:cNvSpPr/>
          <p:nvPr/>
        </p:nvSpPr>
        <p:spPr>
          <a:xfrm>
            <a:off x="7253980" y="2653405"/>
            <a:ext cx="408188" cy="408188"/>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441067" y="2710098"/>
            <a:ext cx="34015" cy="1587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441067" y="2840492"/>
            <a:ext cx="130393" cy="34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96228" y="346100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Frame the Long Term</a:t>
            </a:r>
          </a:p>
        </p:txBody>
      </p:sp>
      <p:sp>
        <p:nvSpPr>
          <p:cNvPr id="29" name="TextBox 28"/>
          <p:cNvSpPr txBox="1"/>
          <p:nvPr/>
        </p:nvSpPr>
        <p:spPr>
          <a:xfrm>
            <a:off x="6396228" y="4064508"/>
            <a:ext cx="2123694" cy="1481328"/>
          </a:xfrm>
          <a:prstGeom prst="rect">
            <a:avLst/>
          </a:prstGeom>
          <a:noFill/>
        </p:spPr>
        <p:txBody>
          <a:bodyPr wrap="square" anchor="t">
            <a:spAutoFit/>
          </a:bodyPr>
          <a:lstStyle/>
          <a:p>
            <a:pPr algn="ctr">
              <a:spcAft>
                <a:spcPts val="400"/>
              </a:spcAft>
            </a:pPr>
            <a:r>
              <a:rPr sz="1000" b="0">
                <a:solidFill>
                  <a:srgbClr val="5B6372"/>
                </a:solidFill>
                <a:latin typeface="Arial"/>
              </a:rPr>
              <a:t>Total cost of ownership, not this month's invoice.</a:t>
            </a:r>
          </a:p>
        </p:txBody>
      </p:sp>
      <p:sp>
        <p:nvSpPr>
          <p:cNvPr id="30" name="Rectangle 29"/>
          <p:cNvSpPr/>
          <p:nvPr/>
        </p:nvSpPr>
        <p:spPr>
          <a:xfrm>
            <a:off x="8958834" y="2436876"/>
            <a:ext cx="2452878" cy="321868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58834" y="2436876"/>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01809" y="2574036"/>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onut 32"/>
          <p:cNvSpPr/>
          <p:nvPr/>
        </p:nvSpPr>
        <p:spPr>
          <a:xfrm>
            <a:off x="9969840" y="2642067"/>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10111572" y="2783799"/>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123426" y="346100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Quantify Inaction</a:t>
            </a:r>
          </a:p>
        </p:txBody>
      </p:sp>
      <p:sp>
        <p:nvSpPr>
          <p:cNvPr id="36" name="TextBox 35"/>
          <p:cNvSpPr txBox="1"/>
          <p:nvPr/>
        </p:nvSpPr>
        <p:spPr>
          <a:xfrm>
            <a:off x="9123426" y="4064508"/>
            <a:ext cx="2123694" cy="1481328"/>
          </a:xfrm>
          <a:prstGeom prst="rect">
            <a:avLst/>
          </a:prstGeom>
          <a:noFill/>
        </p:spPr>
        <p:txBody>
          <a:bodyPr wrap="square" anchor="t">
            <a:spAutoFit/>
          </a:bodyPr>
          <a:lstStyle/>
          <a:p>
            <a:pPr algn="ctr">
              <a:spcAft>
                <a:spcPts val="400"/>
              </a:spcAft>
            </a:pPr>
            <a:r>
              <a:rPr sz="1150" b="0">
                <a:solidFill>
                  <a:srgbClr val="5B6372"/>
                </a:solidFill>
                <a:latin typeface="Arial"/>
              </a:rPr>
              <a:t>What does NOT solving it cost them per month?</a:t>
            </a:r>
          </a:p>
        </p:txBody>
      </p:sp>
      <p:sp>
        <p:nvSpPr>
          <p:cNvPr id="37" name="TextBox 36"/>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value-based pricing and ROI-justification practice</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Value Conversation, In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Restate the Cost</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"Two slipped handovers last quarter."</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Attach a Number</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"You estimated S$18k in penalties."</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Show the Offset</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"This is S$6k a year."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Let Them Conclude</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Stay quiet. The maths does the closing.</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If you cannot express the value as a number the buyer agrees with, you are not ready to discuss price at all.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ROI-based price-justification practice</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Discounting vs Value-Justifying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ft Arrow 6"/>
          <p:cNvSpPr/>
          <p:nvPr/>
        </p:nvSpPr>
        <p:spPr>
          <a:xfrm>
            <a:off x="777240" y="2103120"/>
            <a:ext cx="5134356" cy="658368"/>
          </a:xfrm>
          <a:prstGeom prst="leftArrow">
            <a:avLst/>
          </a:prstGeom>
          <a:solidFill>
            <a:srgbClr val="C03939"/>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234440" y="2103120"/>
            <a:ext cx="4219956" cy="658368"/>
          </a:xfrm>
          <a:prstGeom prst="rect">
            <a:avLst/>
          </a:prstGeom>
          <a:noFill/>
        </p:spPr>
        <p:txBody>
          <a:bodyPr wrap="square" anchor="ctr">
            <a:spAutoFit/>
          </a:bodyPr>
          <a:lstStyle/>
          <a:p>
            <a:pPr algn="ctr">
              <a:spcAft>
                <a:spcPts val="400"/>
              </a:spcAft>
            </a:pPr>
            <a:r>
              <a:rPr sz="1500" b="1">
                <a:solidFill>
                  <a:srgbClr val="FFFFFF"/>
                </a:solidFill>
                <a:latin typeface="Arial"/>
              </a:rPr>
              <a:t>REACHING FOR THE DISCOUNT</a:t>
            </a:r>
          </a:p>
        </p:txBody>
      </p:sp>
      <p:sp>
        <p:nvSpPr>
          <p:cNvPr id="9" name="Rectangle 8"/>
          <p:cNvSpPr/>
          <p:nvPr/>
        </p:nvSpPr>
        <p:spPr>
          <a:xfrm>
            <a:off x="777240" y="297180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97180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 y="316992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2436" y="3425952"/>
            <a:ext cx="64008" cy="114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298448" y="3345942"/>
            <a:ext cx="64008" cy="19431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394460" y="3277362"/>
            <a:ext cx="64008" cy="2628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764792" y="297180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Devalues Everything</a:t>
            </a:r>
          </a:p>
          <a:p>
            <a:pPr algn="l">
              <a:spcAft>
                <a:spcPts val="200"/>
              </a:spcAft>
            </a:pPr>
            <a:r>
              <a:rPr sz="1100" b="0">
                <a:solidFill>
                  <a:srgbClr val="5B6372"/>
                </a:solidFill>
                <a:latin typeface="Arial"/>
              </a:rPr>
              <a:t>Signals the original price was inflated.</a:t>
            </a:r>
          </a:p>
        </p:txBody>
      </p:sp>
      <p:sp>
        <p:nvSpPr>
          <p:cNvPr id="16" name="Rectangle 15"/>
          <p:cNvSpPr/>
          <p:nvPr/>
        </p:nvSpPr>
        <p:spPr>
          <a:xfrm>
            <a:off x="777240" y="400812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0812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420624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ircular Arrow 18"/>
          <p:cNvSpPr/>
          <p:nvPr/>
        </p:nvSpPr>
        <p:spPr>
          <a:xfrm>
            <a:off x="1138428" y="4229100"/>
            <a:ext cx="411480" cy="411480"/>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764792" y="400812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Sets a Precedent</a:t>
            </a:r>
          </a:p>
          <a:p>
            <a:pPr algn="l">
              <a:spcAft>
                <a:spcPts val="200"/>
              </a:spcAft>
            </a:pPr>
            <a:r>
              <a:rPr sz="1100" b="0">
                <a:solidFill>
                  <a:srgbClr val="5B6372"/>
                </a:solidFill>
                <a:latin typeface="Arial"/>
              </a:rPr>
              <a:t>Every renewal now starts from the discount.</a:t>
            </a:r>
          </a:p>
        </p:txBody>
      </p:sp>
      <p:sp>
        <p:nvSpPr>
          <p:cNvPr id="21" name="Rectangle 20"/>
          <p:cNvSpPr/>
          <p:nvPr/>
        </p:nvSpPr>
        <p:spPr>
          <a:xfrm>
            <a:off x="777240" y="504444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04444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15568" y="524256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ightning Bolt 23"/>
          <p:cNvSpPr/>
          <p:nvPr/>
        </p:nvSpPr>
        <p:spPr>
          <a:xfrm>
            <a:off x="1229868" y="5306568"/>
            <a:ext cx="228600" cy="32918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764792" y="504444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Trains the Buyer</a:t>
            </a:r>
          </a:p>
          <a:p>
            <a:pPr algn="l">
              <a:spcAft>
                <a:spcPts val="200"/>
              </a:spcAft>
            </a:pPr>
            <a:r>
              <a:rPr sz="1100" b="0">
                <a:solidFill>
                  <a:srgbClr val="5B6372"/>
                </a:solidFill>
                <a:latin typeface="Arial"/>
              </a:rPr>
              <a:t>They learn that waiting gets a better price.</a:t>
            </a:r>
          </a:p>
        </p:txBody>
      </p:sp>
      <p:sp>
        <p:nvSpPr>
          <p:cNvPr id="26" name="Right Arrow 25"/>
          <p:cNvSpPr/>
          <p:nvPr/>
        </p:nvSpPr>
        <p:spPr>
          <a:xfrm>
            <a:off x="6277356" y="2103120"/>
            <a:ext cx="5134356" cy="658368"/>
          </a:xfrm>
          <a:prstGeom prst="rightArrow">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734556" y="2103120"/>
            <a:ext cx="4219956" cy="658368"/>
          </a:xfrm>
          <a:prstGeom prst="rect">
            <a:avLst/>
          </a:prstGeom>
          <a:noFill/>
        </p:spPr>
        <p:txBody>
          <a:bodyPr wrap="square" anchor="ctr">
            <a:spAutoFit/>
          </a:bodyPr>
          <a:lstStyle/>
          <a:p>
            <a:pPr algn="ctr">
              <a:spcAft>
                <a:spcPts val="400"/>
              </a:spcAft>
            </a:pPr>
            <a:r>
              <a:rPr sz="1500" b="1">
                <a:solidFill>
                  <a:srgbClr val="FFFFFF"/>
                </a:solidFill>
                <a:latin typeface="Arial"/>
              </a:rPr>
              <a:t>JUSTIFYING THE VALUE</a:t>
            </a:r>
          </a:p>
        </p:txBody>
      </p:sp>
      <p:sp>
        <p:nvSpPr>
          <p:cNvPr id="28" name="Rectangle 27"/>
          <p:cNvSpPr/>
          <p:nvPr/>
        </p:nvSpPr>
        <p:spPr>
          <a:xfrm>
            <a:off x="6277356" y="297180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77356" y="297180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15684" y="316992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entagon 30"/>
          <p:cNvSpPr/>
          <p:nvPr/>
        </p:nvSpPr>
        <p:spPr>
          <a:xfrm rot="5400000">
            <a:off x="6711696" y="3265932"/>
            <a:ext cx="265176" cy="265176"/>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264908" y="297180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Protects the Price</a:t>
            </a:r>
          </a:p>
          <a:p>
            <a:pPr algn="l">
              <a:spcAft>
                <a:spcPts val="200"/>
              </a:spcAft>
            </a:pPr>
            <a:r>
              <a:rPr sz="1100" b="0">
                <a:solidFill>
                  <a:srgbClr val="5B6372"/>
                </a:solidFill>
                <a:latin typeface="Arial"/>
              </a:rPr>
              <a:t>The number is defensible because it's earned.</a:t>
            </a:r>
          </a:p>
        </p:txBody>
      </p:sp>
      <p:sp>
        <p:nvSpPr>
          <p:cNvPr id="33" name="Rectangle 32"/>
          <p:cNvSpPr/>
          <p:nvPr/>
        </p:nvSpPr>
        <p:spPr>
          <a:xfrm>
            <a:off x="6277356" y="400812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77356" y="400812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15684" y="42062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rot="2700000">
            <a:off x="6718554" y="4439412"/>
            <a:ext cx="114300" cy="365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rot="18900000">
            <a:off x="6780276" y="4411980"/>
            <a:ext cx="210312" cy="365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264908" y="400812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Trades Fairly</a:t>
            </a:r>
          </a:p>
          <a:p>
            <a:pPr algn="l">
              <a:spcAft>
                <a:spcPts val="200"/>
              </a:spcAft>
            </a:pPr>
            <a:r>
              <a:rPr sz="1100" b="0">
                <a:solidFill>
                  <a:srgbClr val="5B6372"/>
                </a:solidFill>
                <a:latin typeface="Arial"/>
              </a:rPr>
              <a:t>Concede scope or term, never value for nothing.</a:t>
            </a:r>
          </a:p>
        </p:txBody>
      </p:sp>
      <p:sp>
        <p:nvSpPr>
          <p:cNvPr id="39" name="Rectangle 38"/>
          <p:cNvSpPr/>
          <p:nvPr/>
        </p:nvSpPr>
        <p:spPr>
          <a:xfrm>
            <a:off x="6277356" y="504444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77356" y="504444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615684" y="524256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5-Point Star 41"/>
          <p:cNvSpPr/>
          <p:nvPr/>
        </p:nvSpPr>
        <p:spPr>
          <a:xfrm>
            <a:off x="6679692" y="5306568"/>
            <a:ext cx="329184" cy="329184"/>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264908" y="504444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Builds Respect</a:t>
            </a:r>
          </a:p>
          <a:p>
            <a:pPr algn="l">
              <a:spcAft>
                <a:spcPts val="200"/>
              </a:spcAft>
            </a:pPr>
            <a:r>
              <a:rPr sz="1100" b="0">
                <a:solidFill>
                  <a:srgbClr val="5B6372"/>
                </a:solidFill>
                <a:latin typeface="Arial"/>
              </a:rPr>
              <a:t>The buyer trusts the next number you quote.</a:t>
            </a:r>
          </a:p>
        </p:txBody>
      </p:sp>
      <p:sp>
        <p:nvSpPr>
          <p:cNvPr id="44" name="TextBox 43"/>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pricing-integrity and negotiation practice</a:t>
            </a:r>
          </a:p>
        </p:txBody>
      </p:sp>
      <p:sp>
        <p:nvSpPr>
          <p:cNvPr id="45" name="TextBox 4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6" name="TextBox 4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Cost of Standing Still — Sunrise Builders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Illustrative worked example from the LU1 scenario. This is the arithmetic that closes a price objection.</a:t>
            </a:r>
          </a:p>
        </p:txBody>
      </p:sp>
      <p:sp>
        <p:nvSpPr>
          <p:cNvPr id="8" name="Rectangle 7"/>
          <p:cNvSpPr/>
          <p:nvPr/>
        </p:nvSpPr>
        <p:spPr>
          <a:xfrm>
            <a:off x="777240"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286000"/>
            <a:ext cx="3337560" cy="128016"/>
          </a:xfrm>
          <a:prstGeom prst="roundRect">
            <a:avLst/>
          </a:prstGeom>
          <a:gradFill rotWithShape="1">
            <a:gsLst>
              <a:gs pos="0">
                <a:srgbClr val="2A76EC"/>
              </a:gs>
              <a:gs pos="100000">
                <a:srgbClr val="1856B7"/>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61488"/>
            <a:ext cx="3337560" cy="1097280"/>
          </a:xfrm>
          <a:prstGeom prst="rect">
            <a:avLst/>
          </a:prstGeom>
          <a:noFill/>
        </p:spPr>
        <p:txBody>
          <a:bodyPr wrap="square" anchor="t">
            <a:spAutoFit/>
          </a:bodyPr>
          <a:lstStyle/>
          <a:p>
            <a:pPr algn="ctr">
              <a:spcAft>
                <a:spcPts val="400"/>
              </a:spcAft>
            </a:pPr>
            <a:r>
              <a:rPr sz="4600" b="1">
                <a:solidFill>
                  <a:srgbClr val="1F6FEB"/>
                </a:solidFill>
                <a:latin typeface="Arial"/>
              </a:rPr>
              <a:t>S$18k</a:t>
            </a:r>
          </a:p>
        </p:txBody>
      </p:sp>
      <p:sp>
        <p:nvSpPr>
          <p:cNvPr id="11" name="TextBox 10"/>
          <p:cNvSpPr txBox="1"/>
          <p:nvPr/>
        </p:nvSpPr>
        <p:spPr>
          <a:xfrm>
            <a:off x="960120"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Cost of inaction</a:t>
            </a:r>
          </a:p>
        </p:txBody>
      </p:sp>
      <p:sp>
        <p:nvSpPr>
          <p:cNvPr id="12" name="TextBox 11"/>
          <p:cNvSpPr txBox="1"/>
          <p:nvPr/>
        </p:nvSpPr>
        <p:spPr>
          <a:xfrm>
            <a:off x="960120" y="4507992"/>
            <a:ext cx="2971800" cy="457200"/>
          </a:xfrm>
          <a:prstGeom prst="rect">
            <a:avLst/>
          </a:prstGeom>
          <a:noFill/>
        </p:spPr>
        <p:txBody>
          <a:bodyPr wrap="square" anchor="t">
            <a:spAutoFit/>
          </a:bodyPr>
          <a:lstStyle/>
          <a:p>
            <a:pPr algn="ctr">
              <a:spcAft>
                <a:spcPts val="400"/>
              </a:spcAft>
            </a:pPr>
            <a:r>
              <a:rPr sz="1200" b="1">
                <a:solidFill>
                  <a:srgbClr val="C03939"/>
                </a:solidFill>
                <a:latin typeface="Arial"/>
              </a:rPr>
              <a:t>▼  </a:t>
            </a:r>
            <a:r>
              <a:rPr sz="1150" b="0">
                <a:solidFill>
                  <a:srgbClr val="5B6372"/>
                </a:solidFill>
                <a:latin typeface="Arial"/>
              </a:rPr>
              <a:t>estimated penalties from two slipped handovers</a:t>
            </a:r>
          </a:p>
        </p:txBody>
      </p:sp>
      <p:sp>
        <p:nvSpPr>
          <p:cNvPr id="13" name="Rectangle 12"/>
          <p:cNvSpPr/>
          <p:nvPr/>
        </p:nvSpPr>
        <p:spPr>
          <a:xfrm>
            <a:off x="4425696"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2286000"/>
            <a:ext cx="3337560" cy="128016"/>
          </a:xfrm>
          <a:prstGeom prst="roundRect">
            <a:avLst/>
          </a:prstGeom>
          <a:gradFill rotWithShape="1">
            <a:gsLst>
              <a:gs pos="0">
                <a:srgbClr val="1BBC87"/>
              </a:gs>
              <a:gs pos="100000">
                <a:srgbClr val="0C9064"/>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2761488"/>
            <a:ext cx="3337560" cy="1097280"/>
          </a:xfrm>
          <a:prstGeom prst="rect">
            <a:avLst/>
          </a:prstGeom>
          <a:noFill/>
        </p:spPr>
        <p:txBody>
          <a:bodyPr wrap="square" anchor="t">
            <a:spAutoFit/>
          </a:bodyPr>
          <a:lstStyle/>
          <a:p>
            <a:pPr algn="ctr">
              <a:spcAft>
                <a:spcPts val="400"/>
              </a:spcAft>
            </a:pPr>
            <a:r>
              <a:rPr sz="4600" b="1">
                <a:solidFill>
                  <a:srgbClr val="10B981"/>
                </a:solidFill>
                <a:latin typeface="Arial"/>
              </a:rPr>
              <a:t>S$6k</a:t>
            </a:r>
          </a:p>
        </p:txBody>
      </p:sp>
      <p:sp>
        <p:nvSpPr>
          <p:cNvPr id="16" name="TextBox 15"/>
          <p:cNvSpPr txBox="1"/>
          <p:nvPr/>
        </p:nvSpPr>
        <p:spPr>
          <a:xfrm>
            <a:off x="4608576"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Annual cost</a:t>
            </a:r>
          </a:p>
        </p:txBody>
      </p:sp>
      <p:sp>
        <p:nvSpPr>
          <p:cNvPr id="17" name="TextBox 16"/>
          <p:cNvSpPr txBox="1"/>
          <p:nvPr/>
        </p:nvSpPr>
        <p:spPr>
          <a:xfrm>
            <a:off x="4608576" y="4507992"/>
            <a:ext cx="2971800" cy="457200"/>
          </a:xfrm>
          <a:prstGeom prst="rect">
            <a:avLst/>
          </a:prstGeom>
          <a:noFill/>
        </p:spPr>
        <p:txBody>
          <a:bodyPr wrap="square" anchor="t">
            <a:spAutoFit/>
          </a:bodyPr>
          <a:lstStyle/>
          <a:p>
            <a:pPr algn="ctr">
              <a:spcAft>
                <a:spcPts val="400"/>
              </a:spcAft>
            </a:pPr>
            <a:r>
              <a:rPr sz="1200" b="1">
                <a:solidFill>
                  <a:srgbClr val="5B6372"/>
                </a:solidFill>
                <a:latin typeface="Arial"/>
              </a:rPr>
              <a:t>●  </a:t>
            </a:r>
            <a:r>
              <a:rPr sz="1150" b="0">
                <a:solidFill>
                  <a:srgbClr val="5B6372"/>
                </a:solidFill>
                <a:latin typeface="Arial"/>
              </a:rPr>
              <a:t>of the proposed solution, all users included</a:t>
            </a:r>
          </a:p>
        </p:txBody>
      </p:sp>
      <p:sp>
        <p:nvSpPr>
          <p:cNvPr id="18" name="Rectangle 17"/>
          <p:cNvSpPr/>
          <p:nvPr/>
        </p:nvSpPr>
        <p:spPr>
          <a:xfrm>
            <a:off x="8074152"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74152" y="2286000"/>
            <a:ext cx="3337560" cy="128016"/>
          </a:xfrm>
          <a:prstGeom prst="roundRect">
            <a:avLst/>
          </a:prstGeom>
          <a:gradFill rotWithShape="1">
            <a:gsLst>
              <a:gs pos="0">
                <a:srgbClr val="8243ED"/>
              </a:gs>
              <a:gs pos="100000">
                <a:srgbClr val="602DB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2761488"/>
            <a:ext cx="3337560" cy="1097280"/>
          </a:xfrm>
          <a:prstGeom prst="rect">
            <a:avLst/>
          </a:prstGeom>
          <a:noFill/>
        </p:spPr>
        <p:txBody>
          <a:bodyPr wrap="square" anchor="t">
            <a:spAutoFit/>
          </a:bodyPr>
          <a:lstStyle/>
          <a:p>
            <a:pPr algn="ctr">
              <a:spcAft>
                <a:spcPts val="400"/>
              </a:spcAft>
            </a:pPr>
            <a:r>
              <a:rPr sz="4600" b="1">
                <a:solidFill>
                  <a:srgbClr val="7C3AED"/>
                </a:solidFill>
                <a:latin typeface="Arial"/>
              </a:rPr>
              <a:t>3x</a:t>
            </a:r>
          </a:p>
        </p:txBody>
      </p:sp>
      <p:sp>
        <p:nvSpPr>
          <p:cNvPr id="21" name="TextBox 20"/>
          <p:cNvSpPr txBox="1"/>
          <p:nvPr/>
        </p:nvSpPr>
        <p:spPr>
          <a:xfrm>
            <a:off x="8257032"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First-year return</a:t>
            </a:r>
          </a:p>
        </p:txBody>
      </p:sp>
      <p:sp>
        <p:nvSpPr>
          <p:cNvPr id="22" name="TextBox 21"/>
          <p:cNvSpPr txBox="1"/>
          <p:nvPr/>
        </p:nvSpPr>
        <p:spPr>
          <a:xfrm>
            <a:off x="8257032" y="4507992"/>
            <a:ext cx="2971800" cy="457200"/>
          </a:xfrm>
          <a:prstGeom prst="rect">
            <a:avLst/>
          </a:prstGeom>
          <a:noFill/>
        </p:spPr>
        <p:txBody>
          <a:bodyPr wrap="square" anchor="t">
            <a:spAutoFit/>
          </a:bodyPr>
          <a:lstStyle/>
          <a:p>
            <a:pPr algn="ctr">
              <a:spcAft>
                <a:spcPts val="400"/>
              </a:spcAft>
            </a:pPr>
            <a:r>
              <a:rPr sz="1200" b="1">
                <a:solidFill>
                  <a:srgbClr val="10B981"/>
                </a:solidFill>
                <a:latin typeface="Arial"/>
              </a:rPr>
              <a:t>▲  </a:t>
            </a:r>
            <a:r>
              <a:rPr sz="1150" b="0">
                <a:solidFill>
                  <a:srgbClr val="5B6372"/>
                </a:solidFill>
                <a:latin typeface="Arial"/>
              </a:rPr>
              <a:t>value returned against cost in year one</a:t>
            </a:r>
          </a:p>
        </p:txBody>
      </p:sp>
      <p:sp>
        <p:nvSpPr>
          <p:cNvPr id="23" name="Rectangle 22"/>
          <p:cNvSpPr/>
          <p:nvPr/>
        </p:nvSpPr>
        <p:spPr>
          <a:xfrm>
            <a:off x="777240" y="562356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623560"/>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623560"/>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Illustrative worked example — build the same three-number case for your own product before your next price conversation.</a:t>
            </a:r>
          </a:p>
        </p:txBody>
      </p:sp>
      <p:sp>
        <p:nvSpPr>
          <p:cNvPr id="26" name="TextBox 2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illustrative ROI worked example, built on this course's scenario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Making It Easy to Buy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Making It Easy to Buy?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 extra form, approval and unanswered question is a place your deal can quietly die. Remove them before the buyer finds them.</a:t>
            </a:r>
          </a:p>
        </p:txBody>
      </p:sp>
      <p:sp>
        <p:nvSpPr>
          <p:cNvPr id="8" name="Rectangle 7"/>
          <p:cNvSpPr/>
          <p:nvPr/>
        </p:nvSpPr>
        <p:spPr>
          <a:xfrm>
            <a:off x="777240" y="2382012"/>
            <a:ext cx="2452878" cy="332841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382012"/>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19172"/>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ear 6 10"/>
          <p:cNvSpPr/>
          <p:nvPr/>
        </p:nvSpPr>
        <p:spPr>
          <a:xfrm>
            <a:off x="1816592" y="2615549"/>
            <a:ext cx="374172" cy="374172"/>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40614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Simplify the Process</a:t>
            </a:r>
          </a:p>
        </p:txBody>
      </p:sp>
      <p:sp>
        <p:nvSpPr>
          <p:cNvPr id="13" name="TextBox 12"/>
          <p:cNvSpPr txBox="1"/>
          <p:nvPr/>
        </p:nvSpPr>
        <p:spPr>
          <a:xfrm>
            <a:off x="941832" y="4009644"/>
            <a:ext cx="2123694" cy="1591056"/>
          </a:xfrm>
          <a:prstGeom prst="rect">
            <a:avLst/>
          </a:prstGeom>
          <a:noFill/>
        </p:spPr>
        <p:txBody>
          <a:bodyPr wrap="square" anchor="t">
            <a:spAutoFit/>
          </a:bodyPr>
          <a:lstStyle/>
          <a:p>
            <a:pPr algn="ctr">
              <a:spcAft>
                <a:spcPts val="400"/>
              </a:spcAft>
            </a:pPr>
            <a:r>
              <a:rPr sz="1000" b="0">
                <a:solidFill>
                  <a:srgbClr val="5B6372"/>
                </a:solidFill>
                <a:latin typeface="Arial"/>
              </a:rPr>
              <a:t>Clear contracts, simple terms, obvious payment options.</a:t>
            </a:r>
          </a:p>
        </p:txBody>
      </p:sp>
      <p:sp>
        <p:nvSpPr>
          <p:cNvPr id="14" name="Rectangle 13"/>
          <p:cNvSpPr/>
          <p:nvPr/>
        </p:nvSpPr>
        <p:spPr>
          <a:xfrm>
            <a:off x="3504438" y="2382012"/>
            <a:ext cx="2452878" cy="332841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382012"/>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47413" y="2519172"/>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4971" y="2626888"/>
            <a:ext cx="42519" cy="3628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617491" y="2626888"/>
            <a:ext cx="269290" cy="1757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40614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Provide Next Steps</a:t>
            </a:r>
          </a:p>
        </p:txBody>
      </p:sp>
      <p:sp>
        <p:nvSpPr>
          <p:cNvPr id="20" name="TextBox 19"/>
          <p:cNvSpPr txBox="1"/>
          <p:nvPr/>
        </p:nvSpPr>
        <p:spPr>
          <a:xfrm>
            <a:off x="3669030" y="4009644"/>
            <a:ext cx="2123694" cy="1591056"/>
          </a:xfrm>
          <a:prstGeom prst="rect">
            <a:avLst/>
          </a:prstGeom>
          <a:noFill/>
        </p:spPr>
        <p:txBody>
          <a:bodyPr wrap="square" anchor="t">
            <a:spAutoFit/>
          </a:bodyPr>
          <a:lstStyle/>
          <a:p>
            <a:pPr algn="ctr">
              <a:spcAft>
                <a:spcPts val="400"/>
              </a:spcAft>
            </a:pPr>
            <a:r>
              <a:rPr sz="1000" b="0">
                <a:solidFill>
                  <a:srgbClr val="5B6372"/>
                </a:solidFill>
                <a:latin typeface="Arial"/>
              </a:rPr>
              <a:t>A dated timeline so nobody wonders what happens now.</a:t>
            </a:r>
          </a:p>
        </p:txBody>
      </p:sp>
      <p:sp>
        <p:nvSpPr>
          <p:cNvPr id="21" name="Rectangle 20"/>
          <p:cNvSpPr/>
          <p:nvPr/>
        </p:nvSpPr>
        <p:spPr>
          <a:xfrm>
            <a:off x="6231636" y="2382012"/>
            <a:ext cx="2452878" cy="332841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382012"/>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519172"/>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59650" y="2626888"/>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500594" y="2626888"/>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236973" y="2808305"/>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480752" y="2808305"/>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96228" y="340614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Name the Owner</a:t>
            </a:r>
          </a:p>
        </p:txBody>
      </p:sp>
      <p:sp>
        <p:nvSpPr>
          <p:cNvPr id="29" name="TextBox 28"/>
          <p:cNvSpPr txBox="1"/>
          <p:nvPr/>
        </p:nvSpPr>
        <p:spPr>
          <a:xfrm>
            <a:off x="6396228" y="4009644"/>
            <a:ext cx="2123694" cy="1591056"/>
          </a:xfrm>
          <a:prstGeom prst="rect">
            <a:avLst/>
          </a:prstGeom>
          <a:noFill/>
        </p:spPr>
        <p:txBody>
          <a:bodyPr wrap="square" anchor="t">
            <a:spAutoFit/>
          </a:bodyPr>
          <a:lstStyle/>
          <a:p>
            <a:pPr algn="ctr">
              <a:spcAft>
                <a:spcPts val="400"/>
              </a:spcAft>
            </a:pPr>
            <a:r>
              <a:rPr sz="1150" b="0">
                <a:solidFill>
                  <a:srgbClr val="5B6372"/>
                </a:solidFill>
                <a:latin typeface="Arial"/>
              </a:rPr>
              <a:t>Say exactly who does what, and by when.</a:t>
            </a:r>
          </a:p>
        </p:txBody>
      </p:sp>
      <p:sp>
        <p:nvSpPr>
          <p:cNvPr id="30" name="Rectangle 29"/>
          <p:cNvSpPr/>
          <p:nvPr/>
        </p:nvSpPr>
        <p:spPr>
          <a:xfrm>
            <a:off x="8958834" y="2382012"/>
            <a:ext cx="2452878" cy="332841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58834" y="2382012"/>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01809" y="2519172"/>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entagon 32"/>
          <p:cNvSpPr/>
          <p:nvPr/>
        </p:nvSpPr>
        <p:spPr>
          <a:xfrm rot="5400000">
            <a:off x="10020863" y="2638226"/>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23426" y="340614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De-Risk the Decision</a:t>
            </a:r>
          </a:p>
        </p:txBody>
      </p:sp>
      <p:sp>
        <p:nvSpPr>
          <p:cNvPr id="35" name="TextBox 34"/>
          <p:cNvSpPr txBox="1"/>
          <p:nvPr/>
        </p:nvSpPr>
        <p:spPr>
          <a:xfrm>
            <a:off x="9123426" y="4009644"/>
            <a:ext cx="2123694" cy="1591056"/>
          </a:xfrm>
          <a:prstGeom prst="rect">
            <a:avLst/>
          </a:prstGeom>
          <a:noFill/>
        </p:spPr>
        <p:txBody>
          <a:bodyPr wrap="square" anchor="t">
            <a:spAutoFit/>
          </a:bodyPr>
          <a:lstStyle/>
          <a:p>
            <a:pPr algn="ctr">
              <a:spcAft>
                <a:spcPts val="400"/>
              </a:spcAft>
            </a:pPr>
            <a:r>
              <a:rPr sz="1000" b="0">
                <a:solidFill>
                  <a:srgbClr val="5B6372"/>
                </a:solidFill>
                <a:latin typeface="Arial"/>
              </a:rPr>
              <a:t>Pilot, trial or staged rollout instead of all-or-nothing.</a:t>
            </a:r>
          </a:p>
        </p:txBody>
      </p:sp>
      <p:sp>
        <p:nvSpPr>
          <p:cNvPr id="36" name="TextBox 3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buying-friction reduction practice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Mutual Action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Agree the Goal</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The outcome and the date it must happen by.</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List the Steps</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Every task from signature to first use.</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Assign Owners</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A name against each step, both sides.</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Set Check-Ins</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Dates you both already have in the diary.</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mutual action plan turns 'we'll get back to you' into a shared document with your name and theirs on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mutual action plan / close-plan practice (alexberman.com)</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High-Friction vs Low-Friction Buying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High Friction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Low Friction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14-page contract with no summary.</a:t>
            </a:r>
          </a:p>
          <a:p>
            <a:pPr>
              <a:spcAft>
                <a:spcPts val="1000"/>
              </a:spcAft>
            </a:pPr>
            <a:r>
              <a:rPr sz="1600" b="0">
                <a:solidFill>
                  <a:srgbClr val="161B26"/>
                </a:solidFill>
                <a:latin typeface="Arial"/>
              </a:rPr>
              <a:t>•  "Someone from onboarding will be in touch."</a:t>
            </a:r>
          </a:p>
          <a:p>
            <a:pPr>
              <a:spcAft>
                <a:spcPts val="1000"/>
              </a:spcAft>
            </a:pPr>
            <a:r>
              <a:rPr sz="1600" b="0">
                <a:solidFill>
                  <a:srgbClr val="161B26"/>
                </a:solidFill>
                <a:latin typeface="Arial"/>
              </a:rPr>
              <a:t>•  Buyer must chase you for the next step.</a:t>
            </a:r>
          </a:p>
          <a:p>
            <a:pPr>
              <a:spcAft>
                <a:spcPts val="1000"/>
              </a:spcAft>
            </a:pPr>
            <a:r>
              <a:rPr sz="1600" b="0">
                <a:solidFill>
                  <a:srgbClr val="161B26"/>
                </a:solidFill>
                <a:latin typeface="Arial"/>
              </a:rPr>
              <a:t>•  All-or-nothing commitment with no exit.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one-page summary attached to the contract.</a:t>
            </a:r>
          </a:p>
          <a:p>
            <a:pPr>
              <a:spcAft>
                <a:spcPts val="1000"/>
              </a:spcAft>
            </a:pPr>
            <a:r>
              <a:rPr sz="1600" b="0">
                <a:solidFill>
                  <a:srgbClr val="161B26"/>
                </a:solidFill>
                <a:latin typeface="Arial"/>
              </a:rPr>
              <a:t>•  "Priya starts your setup on the 4th at 10am."</a:t>
            </a:r>
          </a:p>
          <a:p>
            <a:pPr>
              <a:spcAft>
                <a:spcPts val="1000"/>
              </a:spcAft>
            </a:pPr>
            <a:r>
              <a:rPr sz="1600" b="0">
                <a:solidFill>
                  <a:srgbClr val="161B26"/>
                </a:solidFill>
                <a:latin typeface="Arial"/>
              </a:rPr>
              <a:t>•  The next step is already in both calendars.</a:t>
            </a:r>
          </a:p>
          <a:p>
            <a:pPr>
              <a:spcAft>
                <a:spcPts val="1000"/>
              </a:spcAft>
            </a:pPr>
            <a:r>
              <a:rPr sz="1600" b="0">
                <a:solidFill>
                  <a:srgbClr val="161B26"/>
                </a:solidFill>
                <a:latin typeface="Arial"/>
              </a:rPr>
              <a:t>•  A 30-day pilot with a clear success measure.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buying-experience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Where Buyers Drop Out After 'Yes'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Illustrative post-agreement drop-off. Most of this is process friction, not a change of heart.</a:t>
            </a:r>
          </a:p>
        </p:txBody>
      </p:sp>
      <p:sp>
        <p:nvSpPr>
          <p:cNvPr id="8" name="Rectangle 7"/>
          <p:cNvSpPr/>
          <p:nvPr/>
        </p:nvSpPr>
        <p:spPr>
          <a:xfrm>
            <a:off x="1005840" y="2148840"/>
            <a:ext cx="5120640" cy="806958"/>
          </a:xfrm>
          <a:prstGeom prst="rect">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2148840"/>
            <a:ext cx="5120640" cy="806958"/>
          </a:xfrm>
          <a:prstGeom prst="rect">
            <a:avLst/>
          </a:prstGeom>
          <a:noFill/>
        </p:spPr>
        <p:txBody>
          <a:bodyPr wrap="square" anchor="ctr">
            <a:spAutoFit/>
          </a:bodyPr>
          <a:lstStyle/>
          <a:p>
            <a:pPr algn="ctr">
              <a:spcAft>
                <a:spcPts val="400"/>
              </a:spcAft>
            </a:pPr>
            <a:r>
              <a:rPr sz="1350" b="1">
                <a:solidFill>
                  <a:srgbClr val="FFFFFF"/>
                </a:solidFill>
                <a:latin typeface="Arial"/>
              </a:rPr>
              <a:t>Verbal Yes   </a:t>
            </a:r>
            <a:r>
              <a:rPr sz="1700" b="1">
                <a:solidFill>
                  <a:srgbClr val="FFFFFF"/>
                </a:solidFill>
                <a:latin typeface="Arial"/>
              </a:rPr>
              <a:t>100</a:t>
            </a:r>
          </a:p>
        </p:txBody>
      </p:sp>
      <p:sp>
        <p:nvSpPr>
          <p:cNvPr id="10" name="Rectangle 9"/>
          <p:cNvSpPr/>
          <p:nvPr/>
        </p:nvSpPr>
        <p:spPr>
          <a:xfrm>
            <a:off x="6583680" y="2148840"/>
            <a:ext cx="4828032" cy="806958"/>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0" y="2148840"/>
            <a:ext cx="73152" cy="80695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21424" y="2148840"/>
            <a:ext cx="4480560" cy="806958"/>
          </a:xfrm>
          <a:prstGeom prst="rect">
            <a:avLst/>
          </a:prstGeom>
          <a:noFill/>
        </p:spPr>
        <p:txBody>
          <a:bodyPr wrap="square" anchor="ctr">
            <a:spAutoFit/>
          </a:bodyPr>
          <a:lstStyle/>
          <a:p>
            <a:pPr algn="l">
              <a:spcAft>
                <a:spcPts val="400"/>
              </a:spcAft>
            </a:pPr>
            <a:r>
              <a:rPr sz="1200" b="0">
                <a:solidFill>
                  <a:srgbClr val="161B26"/>
                </a:solidFill>
                <a:latin typeface="Arial"/>
              </a:rPr>
              <a:t>Buyers who said yes in the room.</a:t>
            </a:r>
          </a:p>
        </p:txBody>
      </p:sp>
      <p:sp>
        <p:nvSpPr>
          <p:cNvPr id="13" name="Rectangle 12"/>
          <p:cNvSpPr/>
          <p:nvPr/>
        </p:nvSpPr>
        <p:spPr>
          <a:xfrm>
            <a:off x="1554480" y="3028950"/>
            <a:ext cx="4023360" cy="806958"/>
          </a:xfrm>
          <a:prstGeom prst="rect">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554480" y="3028950"/>
            <a:ext cx="4023360" cy="806958"/>
          </a:xfrm>
          <a:prstGeom prst="rect">
            <a:avLst/>
          </a:prstGeom>
          <a:noFill/>
        </p:spPr>
        <p:txBody>
          <a:bodyPr wrap="square" anchor="ctr">
            <a:spAutoFit/>
          </a:bodyPr>
          <a:lstStyle/>
          <a:p>
            <a:pPr algn="ctr">
              <a:spcAft>
                <a:spcPts val="400"/>
              </a:spcAft>
            </a:pPr>
            <a:r>
              <a:rPr sz="1350" b="1">
                <a:solidFill>
                  <a:srgbClr val="FFFFFF"/>
                </a:solidFill>
                <a:latin typeface="Arial"/>
              </a:rPr>
              <a:t>Proposal Signed   </a:t>
            </a:r>
            <a:r>
              <a:rPr sz="1700" b="1">
                <a:solidFill>
                  <a:srgbClr val="FFFFFF"/>
                </a:solidFill>
                <a:latin typeface="Arial"/>
              </a:rPr>
              <a:t>72</a:t>
            </a:r>
          </a:p>
        </p:txBody>
      </p:sp>
      <p:sp>
        <p:nvSpPr>
          <p:cNvPr id="15" name="Rectangle 14"/>
          <p:cNvSpPr/>
          <p:nvPr/>
        </p:nvSpPr>
        <p:spPr>
          <a:xfrm>
            <a:off x="6583680" y="3028950"/>
            <a:ext cx="4828032" cy="806958"/>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0" y="3028950"/>
            <a:ext cx="73152" cy="80695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21424" y="3028950"/>
            <a:ext cx="4480560" cy="806958"/>
          </a:xfrm>
          <a:prstGeom prst="rect">
            <a:avLst/>
          </a:prstGeom>
          <a:noFill/>
        </p:spPr>
        <p:txBody>
          <a:bodyPr wrap="square" anchor="ctr">
            <a:spAutoFit/>
          </a:bodyPr>
          <a:lstStyle/>
          <a:p>
            <a:pPr algn="l">
              <a:spcAft>
                <a:spcPts val="400"/>
              </a:spcAft>
            </a:pPr>
            <a:r>
              <a:rPr sz="1200" b="0">
                <a:solidFill>
                  <a:srgbClr val="161B26"/>
                </a:solidFill>
                <a:latin typeface="Arial"/>
              </a:rPr>
              <a:t>Reached signature without stalling.</a:t>
            </a:r>
          </a:p>
        </p:txBody>
      </p:sp>
      <p:sp>
        <p:nvSpPr>
          <p:cNvPr id="18" name="Rectangle 17"/>
          <p:cNvSpPr/>
          <p:nvPr/>
        </p:nvSpPr>
        <p:spPr>
          <a:xfrm>
            <a:off x="2103120" y="3909060"/>
            <a:ext cx="2926080" cy="806958"/>
          </a:xfrm>
          <a:prstGeom prst="rect">
            <a:avLst/>
          </a:prstGeom>
          <a:solidFill>
            <a:srgbClr val="7C3AED"/>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103120" y="3909060"/>
            <a:ext cx="2926080" cy="806958"/>
          </a:xfrm>
          <a:prstGeom prst="rect">
            <a:avLst/>
          </a:prstGeom>
          <a:noFill/>
        </p:spPr>
        <p:txBody>
          <a:bodyPr wrap="square" anchor="ctr">
            <a:spAutoFit/>
          </a:bodyPr>
          <a:lstStyle/>
          <a:p>
            <a:pPr algn="ctr">
              <a:spcAft>
                <a:spcPts val="400"/>
              </a:spcAft>
            </a:pPr>
            <a:r>
              <a:rPr sz="1350" b="1">
                <a:solidFill>
                  <a:srgbClr val="FFFFFF"/>
                </a:solidFill>
                <a:latin typeface="Arial"/>
              </a:rPr>
              <a:t>Procurement Cleared   </a:t>
            </a:r>
            <a:r>
              <a:rPr sz="1700" b="1">
                <a:solidFill>
                  <a:srgbClr val="FFFFFF"/>
                </a:solidFill>
                <a:latin typeface="Arial"/>
              </a:rPr>
              <a:t>58</a:t>
            </a:r>
          </a:p>
        </p:txBody>
      </p:sp>
      <p:sp>
        <p:nvSpPr>
          <p:cNvPr id="20" name="Rectangle 19"/>
          <p:cNvSpPr/>
          <p:nvPr/>
        </p:nvSpPr>
        <p:spPr>
          <a:xfrm>
            <a:off x="6583680" y="3909060"/>
            <a:ext cx="4828032" cy="806958"/>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3909060"/>
            <a:ext cx="73152" cy="80695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3909060"/>
            <a:ext cx="4480560" cy="806958"/>
          </a:xfrm>
          <a:prstGeom prst="rect">
            <a:avLst/>
          </a:prstGeom>
          <a:noFill/>
        </p:spPr>
        <p:txBody>
          <a:bodyPr wrap="square" anchor="ctr">
            <a:spAutoFit/>
          </a:bodyPr>
          <a:lstStyle/>
          <a:p>
            <a:pPr algn="l">
              <a:spcAft>
                <a:spcPts val="400"/>
              </a:spcAft>
            </a:pPr>
            <a:r>
              <a:rPr sz="1200" b="0">
                <a:solidFill>
                  <a:srgbClr val="161B26"/>
                </a:solidFill>
                <a:latin typeface="Arial"/>
              </a:rPr>
              <a:t>Survived finance and legal review.</a:t>
            </a:r>
          </a:p>
        </p:txBody>
      </p:sp>
      <p:sp>
        <p:nvSpPr>
          <p:cNvPr id="23" name="Rectangle 22"/>
          <p:cNvSpPr/>
          <p:nvPr/>
        </p:nvSpPr>
        <p:spPr>
          <a:xfrm>
            <a:off x="2651760" y="4789170"/>
            <a:ext cx="1828800" cy="806958"/>
          </a:xfrm>
          <a:prstGeom prst="rect">
            <a:avLst/>
          </a:prstGeom>
          <a:solidFill>
            <a:srgbClr val="F59E0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651760" y="4789170"/>
            <a:ext cx="1828800" cy="806958"/>
          </a:xfrm>
          <a:prstGeom prst="rect">
            <a:avLst/>
          </a:prstGeom>
          <a:noFill/>
        </p:spPr>
        <p:txBody>
          <a:bodyPr wrap="square" anchor="ctr">
            <a:spAutoFit/>
          </a:bodyPr>
          <a:lstStyle/>
          <a:p>
            <a:pPr algn="ctr">
              <a:spcAft>
                <a:spcPts val="400"/>
              </a:spcAft>
            </a:pPr>
            <a:r>
              <a:rPr sz="1350" b="1">
                <a:solidFill>
                  <a:srgbClr val="FFFFFF"/>
                </a:solidFill>
                <a:latin typeface="Arial"/>
              </a:rPr>
              <a:t>Live and Using It   </a:t>
            </a:r>
            <a:r>
              <a:rPr sz="1700" b="1">
                <a:solidFill>
                  <a:srgbClr val="FFFFFF"/>
                </a:solidFill>
                <a:latin typeface="Arial"/>
              </a:rPr>
              <a:t>44</a:t>
            </a:r>
          </a:p>
        </p:txBody>
      </p:sp>
      <p:sp>
        <p:nvSpPr>
          <p:cNvPr id="25" name="Rectangle 24"/>
          <p:cNvSpPr/>
          <p:nvPr/>
        </p:nvSpPr>
        <p:spPr>
          <a:xfrm>
            <a:off x="6583680" y="4789170"/>
            <a:ext cx="4828032" cy="806958"/>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0" y="4789170"/>
            <a:ext cx="73152" cy="80695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789170"/>
            <a:ext cx="4480560" cy="806958"/>
          </a:xfrm>
          <a:prstGeom prst="rect">
            <a:avLst/>
          </a:prstGeom>
          <a:noFill/>
        </p:spPr>
        <p:txBody>
          <a:bodyPr wrap="square" anchor="ctr">
            <a:spAutoFit/>
          </a:bodyPr>
          <a:lstStyle/>
          <a:p>
            <a:pPr algn="l">
              <a:spcAft>
                <a:spcPts val="400"/>
              </a:spcAft>
            </a:pPr>
            <a:r>
              <a:rPr sz="1200" b="0">
                <a:solidFill>
                  <a:srgbClr val="161B26"/>
                </a:solidFill>
                <a:latin typeface="Arial"/>
              </a:rPr>
              <a:t>Actually onboarded and active.</a:t>
            </a:r>
          </a:p>
        </p:txBody>
      </p:sp>
      <p:sp>
        <p:nvSpPr>
          <p:cNvPr id="28" name="Rectangle 27"/>
          <p:cNvSpPr/>
          <p:nvPr/>
        </p:nvSpPr>
        <p:spPr>
          <a:xfrm>
            <a:off x="777240" y="5760720"/>
            <a:ext cx="10634472"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760720"/>
            <a:ext cx="91440"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760720"/>
            <a:ext cx="10058400" cy="493776"/>
          </a:xfrm>
          <a:prstGeom prst="rect">
            <a:avLst/>
          </a:prstGeom>
          <a:noFill/>
        </p:spPr>
        <p:txBody>
          <a:bodyPr wrap="square" anchor="ctr">
            <a:spAutoFit/>
          </a:bodyPr>
          <a:lstStyle/>
          <a:p>
            <a:pPr algn="l">
              <a:spcAft>
                <a:spcPts val="400"/>
              </a:spcAft>
            </a:pPr>
            <a:r>
              <a:rPr sz="1200" b="1">
                <a:solidFill>
                  <a:srgbClr val="161B26"/>
                </a:solidFill>
                <a:latin typeface="Arial"/>
              </a:rPr>
              <a:t>Every stage you fail to plan for is a stage where the deal can quietly die.</a:t>
            </a:r>
          </a:p>
        </p:txBody>
      </p:sp>
      <p:sp>
        <p:nvSpPr>
          <p:cNvPr id="31" name="TextBox 30"/>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illustrative post-agreement drop-off, deal-desk practice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Proper Follow-Up</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Proper Follow-Up?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Most sellers quit after one follow-up. Most sales close after five. That gap is the cheapest money in this entire course.</a:t>
            </a:r>
          </a:p>
        </p:txBody>
      </p:sp>
      <p:sp>
        <p:nvSpPr>
          <p:cNvPr id="8" name="Rectangle 7"/>
          <p:cNvSpPr/>
          <p:nvPr/>
        </p:nvSpPr>
        <p:spPr>
          <a:xfrm>
            <a:off x="777240" y="2391156"/>
            <a:ext cx="2452878" cy="33101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391156"/>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28316"/>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ircular Arrow 10"/>
          <p:cNvSpPr/>
          <p:nvPr/>
        </p:nvSpPr>
        <p:spPr>
          <a:xfrm>
            <a:off x="1748561" y="2556662"/>
            <a:ext cx="510235" cy="510235"/>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415284"/>
            <a:ext cx="2123694" cy="566928"/>
          </a:xfrm>
          <a:prstGeom prst="rect">
            <a:avLst/>
          </a:prstGeom>
          <a:noFill/>
        </p:spPr>
        <p:txBody>
          <a:bodyPr wrap="square" anchor="t">
            <a:spAutoFit/>
          </a:bodyPr>
          <a:lstStyle/>
          <a:p>
            <a:pPr algn="ctr">
              <a:spcAft>
                <a:spcPts val="400"/>
              </a:spcAft>
            </a:pPr>
            <a:r>
              <a:rPr sz="1400" b="1">
                <a:solidFill>
                  <a:srgbClr val="161B26"/>
                </a:solidFill>
                <a:latin typeface="Arial"/>
              </a:rPr>
              <a:t>Be Persistent, Not Pushy</a:t>
            </a:r>
          </a:p>
        </p:txBody>
      </p:sp>
      <p:sp>
        <p:nvSpPr>
          <p:cNvPr id="13" name="TextBox 12"/>
          <p:cNvSpPr txBox="1"/>
          <p:nvPr/>
        </p:nvSpPr>
        <p:spPr>
          <a:xfrm>
            <a:off x="941832" y="4018788"/>
            <a:ext cx="2123694" cy="1572768"/>
          </a:xfrm>
          <a:prstGeom prst="rect">
            <a:avLst/>
          </a:prstGeom>
          <a:noFill/>
        </p:spPr>
        <p:txBody>
          <a:bodyPr wrap="square" anchor="t">
            <a:spAutoFit/>
          </a:bodyPr>
          <a:lstStyle/>
          <a:p>
            <a:pPr algn="ctr">
              <a:spcAft>
                <a:spcPts val="400"/>
              </a:spcAft>
            </a:pPr>
            <a:r>
              <a:rPr sz="1000" b="0">
                <a:solidFill>
                  <a:srgbClr val="5B6372"/>
                </a:solidFill>
                <a:latin typeface="Arial"/>
              </a:rPr>
              <a:t>Every touch carries new value, never just 'checking in'.</a:t>
            </a:r>
          </a:p>
        </p:txBody>
      </p:sp>
      <p:sp>
        <p:nvSpPr>
          <p:cNvPr id="14" name="Rectangle 13"/>
          <p:cNvSpPr/>
          <p:nvPr/>
        </p:nvSpPr>
        <p:spPr>
          <a:xfrm>
            <a:off x="3504438" y="2391156"/>
            <a:ext cx="2452878" cy="33101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391156"/>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47413" y="2528316"/>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eart 16"/>
          <p:cNvSpPr/>
          <p:nvPr/>
        </p:nvSpPr>
        <p:spPr>
          <a:xfrm>
            <a:off x="4543790" y="2636032"/>
            <a:ext cx="374172" cy="351495"/>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9030" y="341528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Thank and Reiterate</a:t>
            </a:r>
          </a:p>
        </p:txBody>
      </p:sp>
      <p:sp>
        <p:nvSpPr>
          <p:cNvPr id="19" name="TextBox 18"/>
          <p:cNvSpPr txBox="1"/>
          <p:nvPr/>
        </p:nvSpPr>
        <p:spPr>
          <a:xfrm>
            <a:off x="3669030" y="4018788"/>
            <a:ext cx="2123694" cy="1572768"/>
          </a:xfrm>
          <a:prstGeom prst="rect">
            <a:avLst/>
          </a:prstGeom>
          <a:noFill/>
        </p:spPr>
        <p:txBody>
          <a:bodyPr wrap="square" anchor="t">
            <a:spAutoFit/>
          </a:bodyPr>
          <a:lstStyle/>
          <a:p>
            <a:pPr algn="ctr">
              <a:spcAft>
                <a:spcPts val="400"/>
              </a:spcAft>
            </a:pPr>
            <a:r>
              <a:rPr sz="1150" b="0">
                <a:solidFill>
                  <a:srgbClr val="5B6372"/>
                </a:solidFill>
                <a:latin typeface="Arial"/>
              </a:rPr>
              <a:t>Restate the benefit in the buyer's own words.</a:t>
            </a:r>
          </a:p>
        </p:txBody>
      </p:sp>
      <p:sp>
        <p:nvSpPr>
          <p:cNvPr id="20" name="Rectangle 19"/>
          <p:cNvSpPr/>
          <p:nvPr/>
        </p:nvSpPr>
        <p:spPr>
          <a:xfrm>
            <a:off x="6231636" y="2391156"/>
            <a:ext cx="2452878" cy="33101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31636" y="2391156"/>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4611" y="2528316"/>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entagon 22"/>
          <p:cNvSpPr/>
          <p:nvPr/>
        </p:nvSpPr>
        <p:spPr>
          <a:xfrm rot="5400000">
            <a:off x="7293665" y="2647370"/>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96228" y="341528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Respect Boundaries</a:t>
            </a:r>
          </a:p>
        </p:txBody>
      </p:sp>
      <p:sp>
        <p:nvSpPr>
          <p:cNvPr id="25" name="TextBox 24"/>
          <p:cNvSpPr txBox="1"/>
          <p:nvPr/>
        </p:nvSpPr>
        <p:spPr>
          <a:xfrm>
            <a:off x="6396228" y="4018788"/>
            <a:ext cx="2123694" cy="1572768"/>
          </a:xfrm>
          <a:prstGeom prst="rect">
            <a:avLst/>
          </a:prstGeom>
          <a:noFill/>
        </p:spPr>
        <p:txBody>
          <a:bodyPr wrap="square" anchor="t">
            <a:spAutoFit/>
          </a:bodyPr>
          <a:lstStyle/>
          <a:p>
            <a:pPr algn="ctr">
              <a:spcAft>
                <a:spcPts val="400"/>
              </a:spcAft>
            </a:pPr>
            <a:r>
              <a:rPr sz="1000" b="0">
                <a:solidFill>
                  <a:srgbClr val="5B6372"/>
                </a:solidFill>
                <a:latin typeface="Arial"/>
              </a:rPr>
              <a:t>Honour a real no — and leave the door genuinely open.</a:t>
            </a:r>
          </a:p>
        </p:txBody>
      </p:sp>
      <p:sp>
        <p:nvSpPr>
          <p:cNvPr id="26" name="Rectangle 25"/>
          <p:cNvSpPr/>
          <p:nvPr/>
        </p:nvSpPr>
        <p:spPr>
          <a:xfrm>
            <a:off x="8958834" y="2391156"/>
            <a:ext cx="2452878" cy="33101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958834" y="2391156"/>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01809" y="2528316"/>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009525" y="2845795"/>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0128580" y="2746583"/>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10247635" y="2661544"/>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23426" y="341528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Address Open Concerns</a:t>
            </a:r>
          </a:p>
        </p:txBody>
      </p:sp>
      <p:sp>
        <p:nvSpPr>
          <p:cNvPr id="33" name="TextBox 32"/>
          <p:cNvSpPr txBox="1"/>
          <p:nvPr/>
        </p:nvSpPr>
        <p:spPr>
          <a:xfrm>
            <a:off x="9123426" y="4018788"/>
            <a:ext cx="2123694" cy="1572768"/>
          </a:xfrm>
          <a:prstGeom prst="rect">
            <a:avLst/>
          </a:prstGeom>
          <a:noFill/>
        </p:spPr>
        <p:txBody>
          <a:bodyPr wrap="square" anchor="t">
            <a:spAutoFit/>
          </a:bodyPr>
          <a:lstStyle/>
          <a:p>
            <a:pPr algn="ctr">
              <a:spcAft>
                <a:spcPts val="400"/>
              </a:spcAft>
            </a:pPr>
            <a:r>
              <a:rPr sz="1000" b="0">
                <a:solidFill>
                  <a:srgbClr val="5B6372"/>
                </a:solidFill>
                <a:latin typeface="Arial"/>
              </a:rPr>
              <a:t>Answer the thing they didn't quite say last time.</a:t>
            </a:r>
          </a:p>
        </p:txBody>
      </p:sp>
      <p:sp>
        <p:nvSpPr>
          <p:cNvPr id="34" name="TextBox 33"/>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 follow-up practice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T5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17-21 Day Follow-Up Cadence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Most sales need five or more touches. Space them 2-3 days apart, and give each one a reason to exist.</a:t>
            </a:r>
          </a:p>
        </p:txBody>
      </p:sp>
      <p:sp>
        <p:nvSpPr>
          <p:cNvPr id="8" name="Rectangle 7"/>
          <p:cNvSpPr/>
          <p:nvPr/>
        </p:nvSpPr>
        <p:spPr>
          <a:xfrm>
            <a:off x="1005840" y="2148840"/>
            <a:ext cx="5120640" cy="630936"/>
          </a:xfrm>
          <a:prstGeom prst="rect">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2148840"/>
            <a:ext cx="5120640" cy="630936"/>
          </a:xfrm>
          <a:prstGeom prst="rect">
            <a:avLst/>
          </a:prstGeom>
          <a:noFill/>
        </p:spPr>
        <p:txBody>
          <a:bodyPr wrap="square" anchor="ctr">
            <a:spAutoFit/>
          </a:bodyPr>
          <a:lstStyle/>
          <a:p>
            <a:pPr algn="ctr">
              <a:spcAft>
                <a:spcPts val="400"/>
              </a:spcAft>
            </a:pPr>
            <a:r>
              <a:rPr sz="1350" b="1">
                <a:solidFill>
                  <a:srgbClr val="FFFFFF"/>
                </a:solidFill>
                <a:latin typeface="Arial"/>
              </a:rPr>
              <a:t>Day 1   </a:t>
            </a:r>
            <a:r>
              <a:rPr sz="1700" b="1">
                <a:solidFill>
                  <a:srgbClr val="FFFFFF"/>
                </a:solidFill>
                <a:latin typeface="Arial"/>
              </a:rPr>
              <a:t>Touch 1</a:t>
            </a:r>
          </a:p>
        </p:txBody>
      </p:sp>
      <p:sp>
        <p:nvSpPr>
          <p:cNvPr id="10" name="Rectangle 9"/>
          <p:cNvSpPr/>
          <p:nvPr/>
        </p:nvSpPr>
        <p:spPr>
          <a:xfrm>
            <a:off x="6583680" y="2148840"/>
            <a:ext cx="4828032" cy="630936"/>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0" y="2148840"/>
            <a:ext cx="73152" cy="6309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21424" y="2148840"/>
            <a:ext cx="4480560" cy="630936"/>
          </a:xfrm>
          <a:prstGeom prst="rect">
            <a:avLst/>
          </a:prstGeom>
          <a:noFill/>
        </p:spPr>
        <p:txBody>
          <a:bodyPr wrap="square" anchor="ctr">
            <a:spAutoFit/>
          </a:bodyPr>
          <a:lstStyle/>
          <a:p>
            <a:pPr algn="l">
              <a:spcAft>
                <a:spcPts val="400"/>
              </a:spcAft>
            </a:pPr>
            <a:r>
              <a:rPr sz="1200" b="0">
                <a:solidFill>
                  <a:srgbClr val="161B26"/>
                </a:solidFill>
                <a:latin typeface="Arial"/>
              </a:rPr>
              <a:t>Thank them; reiterate the benefit in their words.</a:t>
            </a:r>
          </a:p>
        </p:txBody>
      </p:sp>
      <p:sp>
        <p:nvSpPr>
          <p:cNvPr id="13" name="Rectangle 12"/>
          <p:cNvSpPr/>
          <p:nvPr/>
        </p:nvSpPr>
        <p:spPr>
          <a:xfrm>
            <a:off x="1417320" y="2852928"/>
            <a:ext cx="4297680" cy="630936"/>
          </a:xfrm>
          <a:prstGeom prst="rect">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417320" y="2852928"/>
            <a:ext cx="4297680" cy="630936"/>
          </a:xfrm>
          <a:prstGeom prst="rect">
            <a:avLst/>
          </a:prstGeom>
          <a:noFill/>
        </p:spPr>
        <p:txBody>
          <a:bodyPr wrap="square" anchor="ctr">
            <a:spAutoFit/>
          </a:bodyPr>
          <a:lstStyle/>
          <a:p>
            <a:pPr algn="ctr">
              <a:spcAft>
                <a:spcPts val="400"/>
              </a:spcAft>
            </a:pPr>
            <a:r>
              <a:rPr sz="1350" b="1">
                <a:solidFill>
                  <a:srgbClr val="FFFFFF"/>
                </a:solidFill>
                <a:latin typeface="Arial"/>
              </a:rPr>
              <a:t>Day 3-4   </a:t>
            </a:r>
            <a:r>
              <a:rPr sz="1700" b="1">
                <a:solidFill>
                  <a:srgbClr val="FFFFFF"/>
                </a:solidFill>
                <a:latin typeface="Arial"/>
              </a:rPr>
              <a:t>Touch 2</a:t>
            </a:r>
          </a:p>
        </p:txBody>
      </p:sp>
      <p:sp>
        <p:nvSpPr>
          <p:cNvPr id="15" name="Rectangle 14"/>
          <p:cNvSpPr/>
          <p:nvPr/>
        </p:nvSpPr>
        <p:spPr>
          <a:xfrm>
            <a:off x="6583680" y="2852928"/>
            <a:ext cx="4828032" cy="630936"/>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0" y="2852928"/>
            <a:ext cx="73152" cy="630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21424" y="2852928"/>
            <a:ext cx="4480560" cy="630936"/>
          </a:xfrm>
          <a:prstGeom prst="rect">
            <a:avLst/>
          </a:prstGeom>
          <a:noFill/>
        </p:spPr>
        <p:txBody>
          <a:bodyPr wrap="square" anchor="ctr">
            <a:spAutoFit/>
          </a:bodyPr>
          <a:lstStyle/>
          <a:p>
            <a:pPr algn="l">
              <a:spcAft>
                <a:spcPts val="400"/>
              </a:spcAft>
            </a:pPr>
            <a:r>
              <a:rPr sz="1200" b="0">
                <a:solidFill>
                  <a:srgbClr val="161B26"/>
                </a:solidFill>
                <a:latin typeface="Arial"/>
              </a:rPr>
              <a:t>New value — a relevant insight, not 'just checking in'.</a:t>
            </a:r>
          </a:p>
        </p:txBody>
      </p:sp>
      <p:sp>
        <p:nvSpPr>
          <p:cNvPr id="18" name="Rectangle 17"/>
          <p:cNvSpPr/>
          <p:nvPr/>
        </p:nvSpPr>
        <p:spPr>
          <a:xfrm>
            <a:off x="1828800" y="3557016"/>
            <a:ext cx="3474720" cy="630936"/>
          </a:xfrm>
          <a:prstGeom prst="rect">
            <a:avLst/>
          </a:prstGeom>
          <a:solidFill>
            <a:srgbClr val="7C3AED"/>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828800" y="3557016"/>
            <a:ext cx="3474720" cy="630936"/>
          </a:xfrm>
          <a:prstGeom prst="rect">
            <a:avLst/>
          </a:prstGeom>
          <a:noFill/>
        </p:spPr>
        <p:txBody>
          <a:bodyPr wrap="square" anchor="ctr">
            <a:spAutoFit/>
          </a:bodyPr>
          <a:lstStyle/>
          <a:p>
            <a:pPr algn="ctr">
              <a:spcAft>
                <a:spcPts val="400"/>
              </a:spcAft>
            </a:pPr>
            <a:r>
              <a:rPr sz="1350" b="1">
                <a:solidFill>
                  <a:srgbClr val="FFFFFF"/>
                </a:solidFill>
                <a:latin typeface="Arial"/>
              </a:rPr>
              <a:t>Day 7-8   </a:t>
            </a:r>
            <a:r>
              <a:rPr sz="1700" b="1">
                <a:solidFill>
                  <a:srgbClr val="FFFFFF"/>
                </a:solidFill>
                <a:latin typeface="Arial"/>
              </a:rPr>
              <a:t>Touch 3</a:t>
            </a:r>
          </a:p>
        </p:txBody>
      </p:sp>
      <p:sp>
        <p:nvSpPr>
          <p:cNvPr id="20" name="Rectangle 19"/>
          <p:cNvSpPr/>
          <p:nvPr/>
        </p:nvSpPr>
        <p:spPr>
          <a:xfrm>
            <a:off x="6583680" y="3557016"/>
            <a:ext cx="4828032" cy="630936"/>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3557016"/>
            <a:ext cx="73152" cy="6309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3557016"/>
            <a:ext cx="4480560" cy="630936"/>
          </a:xfrm>
          <a:prstGeom prst="rect">
            <a:avLst/>
          </a:prstGeom>
          <a:noFill/>
        </p:spPr>
        <p:txBody>
          <a:bodyPr wrap="square" anchor="ctr">
            <a:spAutoFit/>
          </a:bodyPr>
          <a:lstStyle/>
          <a:p>
            <a:pPr algn="l">
              <a:spcAft>
                <a:spcPts val="400"/>
              </a:spcAft>
            </a:pPr>
            <a:r>
              <a:rPr sz="1200" b="0">
                <a:solidFill>
                  <a:srgbClr val="161B26"/>
                </a:solidFill>
                <a:latin typeface="Arial"/>
              </a:rPr>
              <a:t>Address the open concern; re-confirm the timeline.</a:t>
            </a:r>
          </a:p>
        </p:txBody>
      </p:sp>
      <p:sp>
        <p:nvSpPr>
          <p:cNvPr id="23" name="Rectangle 22"/>
          <p:cNvSpPr/>
          <p:nvPr/>
        </p:nvSpPr>
        <p:spPr>
          <a:xfrm>
            <a:off x="2240280" y="4261104"/>
            <a:ext cx="2651760" cy="630936"/>
          </a:xfrm>
          <a:prstGeom prst="rect">
            <a:avLst/>
          </a:prstGeom>
          <a:solidFill>
            <a:srgbClr val="F59E0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240280" y="4261104"/>
            <a:ext cx="2651760" cy="630936"/>
          </a:xfrm>
          <a:prstGeom prst="rect">
            <a:avLst/>
          </a:prstGeom>
          <a:noFill/>
        </p:spPr>
        <p:txBody>
          <a:bodyPr wrap="square" anchor="ctr">
            <a:spAutoFit/>
          </a:bodyPr>
          <a:lstStyle/>
          <a:p>
            <a:pPr algn="ctr">
              <a:spcAft>
                <a:spcPts val="400"/>
              </a:spcAft>
            </a:pPr>
            <a:r>
              <a:rPr sz="1350" b="1">
                <a:solidFill>
                  <a:srgbClr val="FFFFFF"/>
                </a:solidFill>
                <a:latin typeface="Arial"/>
              </a:rPr>
              <a:t>Day 14   </a:t>
            </a:r>
            <a:r>
              <a:rPr sz="1700" b="1">
                <a:solidFill>
                  <a:srgbClr val="FFFFFF"/>
                </a:solidFill>
                <a:latin typeface="Arial"/>
              </a:rPr>
              <a:t>Touch 4</a:t>
            </a:r>
          </a:p>
        </p:txBody>
      </p:sp>
      <p:sp>
        <p:nvSpPr>
          <p:cNvPr id="25" name="Rectangle 24"/>
          <p:cNvSpPr/>
          <p:nvPr/>
        </p:nvSpPr>
        <p:spPr>
          <a:xfrm>
            <a:off x="6583680" y="4261104"/>
            <a:ext cx="4828032" cy="630936"/>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0" y="4261104"/>
            <a:ext cx="73152" cy="6309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261104"/>
            <a:ext cx="4480560" cy="630936"/>
          </a:xfrm>
          <a:prstGeom prst="rect">
            <a:avLst/>
          </a:prstGeom>
          <a:noFill/>
        </p:spPr>
        <p:txBody>
          <a:bodyPr wrap="square" anchor="ctr">
            <a:spAutoFit/>
          </a:bodyPr>
          <a:lstStyle/>
          <a:p>
            <a:pPr algn="l">
              <a:spcAft>
                <a:spcPts val="400"/>
              </a:spcAft>
            </a:pPr>
            <a:r>
              <a:rPr sz="1200" b="0">
                <a:solidFill>
                  <a:srgbClr val="161B26"/>
                </a:solidFill>
                <a:latin typeface="Arial"/>
              </a:rPr>
              <a:t>A fresh angle — a case example or testimonial.</a:t>
            </a:r>
          </a:p>
        </p:txBody>
      </p:sp>
      <p:sp>
        <p:nvSpPr>
          <p:cNvPr id="28" name="Rectangle 27"/>
          <p:cNvSpPr/>
          <p:nvPr/>
        </p:nvSpPr>
        <p:spPr>
          <a:xfrm>
            <a:off x="2651760" y="4965192"/>
            <a:ext cx="1828800" cy="630936"/>
          </a:xfrm>
          <a:prstGeom prst="rect">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651760" y="4965192"/>
            <a:ext cx="1828800" cy="630936"/>
          </a:xfrm>
          <a:prstGeom prst="rect">
            <a:avLst/>
          </a:prstGeom>
          <a:noFill/>
        </p:spPr>
        <p:txBody>
          <a:bodyPr wrap="square" anchor="ctr">
            <a:spAutoFit/>
          </a:bodyPr>
          <a:lstStyle/>
          <a:p>
            <a:pPr algn="ctr">
              <a:spcAft>
                <a:spcPts val="400"/>
              </a:spcAft>
            </a:pPr>
            <a:r>
              <a:rPr sz="1350" b="1">
                <a:solidFill>
                  <a:srgbClr val="FFFFFF"/>
                </a:solidFill>
                <a:latin typeface="Arial"/>
              </a:rPr>
              <a:t>Day 17-21   </a:t>
            </a:r>
            <a:r>
              <a:rPr sz="1700" b="1">
                <a:solidFill>
                  <a:srgbClr val="FFFFFF"/>
                </a:solidFill>
                <a:latin typeface="Arial"/>
              </a:rPr>
              <a:t>Touch 5</a:t>
            </a:r>
          </a:p>
        </p:txBody>
      </p:sp>
      <p:sp>
        <p:nvSpPr>
          <p:cNvPr id="30" name="Rectangle 29"/>
          <p:cNvSpPr/>
          <p:nvPr/>
        </p:nvSpPr>
        <p:spPr>
          <a:xfrm>
            <a:off x="6583680" y="4965192"/>
            <a:ext cx="4828032" cy="630936"/>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0" y="4965192"/>
            <a:ext cx="73152" cy="6309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1424" y="4965192"/>
            <a:ext cx="4480560" cy="630936"/>
          </a:xfrm>
          <a:prstGeom prst="rect">
            <a:avLst/>
          </a:prstGeom>
          <a:noFill/>
        </p:spPr>
        <p:txBody>
          <a:bodyPr wrap="square" anchor="ctr">
            <a:spAutoFit/>
          </a:bodyPr>
          <a:lstStyle/>
          <a:p>
            <a:pPr algn="l">
              <a:spcAft>
                <a:spcPts val="400"/>
              </a:spcAft>
            </a:pPr>
            <a:r>
              <a:rPr sz="1200" b="0">
                <a:solidFill>
                  <a:srgbClr val="161B26"/>
                </a:solidFill>
                <a:latin typeface="Arial"/>
              </a:rPr>
              <a:t>Final proper check-in; respect the answer either way.</a:t>
            </a:r>
          </a:p>
        </p:txBody>
      </p:sp>
      <p:sp>
        <p:nvSpPr>
          <p:cNvPr id="33" name="Rectangle 32"/>
          <p:cNvSpPr/>
          <p:nvPr/>
        </p:nvSpPr>
        <p:spPr>
          <a:xfrm>
            <a:off x="777240" y="5760720"/>
            <a:ext cx="10634472"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760720"/>
            <a:ext cx="91440"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760720"/>
            <a:ext cx="10058400" cy="493776"/>
          </a:xfrm>
          <a:prstGeom prst="rect">
            <a:avLst/>
          </a:prstGeom>
          <a:noFill/>
        </p:spPr>
        <p:txBody>
          <a:bodyPr wrap="square" anchor="ctr">
            <a:spAutoFit/>
          </a:bodyPr>
          <a:lstStyle/>
          <a:p>
            <a:pPr algn="l">
              <a:spcAft>
                <a:spcPts val="400"/>
              </a:spcAft>
            </a:pPr>
            <a:r>
              <a:rPr sz="1200" b="1">
                <a:solidFill>
                  <a:srgbClr val="161B26"/>
                </a:solidFill>
                <a:latin typeface="Arial"/>
              </a:rPr>
              <a:t>80% of sales need 5-12 touches — and most sellers stop after one.</a:t>
            </a:r>
          </a:p>
        </p:txBody>
      </p:sp>
      <p:sp>
        <p:nvSpPr>
          <p:cNvPr id="36" name="TextBox 3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follow-up cadence synthesis (Lusha via monday.com); industry-reported figures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T5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'Just Checking In' vs A Value Touch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Just Checking In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 Value Touch</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"Hi, just following up on my last email."</a:t>
            </a:r>
          </a:p>
          <a:p>
            <a:pPr>
              <a:spcAft>
                <a:spcPts val="1000"/>
              </a:spcAft>
            </a:pPr>
            <a:r>
              <a:rPr sz="1600" b="0">
                <a:solidFill>
                  <a:srgbClr val="161B26"/>
                </a:solidFill>
                <a:latin typeface="Arial"/>
              </a:rPr>
              <a:t>•  Gives the buyer nothing new to react to.</a:t>
            </a:r>
          </a:p>
          <a:p>
            <a:pPr>
              <a:spcAft>
                <a:spcPts val="1000"/>
              </a:spcAft>
            </a:pPr>
            <a:r>
              <a:rPr sz="1600" b="0">
                <a:solidFill>
                  <a:srgbClr val="161B26"/>
                </a:solidFill>
                <a:latin typeface="Arial"/>
              </a:rPr>
              <a:t>•  Puts the work of replying entirely on them.</a:t>
            </a:r>
          </a:p>
          <a:p>
            <a:pPr>
              <a:spcAft>
                <a:spcPts val="1000"/>
              </a:spcAft>
            </a:pPr>
            <a:r>
              <a:rPr sz="1600" b="0">
                <a:solidFill>
                  <a:srgbClr val="161B26"/>
                </a:solidFill>
                <a:latin typeface="Arial"/>
              </a:rPr>
              <a:t>•  Easy to ignore without any guilt.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"Your competitor just published their delay stats — worth two minutes."</a:t>
            </a:r>
          </a:p>
          <a:p>
            <a:pPr>
              <a:spcAft>
                <a:spcPts val="1000"/>
              </a:spcAft>
            </a:pPr>
            <a:r>
              <a:rPr sz="1600" b="0">
                <a:solidFill>
                  <a:srgbClr val="161B26"/>
                </a:solidFill>
                <a:latin typeface="Arial"/>
              </a:rPr>
              <a:t>•  Carries something genuinely useful every time.</a:t>
            </a:r>
          </a:p>
          <a:p>
            <a:pPr>
              <a:spcAft>
                <a:spcPts val="1000"/>
              </a:spcAft>
            </a:pPr>
            <a:r>
              <a:rPr sz="1600" b="0">
                <a:solidFill>
                  <a:srgbClr val="161B26"/>
                </a:solidFill>
                <a:latin typeface="Arial"/>
              </a:rPr>
              <a:t>•  Makes replying the easy and interesting option.</a:t>
            </a:r>
          </a:p>
          <a:p>
            <a:pPr>
              <a:spcAft>
                <a:spcPts val="1000"/>
              </a:spcAft>
            </a:pPr>
            <a:r>
              <a:rPr sz="1600" b="0">
                <a:solidFill>
                  <a:srgbClr val="161B26"/>
                </a:solidFill>
                <a:latin typeface="Arial"/>
              </a:rPr>
              <a:t>•  Builds a reason to stay in the conversation.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follow-up quality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T5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Follow-Up Gap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single widest gap between what works and what most sellers actually do.</a:t>
            </a:r>
          </a:p>
        </p:txBody>
      </p:sp>
      <p:sp>
        <p:nvSpPr>
          <p:cNvPr id="8" name="Rectangle 7"/>
          <p:cNvSpPr/>
          <p:nvPr/>
        </p:nvSpPr>
        <p:spPr>
          <a:xfrm>
            <a:off x="777240"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286000"/>
            <a:ext cx="3337560" cy="128016"/>
          </a:xfrm>
          <a:prstGeom prst="roundRect">
            <a:avLst/>
          </a:prstGeom>
          <a:gradFill rotWithShape="1">
            <a:gsLst>
              <a:gs pos="0">
                <a:srgbClr val="2A76EC"/>
              </a:gs>
              <a:gs pos="100000">
                <a:srgbClr val="1856B7"/>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61488"/>
            <a:ext cx="3337560" cy="1097280"/>
          </a:xfrm>
          <a:prstGeom prst="rect">
            <a:avLst/>
          </a:prstGeom>
          <a:noFill/>
        </p:spPr>
        <p:txBody>
          <a:bodyPr wrap="square" anchor="t">
            <a:spAutoFit/>
          </a:bodyPr>
          <a:lstStyle/>
          <a:p>
            <a:pPr algn="ctr">
              <a:spcAft>
                <a:spcPts val="400"/>
              </a:spcAft>
            </a:pPr>
            <a:r>
              <a:rPr sz="4600" b="1">
                <a:solidFill>
                  <a:srgbClr val="1F6FEB"/>
                </a:solidFill>
                <a:latin typeface="Arial"/>
              </a:rPr>
              <a:t>5-12</a:t>
            </a:r>
          </a:p>
        </p:txBody>
      </p:sp>
      <p:sp>
        <p:nvSpPr>
          <p:cNvPr id="11" name="TextBox 10"/>
          <p:cNvSpPr txBox="1"/>
          <p:nvPr/>
        </p:nvSpPr>
        <p:spPr>
          <a:xfrm>
            <a:off x="960120"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Touches needed</a:t>
            </a:r>
          </a:p>
        </p:txBody>
      </p:sp>
      <p:sp>
        <p:nvSpPr>
          <p:cNvPr id="12" name="TextBox 11"/>
          <p:cNvSpPr txBox="1"/>
          <p:nvPr/>
        </p:nvSpPr>
        <p:spPr>
          <a:xfrm>
            <a:off x="960120" y="4507992"/>
            <a:ext cx="2971800" cy="457200"/>
          </a:xfrm>
          <a:prstGeom prst="rect">
            <a:avLst/>
          </a:prstGeom>
          <a:noFill/>
        </p:spPr>
        <p:txBody>
          <a:bodyPr wrap="square" anchor="t">
            <a:spAutoFit/>
          </a:bodyPr>
          <a:lstStyle/>
          <a:p>
            <a:pPr algn="ctr">
              <a:spcAft>
                <a:spcPts val="400"/>
              </a:spcAft>
            </a:pPr>
            <a:r>
              <a:rPr sz="1200" b="1">
                <a:solidFill>
                  <a:srgbClr val="10B981"/>
                </a:solidFill>
                <a:latin typeface="Arial"/>
              </a:rPr>
              <a:t>▲  </a:t>
            </a:r>
            <a:r>
              <a:rPr sz="1150" b="0">
                <a:solidFill>
                  <a:srgbClr val="5B6372"/>
                </a:solidFill>
                <a:latin typeface="Arial"/>
              </a:rPr>
              <a:t>before 80% of sales actually close</a:t>
            </a:r>
          </a:p>
        </p:txBody>
      </p:sp>
      <p:sp>
        <p:nvSpPr>
          <p:cNvPr id="13" name="Rectangle 12"/>
          <p:cNvSpPr/>
          <p:nvPr/>
        </p:nvSpPr>
        <p:spPr>
          <a:xfrm>
            <a:off x="4425696"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2286000"/>
            <a:ext cx="3337560" cy="128016"/>
          </a:xfrm>
          <a:prstGeom prst="roundRect">
            <a:avLst/>
          </a:prstGeom>
          <a:gradFill rotWithShape="1">
            <a:gsLst>
              <a:gs pos="0">
                <a:srgbClr val="1BBC87"/>
              </a:gs>
              <a:gs pos="100000">
                <a:srgbClr val="0C9064"/>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2761488"/>
            <a:ext cx="3337560" cy="1097280"/>
          </a:xfrm>
          <a:prstGeom prst="rect">
            <a:avLst/>
          </a:prstGeom>
          <a:noFill/>
        </p:spPr>
        <p:txBody>
          <a:bodyPr wrap="square" anchor="t">
            <a:spAutoFit/>
          </a:bodyPr>
          <a:lstStyle/>
          <a:p>
            <a:pPr algn="ctr">
              <a:spcAft>
                <a:spcPts val="400"/>
              </a:spcAft>
            </a:pPr>
            <a:r>
              <a:rPr sz="4600" b="1">
                <a:solidFill>
                  <a:srgbClr val="10B981"/>
                </a:solidFill>
                <a:latin typeface="Arial"/>
              </a:rPr>
              <a:t>1</a:t>
            </a:r>
          </a:p>
        </p:txBody>
      </p:sp>
      <p:sp>
        <p:nvSpPr>
          <p:cNvPr id="16" name="TextBox 15"/>
          <p:cNvSpPr txBox="1"/>
          <p:nvPr/>
        </p:nvSpPr>
        <p:spPr>
          <a:xfrm>
            <a:off x="4608576"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Touches attempted</a:t>
            </a:r>
          </a:p>
        </p:txBody>
      </p:sp>
      <p:sp>
        <p:nvSpPr>
          <p:cNvPr id="17" name="TextBox 16"/>
          <p:cNvSpPr txBox="1"/>
          <p:nvPr/>
        </p:nvSpPr>
        <p:spPr>
          <a:xfrm>
            <a:off x="4608576" y="4507992"/>
            <a:ext cx="2971800" cy="457200"/>
          </a:xfrm>
          <a:prstGeom prst="rect">
            <a:avLst/>
          </a:prstGeom>
          <a:noFill/>
        </p:spPr>
        <p:txBody>
          <a:bodyPr wrap="square" anchor="t">
            <a:spAutoFit/>
          </a:bodyPr>
          <a:lstStyle/>
          <a:p>
            <a:pPr algn="ctr">
              <a:spcAft>
                <a:spcPts val="400"/>
              </a:spcAft>
            </a:pPr>
            <a:r>
              <a:rPr sz="1200" b="1">
                <a:solidFill>
                  <a:srgbClr val="C03939"/>
                </a:solidFill>
                <a:latin typeface="Arial"/>
              </a:rPr>
              <a:t>▼  </a:t>
            </a:r>
            <a:r>
              <a:rPr sz="1150" b="0">
                <a:solidFill>
                  <a:srgbClr val="5B6372"/>
                </a:solidFill>
                <a:latin typeface="Arial"/>
              </a:rPr>
              <a:t>by the typical seller before giving up</a:t>
            </a:r>
          </a:p>
        </p:txBody>
      </p:sp>
      <p:sp>
        <p:nvSpPr>
          <p:cNvPr id="18" name="Rectangle 17"/>
          <p:cNvSpPr/>
          <p:nvPr/>
        </p:nvSpPr>
        <p:spPr>
          <a:xfrm>
            <a:off x="8074152" y="2286000"/>
            <a:ext cx="3337560"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74152" y="2286000"/>
            <a:ext cx="3337560" cy="128016"/>
          </a:xfrm>
          <a:prstGeom prst="roundRect">
            <a:avLst/>
          </a:prstGeom>
          <a:gradFill rotWithShape="1">
            <a:gsLst>
              <a:gs pos="0">
                <a:srgbClr val="8243ED"/>
              </a:gs>
              <a:gs pos="100000">
                <a:srgbClr val="602DB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2761488"/>
            <a:ext cx="3337560" cy="1097280"/>
          </a:xfrm>
          <a:prstGeom prst="rect">
            <a:avLst/>
          </a:prstGeom>
          <a:noFill/>
        </p:spPr>
        <p:txBody>
          <a:bodyPr wrap="square" anchor="t">
            <a:spAutoFit/>
          </a:bodyPr>
          <a:lstStyle/>
          <a:p>
            <a:pPr algn="ctr">
              <a:spcAft>
                <a:spcPts val="400"/>
              </a:spcAft>
            </a:pPr>
            <a:r>
              <a:rPr sz="4600" b="1">
                <a:solidFill>
                  <a:srgbClr val="7C3AED"/>
                </a:solidFill>
                <a:latin typeface="Arial"/>
              </a:rPr>
              <a:t>17-21</a:t>
            </a:r>
          </a:p>
        </p:txBody>
      </p:sp>
      <p:sp>
        <p:nvSpPr>
          <p:cNvPr id="21" name="TextBox 20"/>
          <p:cNvSpPr txBox="1"/>
          <p:nvPr/>
        </p:nvSpPr>
        <p:spPr>
          <a:xfrm>
            <a:off x="8257032" y="3913632"/>
            <a:ext cx="2971800" cy="822960"/>
          </a:xfrm>
          <a:prstGeom prst="rect">
            <a:avLst/>
          </a:prstGeom>
          <a:noFill/>
        </p:spPr>
        <p:txBody>
          <a:bodyPr wrap="square" anchor="t">
            <a:spAutoFit/>
          </a:bodyPr>
          <a:lstStyle/>
          <a:p>
            <a:pPr algn="ctr">
              <a:spcAft>
                <a:spcPts val="400"/>
              </a:spcAft>
            </a:pPr>
            <a:r>
              <a:rPr sz="1300" b="1">
                <a:solidFill>
                  <a:srgbClr val="161B26"/>
                </a:solidFill>
                <a:latin typeface="Arial"/>
              </a:rPr>
              <a:t>Day window</a:t>
            </a:r>
          </a:p>
        </p:txBody>
      </p:sp>
      <p:sp>
        <p:nvSpPr>
          <p:cNvPr id="22" name="TextBox 21"/>
          <p:cNvSpPr txBox="1"/>
          <p:nvPr/>
        </p:nvSpPr>
        <p:spPr>
          <a:xfrm>
            <a:off x="8257032" y="4507992"/>
            <a:ext cx="2971800" cy="457200"/>
          </a:xfrm>
          <a:prstGeom prst="rect">
            <a:avLst/>
          </a:prstGeom>
          <a:noFill/>
        </p:spPr>
        <p:txBody>
          <a:bodyPr wrap="square" anchor="t">
            <a:spAutoFit/>
          </a:bodyPr>
          <a:lstStyle/>
          <a:p>
            <a:pPr algn="ctr">
              <a:spcAft>
                <a:spcPts val="400"/>
              </a:spcAft>
            </a:pPr>
            <a:r>
              <a:rPr sz="1200" b="1">
                <a:solidFill>
                  <a:srgbClr val="5B6372"/>
                </a:solidFill>
                <a:latin typeface="Arial"/>
              </a:rPr>
              <a:t>●  </a:t>
            </a:r>
            <a:r>
              <a:rPr sz="1150" b="0">
                <a:solidFill>
                  <a:srgbClr val="5B6372"/>
                </a:solidFill>
                <a:latin typeface="Arial"/>
              </a:rPr>
              <a:t>the cadence should span, at 2-3 day intervals</a:t>
            </a:r>
          </a:p>
        </p:txBody>
      </p:sp>
      <p:sp>
        <p:nvSpPr>
          <p:cNvPr id="23" name="Rectangle 22"/>
          <p:cNvSpPr/>
          <p:nvPr/>
        </p:nvSpPr>
        <p:spPr>
          <a:xfrm>
            <a:off x="777240" y="562356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623560"/>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623560"/>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Nothing else in this course returns as much for as little effort as simply following up properly.</a:t>
            </a:r>
          </a:p>
        </p:txBody>
      </p:sp>
      <p:sp>
        <p:nvSpPr>
          <p:cNvPr id="26" name="TextBox 2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follow-up benchmark synthesis (Lusha via monday.com) — industry-reported figures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T5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When Sales Targets Outrun Ethics, the Whole Franchise Pays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Wells Fargo</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Wells Fargo's cross-selling scandal — millions of unauthorised accounts opened under intense sales quotas — led to a US$3bn settlement in 2020 and lasting reputational damage. It is the clearest possible argument that pressure-based selling is a business risk, not just an ethical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ROLE PLAY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Closing the Sale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Mark sells a marketing-automation platform. Rachel is Marketing Director at Harbourfront Living, a large Singapore e-commerce retailer. Over three conversations Mark has shown that automating their abandoned-cart and re-order campaigns would recover an estimated S$140k a year in lost revenue.</a:t>
            </a:r>
          </a:p>
          <a:p>
            <a:pPr algn="l">
              <a:spcAft>
                <a:spcPts val="800"/>
              </a:spcAft>
            </a:pPr>
            <a:r>
              <a:rPr sz="1450" b="0">
                <a:solidFill>
                  <a:srgbClr val="161B26"/>
                </a:solidFill>
                <a:latin typeface="Arial"/>
              </a:rPr>
              <a:t>Rachel wants it. But her budget for the year is committed, and her CFO has asked every department to defer new software to the next financial year. She opens this call by asking for a 25% discount — which is not really about the money.</a:t>
            </a:r>
          </a:p>
          <a:p>
            <a:pPr algn="l">
              <a:spcAft>
                <a:spcPts val="800"/>
              </a:spcAft>
            </a:pPr>
            <a:r>
              <a:rPr sz="1450" b="0">
                <a:solidFill>
                  <a:srgbClr val="161B26"/>
                </a:solidFill>
                <a:latin typeface="Arial"/>
              </a:rPr>
              <a:t>The scene covers reading Rachel's buying signals, holding the price while genuinely solving her budget-timing problem, using a mini close to confirm agreement in stages, making the buying process easy, and closing on a concrete mutual action plan with dates and owners.</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Closing Observer Scorecard citing the buying signals, the real constraint, the price-holding trade, the closing technique used, and the mutual action plan agreed</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1 hour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ROLE PLAY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Closing the Sale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Mark — Sales Rep, Marketing Automation</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Close the deal without discounting, by solving the real constraint</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Has authority to vary payment terms and start date, but NOT the headline price. Must work out that Rachel's discount request is really a budget-timing problem — and that a deferred start or staged billing solves it where a discount would not.</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Rachel — Marketing Director, Harbourfront Living</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Get the platform approved without breaking the CFO's spending freeze</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Genuinely wants the product; opens by asking for 25% off because that is the only lever she thinks she has. Her real constraint is WHEN the money can be spent, not how much. She will reveal this only if asked well.</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Observer / Coach</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Score signal-reading, price-holding and the quality of the close</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Tracks the buying signals Mark noticed (and missed), whether he discounted or solved, which closing technique he used and whether it fitted the moment, and whether the call ended with a dated mutual action plan.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wipe dir="l"/>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ROLE PLAY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Closing the Sale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234184"/>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234184"/>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597152" y="2148840"/>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What buying signals did Rachel give in the first three minutes — and did Mark act on them or talk past them?</a:t>
            </a:r>
          </a:p>
        </p:txBody>
      </p:sp>
      <p:sp>
        <p:nvSpPr>
          <p:cNvPr id="13" name="Rectangle 12"/>
          <p:cNvSpPr/>
          <p:nvPr/>
        </p:nvSpPr>
        <p:spPr>
          <a:xfrm>
            <a:off x="777240" y="2828544"/>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828544"/>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2913888"/>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2913888"/>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597152" y="2828544"/>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Rachel asked for 25% off. What was the real constraint underneath, and which question surfaced it?</a:t>
            </a:r>
          </a:p>
        </p:txBody>
      </p:sp>
      <p:sp>
        <p:nvSpPr>
          <p:cNvPr id="18" name="Rectangle 17"/>
          <p:cNvSpPr/>
          <p:nvPr/>
        </p:nvSpPr>
        <p:spPr>
          <a:xfrm>
            <a:off x="777240" y="3508248"/>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508248"/>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3593592"/>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3593592"/>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597152" y="3508248"/>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Did Mark hold the price? If he conceded, what did he get in return — and was it a fair trade?</a:t>
            </a:r>
          </a:p>
        </p:txBody>
      </p:sp>
      <p:sp>
        <p:nvSpPr>
          <p:cNvPr id="23" name="Rectangle 22"/>
          <p:cNvSpPr/>
          <p:nvPr/>
        </p:nvSpPr>
        <p:spPr>
          <a:xfrm>
            <a:off x="777240" y="4187952"/>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187952"/>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4273296"/>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4273296"/>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597152" y="4187952"/>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Which closing technique did Mark use, and was it the right one for Rachel's actual state of readiness?</a:t>
            </a:r>
          </a:p>
        </p:txBody>
      </p:sp>
      <p:sp>
        <p:nvSpPr>
          <p:cNvPr id="28" name="Rectangle 27"/>
          <p:cNvSpPr/>
          <p:nvPr/>
        </p:nvSpPr>
        <p:spPr>
          <a:xfrm>
            <a:off x="777240" y="4867656"/>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867656"/>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78408" y="4953000"/>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 y="4953000"/>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2" name="TextBox 31"/>
          <p:cNvSpPr txBox="1"/>
          <p:nvPr/>
        </p:nvSpPr>
        <p:spPr>
          <a:xfrm>
            <a:off x="1597152" y="4867656"/>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How did Mark make it easy to buy? What friction did he remove — and what did he leave in place?</a:t>
            </a:r>
          </a:p>
        </p:txBody>
      </p:sp>
      <p:sp>
        <p:nvSpPr>
          <p:cNvPr id="33" name="Rectangle 32"/>
          <p:cNvSpPr/>
          <p:nvPr/>
        </p:nvSpPr>
        <p:spPr>
          <a:xfrm>
            <a:off x="777240" y="5547360"/>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547360"/>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8408" y="5632704"/>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8" y="5632704"/>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7" name="TextBox 36"/>
          <p:cNvSpPr txBox="1"/>
          <p:nvPr/>
        </p:nvSpPr>
        <p:spPr>
          <a:xfrm>
            <a:off x="1597152" y="5547360"/>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Did the call end with a dated mutual action plan naming owners, or with 'let me come back to you'?</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wipe dir="l"/>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ROLE PLAY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Closing the Sale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What would have happened to the relationship if Mark had simply granted the 25%?</a:t>
            </a:r>
          </a:p>
          <a:p>
            <a:pPr>
              <a:spcAft>
                <a:spcPts val="900"/>
              </a:spcAft>
            </a:pPr>
            <a:r>
              <a:rPr sz="1450" b="0">
                <a:solidFill>
                  <a:srgbClr val="161B26"/>
                </a:solidFill>
                <a:latin typeface="Arial"/>
              </a:rPr>
              <a:t>•  Which question best separated the stated objection from the real constraint?</a:t>
            </a:r>
          </a:p>
          <a:p>
            <a:pPr>
              <a:spcAft>
                <a:spcPts val="900"/>
              </a:spcAft>
            </a:pPr>
            <a:r>
              <a:rPr sz="1450" b="0">
                <a:solidFill>
                  <a:srgbClr val="161B26"/>
                </a:solidFill>
                <a:latin typeface="Arial"/>
              </a:rPr>
              <a:t>•  What is your own equivalent of 'vary the terms, hold the price' in your product?</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observer can quote at least two buying signals Rachel gave, state the real constraint behind the discount request and the question that surfaced it, name the closing technique used, and confirm whether the call closed on a dated mutual action plan with named owners.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Closing the Sale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a Close Really Is</a:t>
            </a:r>
          </a:p>
          <a:p>
            <a:pPr algn="l">
              <a:spcAft>
                <a:spcPts val="300"/>
              </a:spcAft>
            </a:pPr>
            <a:r>
              <a:rPr sz="1100" b="0">
                <a:solidFill>
                  <a:srgbClr val="5B6372"/>
                </a:solidFill>
                <a:latin typeface="Arial"/>
              </a:rPr>
              <a:t>You can now: recognise the close as the culmination of the sales cycle, not a single trick.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Closing Techniques That Respect the Buyer</a:t>
            </a:r>
          </a:p>
          <a:p>
            <a:pPr algn="l">
              <a:spcAft>
                <a:spcPts val="300"/>
              </a:spcAft>
            </a:pPr>
            <a:r>
              <a:rPr sz="1100" b="0">
                <a:solidFill>
                  <a:srgbClr val="5B6372"/>
                </a:solidFill>
                <a:latin typeface="Arial"/>
              </a:rPr>
              <a:t>You can now: select and apply an appropriate, ethical closing technique for the situation.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Justifying the Price</a:t>
            </a:r>
          </a:p>
          <a:p>
            <a:pPr algn="l">
              <a:spcAft>
                <a:spcPts val="300"/>
              </a:spcAft>
            </a:pPr>
            <a:r>
              <a:rPr sz="1100" b="0">
                <a:solidFill>
                  <a:srgbClr val="5B6372"/>
                </a:solidFill>
                <a:latin typeface="Arial"/>
              </a:rPr>
              <a:t>You can now: justify price with value and ROI before any discount is considered.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Making It Easy to Buy</a:t>
            </a:r>
          </a:p>
          <a:p>
            <a:pPr algn="l">
              <a:spcAft>
                <a:spcPts val="300"/>
              </a:spcAft>
            </a:pPr>
            <a:r>
              <a:rPr sz="1100" b="0">
                <a:solidFill>
                  <a:srgbClr val="5B6372"/>
                </a:solidFill>
                <a:latin typeface="Arial"/>
              </a:rPr>
              <a:t>You can now: remove friction from the buying process so the decision feels simple and safe.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Proper Follow-Up</a:t>
            </a:r>
          </a:p>
          <a:p>
            <a:pPr algn="l">
              <a:spcAft>
                <a:spcPts val="300"/>
              </a:spcAft>
            </a:pPr>
            <a:r>
              <a:rPr sz="1100" b="0">
                <a:solidFill>
                  <a:srgbClr val="5B6372"/>
                </a:solidFill>
                <a:latin typeface="Arial"/>
              </a:rPr>
              <a:t>You can now: design a persistent, value-adding follow-up cadence that is never pushy.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 Play: Closing the Sale</a:t>
            </a:r>
          </a:p>
          <a:p>
            <a:pPr algn="l">
              <a:spcAft>
                <a:spcPts val="300"/>
              </a:spcAft>
            </a:pPr>
            <a:r>
              <a:rPr sz="1100" b="0">
                <a:solidFill>
                  <a:srgbClr val="5B6372"/>
                </a:solidFill>
                <a:latin typeface="Arial"/>
              </a:rPr>
              <a:t>You practised: read buying signals, justify price without discounting, and close with a mutual next step.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Nobody wants to be sold. Everybody wants to make a decision that feels easy and safe.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LU3: Closing the Sale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zoom/>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Handling Objections &amp; Rejections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Objection vs Deflection vs Rejection · Answer &amp; Ask · Composure · Testimonials · Metrics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push dir="l"/>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Handling Objections &amp; Rejections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 objection asks for more information, a deflection avoids the real issue, and a rejection is a genuine no — each needs a different response.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Acknowledge, Clarify, Address, Confirm — validate the feeling before you answer the fact, then isolate with 'outside of that, anything else?'.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Answer &amp; Ask resolves the stated concern directly, then re-engages the conversation with a question instead of going quiet.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Composure is trainable: pause, label, reframe, respond, reassess — your own regulation protects the deal when the buyer gets short.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Metrics — conversion rate, cycle length, discount depth, NPS at handoff — turn 'closing better' into something the organisation can track and improve.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VALIDATE BEFORE YOU SOLVE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Empathy-Driven Objection Hand-Off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Watch where control of the exchange passes between buyer and salesperson — validation always comes before the answer, not after.</a:t>
            </a:r>
          </a:p>
        </p:txBody>
      </p:sp>
      <p:sp>
        <p:nvSpPr>
          <p:cNvPr id="8" name="Rectangle 7"/>
          <p:cNvSpPr/>
          <p:nvPr/>
        </p:nvSpPr>
        <p:spPr>
          <a:xfrm>
            <a:off x="777240" y="2194560"/>
            <a:ext cx="1874519"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194560"/>
            <a:ext cx="1618487" cy="1536192"/>
          </a:xfrm>
          <a:prstGeom prst="rect">
            <a:avLst/>
          </a:prstGeom>
          <a:noFill/>
        </p:spPr>
        <p:txBody>
          <a:bodyPr wrap="square" anchor="ctr">
            <a:spAutoFit/>
          </a:bodyPr>
          <a:lstStyle/>
          <a:p>
            <a:pPr algn="l">
              <a:spcAft>
                <a:spcPts val="400"/>
              </a:spcAft>
            </a:pPr>
            <a:r>
              <a:rPr sz="1200" b="1">
                <a:solidFill>
                  <a:srgbClr val="FFFFFF"/>
                </a:solidFill>
                <a:latin typeface="Arial"/>
              </a:rPr>
              <a:t>Buyer</a:t>
            </a:r>
          </a:p>
        </p:txBody>
      </p:sp>
      <p:sp>
        <p:nvSpPr>
          <p:cNvPr id="10" name="Rectangle 9"/>
          <p:cNvSpPr/>
          <p:nvPr/>
        </p:nvSpPr>
        <p:spPr>
          <a:xfrm>
            <a:off x="2834639" y="2194560"/>
            <a:ext cx="2052828" cy="15361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34639" y="2194560"/>
            <a:ext cx="64008"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9231" y="2194560"/>
            <a:ext cx="1778508" cy="1536192"/>
          </a:xfrm>
          <a:prstGeom prst="rect">
            <a:avLst/>
          </a:prstGeom>
          <a:noFill/>
        </p:spPr>
        <p:txBody>
          <a:bodyPr wrap="square" anchor="ctr">
            <a:spAutoFit/>
          </a:bodyPr>
          <a:lstStyle/>
          <a:p>
            <a:pPr algn="l">
              <a:spcAft>
                <a:spcPts val="400"/>
              </a:spcAft>
            </a:pPr>
            <a:r>
              <a:rPr sz="1050" b="0">
                <a:solidFill>
                  <a:srgbClr val="161B26"/>
                </a:solidFill>
                <a:latin typeface="Arial"/>
              </a:rPr>
              <a:t>States the objection</a:t>
            </a:r>
          </a:p>
        </p:txBody>
      </p:sp>
      <p:sp>
        <p:nvSpPr>
          <p:cNvPr id="13" name="Rectangle 12"/>
          <p:cNvSpPr/>
          <p:nvPr/>
        </p:nvSpPr>
        <p:spPr>
          <a:xfrm>
            <a:off x="9541763" y="2194560"/>
            <a:ext cx="2052828" cy="15361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41763" y="2194560"/>
            <a:ext cx="64008"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06355" y="2194560"/>
            <a:ext cx="1778508" cy="1536192"/>
          </a:xfrm>
          <a:prstGeom prst="rect">
            <a:avLst/>
          </a:prstGeom>
          <a:noFill/>
        </p:spPr>
        <p:txBody>
          <a:bodyPr wrap="square" anchor="ctr">
            <a:spAutoFit/>
          </a:bodyPr>
          <a:lstStyle/>
          <a:p>
            <a:pPr algn="l">
              <a:spcAft>
                <a:spcPts val="400"/>
              </a:spcAft>
            </a:pPr>
            <a:r>
              <a:rPr sz="1050" b="0">
                <a:solidFill>
                  <a:srgbClr val="161B26"/>
                </a:solidFill>
                <a:latin typeface="Arial"/>
              </a:rPr>
              <a:t>Shares the real concern, re-engaged</a:t>
            </a:r>
          </a:p>
        </p:txBody>
      </p:sp>
      <p:sp>
        <p:nvSpPr>
          <p:cNvPr id="16" name="Rectangle 15"/>
          <p:cNvSpPr/>
          <p:nvPr/>
        </p:nvSpPr>
        <p:spPr>
          <a:xfrm>
            <a:off x="777240" y="3858768"/>
            <a:ext cx="1874519" cy="15361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 y="3858768"/>
            <a:ext cx="1618487" cy="1536192"/>
          </a:xfrm>
          <a:prstGeom prst="rect">
            <a:avLst/>
          </a:prstGeom>
          <a:noFill/>
        </p:spPr>
        <p:txBody>
          <a:bodyPr wrap="square" anchor="ctr">
            <a:spAutoFit/>
          </a:bodyPr>
          <a:lstStyle/>
          <a:p>
            <a:pPr algn="l">
              <a:spcAft>
                <a:spcPts val="400"/>
              </a:spcAft>
            </a:pPr>
            <a:r>
              <a:rPr sz="1200" b="1">
                <a:solidFill>
                  <a:srgbClr val="FFFFFF"/>
                </a:solidFill>
                <a:latin typeface="Arial"/>
              </a:rPr>
              <a:t>Salesperson</a:t>
            </a:r>
          </a:p>
        </p:txBody>
      </p:sp>
      <p:sp>
        <p:nvSpPr>
          <p:cNvPr id="18" name="Rectangle 17"/>
          <p:cNvSpPr/>
          <p:nvPr/>
        </p:nvSpPr>
        <p:spPr>
          <a:xfrm>
            <a:off x="5070347" y="3858768"/>
            <a:ext cx="2052828" cy="15361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70347" y="3858768"/>
            <a:ext cx="64008" cy="15361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4939" y="3858768"/>
            <a:ext cx="1778508" cy="1536192"/>
          </a:xfrm>
          <a:prstGeom prst="rect">
            <a:avLst/>
          </a:prstGeom>
          <a:noFill/>
        </p:spPr>
        <p:txBody>
          <a:bodyPr wrap="square" anchor="ctr">
            <a:spAutoFit/>
          </a:bodyPr>
          <a:lstStyle/>
          <a:p>
            <a:pPr algn="l">
              <a:spcAft>
                <a:spcPts val="400"/>
              </a:spcAft>
            </a:pPr>
            <a:r>
              <a:rPr sz="1050" b="0">
                <a:solidFill>
                  <a:srgbClr val="161B26"/>
                </a:solidFill>
                <a:latin typeface="Arial"/>
              </a:rPr>
              <a:t>Listens &amp; validates the feeling</a:t>
            </a:r>
          </a:p>
        </p:txBody>
      </p:sp>
      <p:sp>
        <p:nvSpPr>
          <p:cNvPr id="21" name="Rectangle 20"/>
          <p:cNvSpPr/>
          <p:nvPr/>
        </p:nvSpPr>
        <p:spPr>
          <a:xfrm>
            <a:off x="7306055" y="3858768"/>
            <a:ext cx="2052828" cy="15361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06055" y="3858768"/>
            <a:ext cx="64008" cy="15361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70647" y="3858768"/>
            <a:ext cx="1778508" cy="1536192"/>
          </a:xfrm>
          <a:prstGeom prst="rect">
            <a:avLst/>
          </a:prstGeom>
          <a:noFill/>
        </p:spPr>
        <p:txBody>
          <a:bodyPr wrap="square" anchor="ctr">
            <a:spAutoFit/>
          </a:bodyPr>
          <a:lstStyle/>
          <a:p>
            <a:pPr algn="l">
              <a:spcAft>
                <a:spcPts val="400"/>
              </a:spcAft>
            </a:pPr>
            <a:r>
              <a:rPr sz="1050" b="0">
                <a:solidFill>
                  <a:srgbClr val="161B26"/>
                </a:solidFill>
                <a:latin typeface="Arial"/>
              </a:rPr>
              <a:t>Answers, then asks a follow-up</a:t>
            </a:r>
          </a:p>
        </p:txBody>
      </p:sp>
      <p:sp>
        <p:nvSpPr>
          <p:cNvPr id="24" name="Rectangle 23"/>
          <p:cNvSpPr/>
          <p:nvPr/>
        </p:nvSpPr>
        <p:spPr>
          <a:xfrm>
            <a:off x="4978907" y="2962656"/>
            <a:ext cx="32004" cy="16642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78907" y="4626864"/>
            <a:ext cx="91440" cy="320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0891" y="4480560"/>
            <a:ext cx="219456" cy="292608"/>
          </a:xfrm>
          <a:prstGeom prst="rect">
            <a:avLst/>
          </a:prstGeom>
          <a:noFill/>
        </p:spPr>
        <p:txBody>
          <a:bodyPr wrap="square" anchor="ctr">
            <a:spAutoFit/>
          </a:bodyPr>
          <a:lstStyle/>
          <a:p>
            <a:pPr algn="ctr">
              <a:spcAft>
                <a:spcPts val="400"/>
              </a:spcAft>
            </a:pPr>
            <a:r>
              <a:rPr sz="1100" b="1">
                <a:solidFill>
                  <a:srgbClr val="1F6FEB"/>
                </a:solidFill>
                <a:latin typeface="Arial"/>
              </a:rPr>
              <a:t>▶</a:t>
            </a:r>
          </a:p>
        </p:txBody>
      </p:sp>
      <p:sp>
        <p:nvSpPr>
          <p:cNvPr id="27" name="TextBox 26"/>
          <p:cNvSpPr txBox="1"/>
          <p:nvPr/>
        </p:nvSpPr>
        <p:spPr>
          <a:xfrm>
            <a:off x="7123175" y="4480560"/>
            <a:ext cx="182880" cy="292608"/>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8" name="Rectangle 27"/>
          <p:cNvSpPr/>
          <p:nvPr/>
        </p:nvSpPr>
        <p:spPr>
          <a:xfrm>
            <a:off x="9450323" y="2962656"/>
            <a:ext cx="32004" cy="1664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450323" y="2962656"/>
            <a:ext cx="91440" cy="320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2307" y="2816352"/>
            <a:ext cx="219456" cy="292608"/>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1" name="Rectangle 30"/>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Skipping straight from 'objection' to 'answer' — with no validation step — is the single most common reason a resolved objection still doesn't feel resolved.</a:t>
            </a:r>
          </a:p>
        </p:txBody>
      </p:sp>
      <p:sp>
        <p:nvSpPr>
          <p:cNvPr id="34" name="TextBox 33"/>
          <p:cNvSpPr txBox="1"/>
          <p:nvPr/>
        </p:nvSpPr>
        <p:spPr>
          <a:xfrm>
            <a:off x="777240" y="5541264"/>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empathy-driven objection-handling framework, sales-communication practice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LU4 · CALM THE BRAIN BEFORE YOU ARGUE THE FACTS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Affect Labelling — Doug Noll's 90-Second Move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Listen to the emotions, not the words. Naming a feeling out loud dampens the brain's reactive centres and restores rational dialogue — often in under 90 seconds.</a:t>
            </a:r>
          </a:p>
        </p:txBody>
      </p:sp>
      <p:sp>
        <p:nvSpPr>
          <p:cNvPr id="8" name="Rectangle 7"/>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74495"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2" name="TextBox 11"/>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Listen Beneath</a:t>
            </a:r>
          </a:p>
        </p:txBody>
      </p:sp>
      <p:sp>
        <p:nvSpPr>
          <p:cNvPr id="13" name="TextBox 12"/>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Track the feeling driving the sentence.</a:t>
            </a:r>
          </a:p>
        </p:txBody>
      </p:sp>
      <p:sp>
        <p:nvSpPr>
          <p:cNvPr id="14" name="TextBox 13"/>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5" name="Rectangle 14"/>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4438"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01693"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9" name="TextBox 18"/>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Label It</a:t>
            </a:r>
          </a:p>
        </p:txBody>
      </p:sp>
      <p:sp>
        <p:nvSpPr>
          <p:cNvPr id="20" name="TextBox 19"/>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"You're frustrated this dragged on."</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28891"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6" name="TextBox 25"/>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Let It Land</a:t>
            </a:r>
          </a:p>
        </p:txBody>
      </p:sp>
      <p:sp>
        <p:nvSpPr>
          <p:cNvPr id="27" name="TextBox 26"/>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Say nothing — recognition needs a moment.</a:t>
            </a:r>
          </a:p>
        </p:txBody>
      </p:sp>
      <p:sp>
        <p:nvSpPr>
          <p:cNvPr id="28" name="TextBox 27"/>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9" name="Rectangle 28"/>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58834"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856089"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3" name="TextBox 32"/>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Resume</a:t>
            </a:r>
          </a:p>
        </p:txBody>
      </p:sp>
      <p:sp>
        <p:nvSpPr>
          <p:cNvPr id="34" name="TextBox 33"/>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Now the facts can actually be heard.</a:t>
            </a:r>
          </a:p>
        </p:txBody>
      </p:sp>
      <p:sp>
        <p:nvSpPr>
          <p:cNvPr id="35" name="Rectangle 3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You cannot reason someone out of an emotional state. Name it first, and the reasoning becomes possible.</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K1 / A1 · MAKE IT MEASURABLE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Evaluating the Sales Closure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Illustrative quarterly scorecard. These four numbers turn 'close better' into something an organisation can actually manage.</a:t>
            </a:r>
          </a:p>
        </p:txBody>
      </p:sp>
      <p:sp>
        <p:nvSpPr>
          <p:cNvPr id="8" name="Rectangle 7"/>
          <p:cNvSpPr/>
          <p:nvPr/>
        </p:nvSpPr>
        <p:spPr>
          <a:xfrm>
            <a:off x="777240" y="2286000"/>
            <a:ext cx="2425446"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286000"/>
            <a:ext cx="2425446" cy="128016"/>
          </a:xfrm>
          <a:prstGeom prst="roundRect">
            <a:avLst/>
          </a:prstGeom>
          <a:gradFill rotWithShape="1">
            <a:gsLst>
              <a:gs pos="0">
                <a:srgbClr val="2A76EC"/>
              </a:gs>
              <a:gs pos="100000">
                <a:srgbClr val="1856B7"/>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61488"/>
            <a:ext cx="2425446" cy="1097280"/>
          </a:xfrm>
          <a:prstGeom prst="rect">
            <a:avLst/>
          </a:prstGeom>
          <a:noFill/>
        </p:spPr>
        <p:txBody>
          <a:bodyPr wrap="square" anchor="t">
            <a:spAutoFit/>
          </a:bodyPr>
          <a:lstStyle/>
          <a:p>
            <a:pPr algn="ctr">
              <a:spcAft>
                <a:spcPts val="400"/>
              </a:spcAft>
            </a:pPr>
            <a:r>
              <a:rPr sz="4600" b="1">
                <a:solidFill>
                  <a:srgbClr val="1F6FEB"/>
                </a:solidFill>
                <a:latin typeface="Arial"/>
              </a:rPr>
              <a:t>32%</a:t>
            </a:r>
          </a:p>
        </p:txBody>
      </p:sp>
      <p:sp>
        <p:nvSpPr>
          <p:cNvPr id="11" name="TextBox 10"/>
          <p:cNvSpPr txBox="1"/>
          <p:nvPr/>
        </p:nvSpPr>
        <p:spPr>
          <a:xfrm>
            <a:off x="960120" y="3913632"/>
            <a:ext cx="2059686" cy="822960"/>
          </a:xfrm>
          <a:prstGeom prst="rect">
            <a:avLst/>
          </a:prstGeom>
          <a:noFill/>
        </p:spPr>
        <p:txBody>
          <a:bodyPr wrap="square" anchor="t">
            <a:spAutoFit/>
          </a:bodyPr>
          <a:lstStyle/>
          <a:p>
            <a:pPr algn="ctr">
              <a:spcAft>
                <a:spcPts val="400"/>
              </a:spcAft>
            </a:pPr>
            <a:r>
              <a:rPr sz="1300" b="1">
                <a:solidFill>
                  <a:srgbClr val="161B26"/>
                </a:solidFill>
                <a:latin typeface="Arial"/>
              </a:rPr>
              <a:t>Close rate</a:t>
            </a:r>
          </a:p>
        </p:txBody>
      </p:sp>
      <p:sp>
        <p:nvSpPr>
          <p:cNvPr id="12" name="TextBox 11"/>
          <p:cNvSpPr txBox="1"/>
          <p:nvPr/>
        </p:nvSpPr>
        <p:spPr>
          <a:xfrm>
            <a:off x="960120" y="4507992"/>
            <a:ext cx="2059686" cy="457200"/>
          </a:xfrm>
          <a:prstGeom prst="rect">
            <a:avLst/>
          </a:prstGeom>
          <a:noFill/>
        </p:spPr>
        <p:txBody>
          <a:bodyPr wrap="square" anchor="t">
            <a:spAutoFit/>
          </a:bodyPr>
          <a:lstStyle/>
          <a:p>
            <a:pPr algn="ctr">
              <a:spcAft>
                <a:spcPts val="400"/>
              </a:spcAft>
            </a:pPr>
            <a:r>
              <a:rPr sz="1200" b="1">
                <a:solidFill>
                  <a:srgbClr val="10B981"/>
                </a:solidFill>
                <a:latin typeface="Arial"/>
              </a:rPr>
              <a:t>▲  </a:t>
            </a:r>
            <a:r>
              <a:rPr sz="1150" b="0">
                <a:solidFill>
                  <a:srgbClr val="5B6372"/>
                </a:solidFill>
                <a:latin typeface="Arial"/>
              </a:rPr>
              <a:t>proposals converting to signed deals</a:t>
            </a:r>
          </a:p>
        </p:txBody>
      </p:sp>
      <p:sp>
        <p:nvSpPr>
          <p:cNvPr id="13" name="Rectangle 12"/>
          <p:cNvSpPr/>
          <p:nvPr/>
        </p:nvSpPr>
        <p:spPr>
          <a:xfrm>
            <a:off x="3513582" y="2286000"/>
            <a:ext cx="2425446"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13582" y="2286000"/>
            <a:ext cx="2425446" cy="128016"/>
          </a:xfrm>
          <a:prstGeom prst="roundRect">
            <a:avLst/>
          </a:prstGeom>
          <a:gradFill rotWithShape="1">
            <a:gsLst>
              <a:gs pos="0">
                <a:srgbClr val="1BBC87"/>
              </a:gs>
              <a:gs pos="100000">
                <a:srgbClr val="0C9064"/>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3582" y="2761488"/>
            <a:ext cx="2425446" cy="1097280"/>
          </a:xfrm>
          <a:prstGeom prst="rect">
            <a:avLst/>
          </a:prstGeom>
          <a:noFill/>
        </p:spPr>
        <p:txBody>
          <a:bodyPr wrap="square" anchor="t">
            <a:spAutoFit/>
          </a:bodyPr>
          <a:lstStyle/>
          <a:p>
            <a:pPr algn="ctr">
              <a:spcAft>
                <a:spcPts val="400"/>
              </a:spcAft>
            </a:pPr>
            <a:r>
              <a:rPr sz="3600" b="1">
                <a:solidFill>
                  <a:srgbClr val="10B981"/>
                </a:solidFill>
                <a:latin typeface="Arial"/>
              </a:rPr>
              <a:t>41 days</a:t>
            </a:r>
          </a:p>
        </p:txBody>
      </p:sp>
      <p:sp>
        <p:nvSpPr>
          <p:cNvPr id="16" name="TextBox 15"/>
          <p:cNvSpPr txBox="1"/>
          <p:nvPr/>
        </p:nvSpPr>
        <p:spPr>
          <a:xfrm>
            <a:off x="3696462" y="3913632"/>
            <a:ext cx="2059686" cy="822960"/>
          </a:xfrm>
          <a:prstGeom prst="rect">
            <a:avLst/>
          </a:prstGeom>
          <a:noFill/>
        </p:spPr>
        <p:txBody>
          <a:bodyPr wrap="square" anchor="t">
            <a:spAutoFit/>
          </a:bodyPr>
          <a:lstStyle/>
          <a:p>
            <a:pPr algn="ctr">
              <a:spcAft>
                <a:spcPts val="400"/>
              </a:spcAft>
            </a:pPr>
            <a:r>
              <a:rPr sz="1300" b="1">
                <a:solidFill>
                  <a:srgbClr val="161B26"/>
                </a:solidFill>
                <a:latin typeface="Arial"/>
              </a:rPr>
              <a:t>Cycle length</a:t>
            </a:r>
          </a:p>
        </p:txBody>
      </p:sp>
      <p:sp>
        <p:nvSpPr>
          <p:cNvPr id="17" name="TextBox 16"/>
          <p:cNvSpPr txBox="1"/>
          <p:nvPr/>
        </p:nvSpPr>
        <p:spPr>
          <a:xfrm>
            <a:off x="3696462" y="4507992"/>
            <a:ext cx="2059686" cy="457200"/>
          </a:xfrm>
          <a:prstGeom prst="rect">
            <a:avLst/>
          </a:prstGeom>
          <a:noFill/>
        </p:spPr>
        <p:txBody>
          <a:bodyPr wrap="square" anchor="t">
            <a:spAutoFit/>
          </a:bodyPr>
          <a:lstStyle/>
          <a:p>
            <a:pPr algn="ctr">
              <a:spcAft>
                <a:spcPts val="400"/>
              </a:spcAft>
            </a:pPr>
            <a:r>
              <a:rPr sz="1200" b="1">
                <a:solidFill>
                  <a:srgbClr val="C03939"/>
                </a:solidFill>
                <a:latin typeface="Arial"/>
              </a:rPr>
              <a:t>▼  </a:t>
            </a:r>
            <a:r>
              <a:rPr sz="1150" b="0">
                <a:solidFill>
                  <a:srgbClr val="5B6372"/>
                </a:solidFill>
                <a:latin typeface="Arial"/>
              </a:rPr>
              <a:t>first conversation to signature</a:t>
            </a:r>
          </a:p>
        </p:txBody>
      </p:sp>
      <p:sp>
        <p:nvSpPr>
          <p:cNvPr id="18" name="Rectangle 17"/>
          <p:cNvSpPr/>
          <p:nvPr/>
        </p:nvSpPr>
        <p:spPr>
          <a:xfrm>
            <a:off x="6249924" y="2286000"/>
            <a:ext cx="2425446"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49924" y="2286000"/>
            <a:ext cx="2425446" cy="128016"/>
          </a:xfrm>
          <a:prstGeom prst="roundRect">
            <a:avLst/>
          </a:prstGeom>
          <a:gradFill rotWithShape="1">
            <a:gsLst>
              <a:gs pos="0">
                <a:srgbClr val="8243ED"/>
              </a:gs>
              <a:gs pos="100000">
                <a:srgbClr val="602DB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9924" y="2761488"/>
            <a:ext cx="2425446" cy="1097280"/>
          </a:xfrm>
          <a:prstGeom prst="rect">
            <a:avLst/>
          </a:prstGeom>
          <a:noFill/>
        </p:spPr>
        <p:txBody>
          <a:bodyPr wrap="square" anchor="t">
            <a:spAutoFit/>
          </a:bodyPr>
          <a:lstStyle/>
          <a:p>
            <a:pPr algn="ctr">
              <a:spcAft>
                <a:spcPts val="400"/>
              </a:spcAft>
            </a:pPr>
            <a:r>
              <a:rPr sz="4600" b="1">
                <a:solidFill>
                  <a:srgbClr val="7C3AED"/>
                </a:solidFill>
                <a:latin typeface="Arial"/>
              </a:rPr>
              <a:t>6.2%</a:t>
            </a:r>
          </a:p>
        </p:txBody>
      </p:sp>
      <p:sp>
        <p:nvSpPr>
          <p:cNvPr id="21" name="TextBox 20"/>
          <p:cNvSpPr txBox="1"/>
          <p:nvPr/>
        </p:nvSpPr>
        <p:spPr>
          <a:xfrm>
            <a:off x="6432804" y="3913632"/>
            <a:ext cx="2059686" cy="822960"/>
          </a:xfrm>
          <a:prstGeom prst="rect">
            <a:avLst/>
          </a:prstGeom>
          <a:noFill/>
        </p:spPr>
        <p:txBody>
          <a:bodyPr wrap="square" anchor="t">
            <a:spAutoFit/>
          </a:bodyPr>
          <a:lstStyle/>
          <a:p>
            <a:pPr algn="ctr">
              <a:spcAft>
                <a:spcPts val="400"/>
              </a:spcAft>
            </a:pPr>
            <a:r>
              <a:rPr sz="1300" b="1">
                <a:solidFill>
                  <a:srgbClr val="161B26"/>
                </a:solidFill>
                <a:latin typeface="Arial"/>
              </a:rPr>
              <a:t>Average discount</a:t>
            </a:r>
          </a:p>
        </p:txBody>
      </p:sp>
      <p:sp>
        <p:nvSpPr>
          <p:cNvPr id="22" name="TextBox 21"/>
          <p:cNvSpPr txBox="1"/>
          <p:nvPr/>
        </p:nvSpPr>
        <p:spPr>
          <a:xfrm>
            <a:off x="6432804" y="4507992"/>
            <a:ext cx="2059686" cy="457200"/>
          </a:xfrm>
          <a:prstGeom prst="rect">
            <a:avLst/>
          </a:prstGeom>
          <a:noFill/>
        </p:spPr>
        <p:txBody>
          <a:bodyPr wrap="square" anchor="t">
            <a:spAutoFit/>
          </a:bodyPr>
          <a:lstStyle/>
          <a:p>
            <a:pPr algn="ctr">
              <a:spcAft>
                <a:spcPts val="400"/>
              </a:spcAft>
            </a:pPr>
            <a:r>
              <a:rPr sz="1200" b="1">
                <a:solidFill>
                  <a:srgbClr val="C03939"/>
                </a:solidFill>
                <a:latin typeface="Arial"/>
              </a:rPr>
              <a:t>▼  </a:t>
            </a:r>
            <a:r>
              <a:rPr sz="1150" b="0">
                <a:solidFill>
                  <a:srgbClr val="5B6372"/>
                </a:solidFill>
                <a:latin typeface="Arial"/>
              </a:rPr>
              <a:t>given against list price</a:t>
            </a:r>
          </a:p>
        </p:txBody>
      </p:sp>
      <p:sp>
        <p:nvSpPr>
          <p:cNvPr id="23" name="Rectangle 22"/>
          <p:cNvSpPr/>
          <p:nvPr/>
        </p:nvSpPr>
        <p:spPr>
          <a:xfrm>
            <a:off x="8986266" y="2286000"/>
            <a:ext cx="2425446"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986266" y="2286000"/>
            <a:ext cx="2425446" cy="128016"/>
          </a:xfrm>
          <a:prstGeom prst="roundRect">
            <a:avLst/>
          </a:prstGeom>
          <a:gradFill rotWithShape="1">
            <a:gsLst>
              <a:gs pos="0">
                <a:srgbClr val="F5A217"/>
              </a:gs>
              <a:gs pos="100000">
                <a:srgbClr val="BF7B0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86266" y="2761488"/>
            <a:ext cx="2425446" cy="1097280"/>
          </a:xfrm>
          <a:prstGeom prst="rect">
            <a:avLst/>
          </a:prstGeom>
          <a:noFill/>
        </p:spPr>
        <p:txBody>
          <a:bodyPr wrap="square" anchor="t">
            <a:spAutoFit/>
          </a:bodyPr>
          <a:lstStyle/>
          <a:p>
            <a:pPr algn="ctr">
              <a:spcAft>
                <a:spcPts val="400"/>
              </a:spcAft>
            </a:pPr>
            <a:r>
              <a:rPr sz="4600" b="1">
                <a:solidFill>
                  <a:srgbClr val="F59E0B"/>
                </a:solidFill>
                <a:latin typeface="Arial"/>
              </a:rPr>
              <a:t>+48</a:t>
            </a:r>
          </a:p>
        </p:txBody>
      </p:sp>
      <p:sp>
        <p:nvSpPr>
          <p:cNvPr id="26" name="TextBox 25"/>
          <p:cNvSpPr txBox="1"/>
          <p:nvPr/>
        </p:nvSpPr>
        <p:spPr>
          <a:xfrm>
            <a:off x="9169146" y="3913632"/>
            <a:ext cx="2059686" cy="822960"/>
          </a:xfrm>
          <a:prstGeom prst="rect">
            <a:avLst/>
          </a:prstGeom>
          <a:noFill/>
        </p:spPr>
        <p:txBody>
          <a:bodyPr wrap="square" anchor="t">
            <a:spAutoFit/>
          </a:bodyPr>
          <a:lstStyle/>
          <a:p>
            <a:pPr algn="ctr">
              <a:spcAft>
                <a:spcPts val="400"/>
              </a:spcAft>
            </a:pPr>
            <a:r>
              <a:rPr sz="1300" b="1">
                <a:solidFill>
                  <a:srgbClr val="161B26"/>
                </a:solidFill>
                <a:latin typeface="Arial"/>
              </a:rPr>
              <a:t>NPS at handoff</a:t>
            </a:r>
          </a:p>
        </p:txBody>
      </p:sp>
      <p:sp>
        <p:nvSpPr>
          <p:cNvPr id="27" name="TextBox 26"/>
          <p:cNvSpPr txBox="1"/>
          <p:nvPr/>
        </p:nvSpPr>
        <p:spPr>
          <a:xfrm>
            <a:off x="9169146" y="4507992"/>
            <a:ext cx="2059686" cy="457200"/>
          </a:xfrm>
          <a:prstGeom prst="rect">
            <a:avLst/>
          </a:prstGeom>
          <a:noFill/>
        </p:spPr>
        <p:txBody>
          <a:bodyPr wrap="square" anchor="t">
            <a:spAutoFit/>
          </a:bodyPr>
          <a:lstStyle/>
          <a:p>
            <a:pPr algn="ctr">
              <a:spcAft>
                <a:spcPts val="400"/>
              </a:spcAft>
            </a:pPr>
            <a:r>
              <a:rPr sz="1200" b="1">
                <a:solidFill>
                  <a:srgbClr val="10B981"/>
                </a:solidFill>
                <a:latin typeface="Arial"/>
              </a:rPr>
              <a:t>▲  </a:t>
            </a:r>
            <a:r>
              <a:rPr sz="1150" b="0">
                <a:solidFill>
                  <a:srgbClr val="5B6372"/>
                </a:solidFill>
                <a:latin typeface="Arial"/>
              </a:rPr>
              <a:t>customer sentiment entering onboarding</a:t>
            </a:r>
          </a:p>
        </p:txBody>
      </p:sp>
      <p:sp>
        <p:nvSpPr>
          <p:cNvPr id="28" name="Rectangle 27"/>
          <p:cNvSpPr/>
          <p:nvPr/>
        </p:nvSpPr>
        <p:spPr>
          <a:xfrm>
            <a:off x="777240" y="562356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623560"/>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623560"/>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A falling cycle length and a falling discount depth, together, are the clearest evidence that value selling is working.</a:t>
            </a:r>
          </a:p>
        </p:txBody>
      </p:sp>
      <p:sp>
        <p:nvSpPr>
          <p:cNvPr id="31" name="TextBox 30"/>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illustrative sales-closure scorecard, performance-management practice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Objection, Deflection &amp; Rejection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Objection, Deflection &amp; Rejection?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Three things that sound identical and need completely opposite responses. Misread it, and you either give up on a live deal or push a dead one.</a:t>
            </a:r>
          </a:p>
        </p:txBody>
      </p:sp>
      <p:sp>
        <p:nvSpPr>
          <p:cNvPr id="8" name="Rectangle 7"/>
          <p:cNvSpPr/>
          <p:nvPr/>
        </p:nvSpPr>
        <p:spPr>
          <a:xfrm>
            <a:off x="777240"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09444"/>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46604"/>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ular Callout 10"/>
          <p:cNvSpPr/>
          <p:nvPr/>
        </p:nvSpPr>
        <p:spPr>
          <a:xfrm>
            <a:off x="1816592" y="2665658"/>
            <a:ext cx="374172" cy="283464"/>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An Objection</a:t>
            </a:r>
          </a:p>
        </p:txBody>
      </p:sp>
      <p:sp>
        <p:nvSpPr>
          <p:cNvPr id="13" name="TextBox 12"/>
          <p:cNvSpPr txBox="1"/>
          <p:nvPr/>
        </p:nvSpPr>
        <p:spPr>
          <a:xfrm>
            <a:off x="941832"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A request for more information. The deal is alive.</a:t>
            </a:r>
          </a:p>
        </p:txBody>
      </p:sp>
      <p:sp>
        <p:nvSpPr>
          <p:cNvPr id="14" name="Rectangle 13"/>
          <p:cNvSpPr/>
          <p:nvPr/>
        </p:nvSpPr>
        <p:spPr>
          <a:xfrm>
            <a:off x="3504438"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409444"/>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47413" y="2546604"/>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nut 16"/>
          <p:cNvSpPr/>
          <p:nvPr/>
        </p:nvSpPr>
        <p:spPr>
          <a:xfrm>
            <a:off x="4555129" y="2642981"/>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rot="2700000">
            <a:off x="4776231" y="2886760"/>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A Deflection</a:t>
            </a:r>
          </a:p>
        </p:txBody>
      </p:sp>
      <p:sp>
        <p:nvSpPr>
          <p:cNvPr id="20" name="TextBox 19"/>
          <p:cNvSpPr txBox="1"/>
          <p:nvPr/>
        </p:nvSpPr>
        <p:spPr>
          <a:xfrm>
            <a:off x="3669030" y="4037076"/>
            <a:ext cx="2123694" cy="1536192"/>
          </a:xfrm>
          <a:prstGeom prst="rect">
            <a:avLst/>
          </a:prstGeom>
          <a:noFill/>
        </p:spPr>
        <p:txBody>
          <a:bodyPr wrap="square" anchor="t">
            <a:spAutoFit/>
          </a:bodyPr>
          <a:lstStyle/>
          <a:p>
            <a:pPr algn="ctr">
              <a:spcAft>
                <a:spcPts val="400"/>
              </a:spcAft>
            </a:pPr>
            <a:r>
              <a:rPr sz="1150" b="0">
                <a:solidFill>
                  <a:srgbClr val="5B6372"/>
                </a:solidFill>
                <a:latin typeface="Arial"/>
              </a:rPr>
              <a:t>Avoiding the real issue. Something is unsaid.</a:t>
            </a:r>
          </a:p>
        </p:txBody>
      </p:sp>
      <p:sp>
        <p:nvSpPr>
          <p:cNvPr id="21" name="Rectangle 20"/>
          <p:cNvSpPr/>
          <p:nvPr/>
        </p:nvSpPr>
        <p:spPr>
          <a:xfrm>
            <a:off x="6231636"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409444"/>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546604"/>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entagon 23"/>
          <p:cNvSpPr/>
          <p:nvPr/>
        </p:nvSpPr>
        <p:spPr>
          <a:xfrm rot="5400000">
            <a:off x="7293665" y="2665658"/>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96228"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A Rejection</a:t>
            </a:r>
          </a:p>
        </p:txBody>
      </p:sp>
      <p:sp>
        <p:nvSpPr>
          <p:cNvPr id="26" name="TextBox 25"/>
          <p:cNvSpPr txBox="1"/>
          <p:nvPr/>
        </p:nvSpPr>
        <p:spPr>
          <a:xfrm>
            <a:off x="6396228"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A genuine no. Respect it and keep the door open.</a:t>
            </a:r>
          </a:p>
        </p:txBody>
      </p:sp>
      <p:sp>
        <p:nvSpPr>
          <p:cNvPr id="27" name="Rectangle 26"/>
          <p:cNvSpPr/>
          <p:nvPr/>
        </p:nvSpPr>
        <p:spPr>
          <a:xfrm>
            <a:off x="8958834" y="2409444"/>
            <a:ext cx="2452878" cy="327355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58834" y="2409444"/>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01809" y="2546604"/>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rot="2700000">
            <a:off x="10029367" y="2835737"/>
            <a:ext cx="141732"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rot="18900000">
            <a:off x="10105903" y="2801721"/>
            <a:ext cx="260786"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23426" y="343357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The Test</a:t>
            </a:r>
          </a:p>
        </p:txBody>
      </p:sp>
      <p:sp>
        <p:nvSpPr>
          <p:cNvPr id="33" name="TextBox 32"/>
          <p:cNvSpPr txBox="1"/>
          <p:nvPr/>
        </p:nvSpPr>
        <p:spPr>
          <a:xfrm>
            <a:off x="9123426" y="4037076"/>
            <a:ext cx="2123694" cy="1536192"/>
          </a:xfrm>
          <a:prstGeom prst="rect">
            <a:avLst/>
          </a:prstGeom>
          <a:noFill/>
        </p:spPr>
        <p:txBody>
          <a:bodyPr wrap="square" anchor="t">
            <a:spAutoFit/>
          </a:bodyPr>
          <a:lstStyle/>
          <a:p>
            <a:pPr algn="ctr">
              <a:spcAft>
                <a:spcPts val="400"/>
              </a:spcAft>
            </a:pPr>
            <a:r>
              <a:rPr sz="1000" b="0">
                <a:solidFill>
                  <a:srgbClr val="5B6372"/>
                </a:solidFill>
                <a:latin typeface="Arial"/>
              </a:rPr>
              <a:t>Ask a question — the answer tells you which one it is.</a:t>
            </a:r>
          </a:p>
        </p:txBody>
      </p:sp>
      <p:sp>
        <p:nvSpPr>
          <p:cNvPr id="34" name="TextBox 33"/>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objection-handling taxonomy, sales practice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Which One Are You Actually Hearing?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345436" y="2148840"/>
            <a:ext cx="7498079" cy="932688"/>
          </a:xfrm>
          <a:prstGeom prst="roundRect">
            <a:avLst/>
          </a:prstGeom>
          <a:solidFill>
            <a:srgbClr val="161B26"/>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345436" y="2148840"/>
            <a:ext cx="7498079" cy="932688"/>
          </a:xfrm>
          <a:prstGeom prst="rect">
            <a:avLst/>
          </a:prstGeom>
          <a:noFill/>
        </p:spPr>
        <p:txBody>
          <a:bodyPr wrap="square" anchor="ctr">
            <a:spAutoFit/>
          </a:bodyPr>
          <a:lstStyle/>
          <a:p>
            <a:pPr algn="ctr">
              <a:spcAft>
                <a:spcPts val="400"/>
              </a:spcAft>
            </a:pPr>
            <a:r>
              <a:rPr sz="1350" b="1">
                <a:solidFill>
                  <a:srgbClr val="FFFFFF"/>
                </a:solidFill>
                <a:latin typeface="Arial"/>
              </a:rPr>
              <a:t>The buyer says: "It's too expensive right now." What is really happening?</a:t>
            </a:r>
          </a:p>
        </p:txBody>
      </p:sp>
      <p:cxnSp>
        <p:nvCxnSpPr>
          <p:cNvPr id="9" name="Connector 8"/>
          <p:cNvCxnSpPr/>
          <p:nvPr/>
        </p:nvCxnSpPr>
        <p:spPr>
          <a:xfrm flipH="1">
            <a:off x="2446020" y="3081528"/>
            <a:ext cx="3648456" cy="84124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074420" y="3630168"/>
            <a:ext cx="2743200" cy="457200"/>
          </a:xfrm>
          <a:prstGeom prst="roundRect">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4420" y="3630168"/>
            <a:ext cx="2743200" cy="457200"/>
          </a:xfrm>
          <a:prstGeom prst="rect">
            <a:avLst/>
          </a:prstGeom>
          <a:noFill/>
        </p:spPr>
        <p:txBody>
          <a:bodyPr wrap="square" anchor="ctr">
            <a:spAutoFit/>
          </a:bodyPr>
          <a:lstStyle/>
          <a:p>
            <a:pPr algn="ctr">
              <a:spcAft>
                <a:spcPts val="400"/>
              </a:spcAft>
            </a:pPr>
            <a:r>
              <a:rPr sz="1250" b="1">
                <a:solidFill>
                  <a:srgbClr val="FFFFFF"/>
                </a:solidFill>
                <a:latin typeface="Arial"/>
              </a:rPr>
              <a:t>OBJECTION</a:t>
            </a:r>
          </a:p>
        </p:txBody>
      </p:sp>
      <p:sp>
        <p:nvSpPr>
          <p:cNvPr id="12" name="Rectangle 11"/>
          <p:cNvSpPr/>
          <p:nvPr/>
        </p:nvSpPr>
        <p:spPr>
          <a:xfrm>
            <a:off x="777240" y="4233672"/>
            <a:ext cx="3337560" cy="17099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33672"/>
            <a:ext cx="333756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453128"/>
            <a:ext cx="2935224" cy="457200"/>
          </a:xfrm>
          <a:prstGeom prst="rect">
            <a:avLst/>
          </a:prstGeom>
          <a:noFill/>
        </p:spPr>
        <p:txBody>
          <a:bodyPr wrap="square" anchor="t">
            <a:spAutoFit/>
          </a:bodyPr>
          <a:lstStyle/>
          <a:p>
            <a:pPr algn="ctr">
              <a:spcAft>
                <a:spcPts val="400"/>
              </a:spcAft>
            </a:pPr>
            <a:r>
              <a:rPr sz="1200" b="1">
                <a:solidFill>
                  <a:srgbClr val="161B26"/>
                </a:solidFill>
                <a:latin typeface="Arial"/>
              </a:rPr>
              <a:t>They want to justify it</a:t>
            </a:r>
          </a:p>
        </p:txBody>
      </p:sp>
      <p:sp>
        <p:nvSpPr>
          <p:cNvPr id="15" name="TextBox 14"/>
          <p:cNvSpPr txBox="1"/>
          <p:nvPr/>
        </p:nvSpPr>
        <p:spPr>
          <a:xfrm>
            <a:off x="996696" y="4946904"/>
            <a:ext cx="2898648" cy="649224"/>
          </a:xfrm>
          <a:prstGeom prst="rect">
            <a:avLst/>
          </a:prstGeom>
          <a:noFill/>
        </p:spPr>
        <p:txBody>
          <a:bodyPr wrap="square" anchor="t">
            <a:spAutoFit/>
          </a:bodyPr>
          <a:lstStyle/>
          <a:p>
            <a:pPr algn="ctr">
              <a:spcAft>
                <a:spcPts val="400"/>
              </a:spcAft>
            </a:pPr>
            <a:r>
              <a:rPr sz="1150" b="0">
                <a:solidFill>
                  <a:srgbClr val="5B6372"/>
                </a:solidFill>
                <a:latin typeface="Arial"/>
              </a:rPr>
              <a:t>Give value evidence and quantify inaction, then ask a question.</a:t>
            </a:r>
          </a:p>
        </p:txBody>
      </p:sp>
      <p:cxnSp>
        <p:nvCxnSpPr>
          <p:cNvPr id="16" name="Connector 15"/>
          <p:cNvCxnSpPr/>
          <p:nvPr/>
        </p:nvCxnSpPr>
        <p:spPr>
          <a:xfrm>
            <a:off x="6094476" y="3081528"/>
            <a:ext cx="0" cy="841248"/>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722876" y="3630168"/>
            <a:ext cx="2743200" cy="457200"/>
          </a:xfrm>
          <a:prstGeom prst="roundRect">
            <a:avLst/>
          </a:prstGeom>
          <a:solidFill>
            <a:srgbClr val="F59E0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22876" y="3630168"/>
            <a:ext cx="2743200" cy="457200"/>
          </a:xfrm>
          <a:prstGeom prst="rect">
            <a:avLst/>
          </a:prstGeom>
          <a:noFill/>
        </p:spPr>
        <p:txBody>
          <a:bodyPr wrap="square" anchor="ctr">
            <a:spAutoFit/>
          </a:bodyPr>
          <a:lstStyle/>
          <a:p>
            <a:pPr algn="ctr">
              <a:spcAft>
                <a:spcPts val="400"/>
              </a:spcAft>
            </a:pPr>
            <a:r>
              <a:rPr sz="1250" b="1">
                <a:solidFill>
                  <a:srgbClr val="FFFFFF"/>
                </a:solidFill>
                <a:latin typeface="Arial"/>
              </a:rPr>
              <a:t>DEFLECTION</a:t>
            </a:r>
          </a:p>
        </p:txBody>
      </p:sp>
      <p:sp>
        <p:nvSpPr>
          <p:cNvPr id="19" name="Rectangle 18"/>
          <p:cNvSpPr/>
          <p:nvPr/>
        </p:nvSpPr>
        <p:spPr>
          <a:xfrm>
            <a:off x="4425696" y="4233672"/>
            <a:ext cx="3337560" cy="17099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4233672"/>
            <a:ext cx="333756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26864" y="4453128"/>
            <a:ext cx="2935224" cy="457200"/>
          </a:xfrm>
          <a:prstGeom prst="rect">
            <a:avLst/>
          </a:prstGeom>
          <a:noFill/>
        </p:spPr>
        <p:txBody>
          <a:bodyPr wrap="square" anchor="t">
            <a:spAutoFit/>
          </a:bodyPr>
          <a:lstStyle/>
          <a:p>
            <a:pPr algn="ctr">
              <a:spcAft>
                <a:spcPts val="400"/>
              </a:spcAft>
            </a:pPr>
            <a:r>
              <a:rPr sz="1200" b="1">
                <a:solidFill>
                  <a:srgbClr val="161B26"/>
                </a:solidFill>
                <a:latin typeface="Arial"/>
              </a:rPr>
              <a:t>Something else is wrong</a:t>
            </a:r>
          </a:p>
        </p:txBody>
      </p:sp>
      <p:sp>
        <p:nvSpPr>
          <p:cNvPr id="22" name="TextBox 21"/>
          <p:cNvSpPr txBox="1"/>
          <p:nvPr/>
        </p:nvSpPr>
        <p:spPr>
          <a:xfrm>
            <a:off x="4645152" y="4946904"/>
            <a:ext cx="2898648" cy="649224"/>
          </a:xfrm>
          <a:prstGeom prst="rect">
            <a:avLst/>
          </a:prstGeom>
          <a:noFill/>
        </p:spPr>
        <p:txBody>
          <a:bodyPr wrap="square" anchor="t">
            <a:spAutoFit/>
          </a:bodyPr>
          <a:lstStyle/>
          <a:p>
            <a:pPr algn="ctr">
              <a:spcAft>
                <a:spcPts val="400"/>
              </a:spcAft>
            </a:pPr>
            <a:r>
              <a:rPr sz="1000" b="0">
                <a:solidFill>
                  <a:srgbClr val="5B6372"/>
                </a:solidFill>
                <a:latin typeface="Arial"/>
              </a:rPr>
              <a:t>Surface the unspoken concern gently: "If price weren't an issue, what then?"</a:t>
            </a:r>
          </a:p>
        </p:txBody>
      </p:sp>
      <p:cxnSp>
        <p:nvCxnSpPr>
          <p:cNvPr id="23" name="Connector 22"/>
          <p:cNvCxnSpPr/>
          <p:nvPr/>
        </p:nvCxnSpPr>
        <p:spPr>
          <a:xfrm>
            <a:off x="6094476" y="3081528"/>
            <a:ext cx="3648456" cy="8412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71332" y="3630168"/>
            <a:ext cx="2743200" cy="457200"/>
          </a:xfrm>
          <a:prstGeom prst="roundRect">
            <a:avLst/>
          </a:prstGeom>
          <a:solidFill>
            <a:srgbClr val="7C3AED"/>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71332" y="3630168"/>
            <a:ext cx="2743200" cy="457200"/>
          </a:xfrm>
          <a:prstGeom prst="rect">
            <a:avLst/>
          </a:prstGeom>
          <a:noFill/>
        </p:spPr>
        <p:txBody>
          <a:bodyPr wrap="square" anchor="ctr">
            <a:spAutoFit/>
          </a:bodyPr>
          <a:lstStyle/>
          <a:p>
            <a:pPr algn="ctr">
              <a:spcAft>
                <a:spcPts val="400"/>
              </a:spcAft>
            </a:pPr>
            <a:r>
              <a:rPr sz="1250" b="1">
                <a:solidFill>
                  <a:srgbClr val="FFFFFF"/>
                </a:solidFill>
                <a:latin typeface="Arial"/>
              </a:rPr>
              <a:t>REJECTION</a:t>
            </a:r>
          </a:p>
        </p:txBody>
      </p:sp>
      <p:sp>
        <p:nvSpPr>
          <p:cNvPr id="26" name="Rectangle 25"/>
          <p:cNvSpPr/>
          <p:nvPr/>
        </p:nvSpPr>
        <p:spPr>
          <a:xfrm>
            <a:off x="8074152" y="4233672"/>
            <a:ext cx="3337560" cy="170992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74152" y="4233672"/>
            <a:ext cx="333756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4453128"/>
            <a:ext cx="2935224" cy="457200"/>
          </a:xfrm>
          <a:prstGeom prst="rect">
            <a:avLst/>
          </a:prstGeom>
          <a:noFill/>
        </p:spPr>
        <p:txBody>
          <a:bodyPr wrap="square" anchor="t">
            <a:spAutoFit/>
          </a:bodyPr>
          <a:lstStyle/>
          <a:p>
            <a:pPr algn="ctr">
              <a:spcAft>
                <a:spcPts val="400"/>
              </a:spcAft>
            </a:pPr>
            <a:r>
              <a:rPr sz="1350" b="1">
                <a:solidFill>
                  <a:srgbClr val="161B26"/>
                </a:solidFill>
                <a:latin typeface="Arial"/>
              </a:rPr>
              <a:t>It is a genuine no</a:t>
            </a:r>
          </a:p>
        </p:txBody>
      </p:sp>
      <p:sp>
        <p:nvSpPr>
          <p:cNvPr id="29" name="TextBox 28"/>
          <p:cNvSpPr txBox="1"/>
          <p:nvPr/>
        </p:nvSpPr>
        <p:spPr>
          <a:xfrm>
            <a:off x="8293608" y="4946904"/>
            <a:ext cx="2898648" cy="649224"/>
          </a:xfrm>
          <a:prstGeom prst="rect">
            <a:avLst/>
          </a:prstGeom>
          <a:noFill/>
        </p:spPr>
        <p:txBody>
          <a:bodyPr wrap="square" anchor="t">
            <a:spAutoFit/>
          </a:bodyPr>
          <a:lstStyle/>
          <a:p>
            <a:pPr algn="ctr">
              <a:spcAft>
                <a:spcPts val="400"/>
              </a:spcAft>
            </a:pPr>
            <a:r>
              <a:rPr sz="1000" b="0">
                <a:solidFill>
                  <a:srgbClr val="5B6372"/>
                </a:solidFill>
                <a:latin typeface="Arial"/>
              </a:rPr>
              <a:t>Accept it gracefully, ask what would change it, and leave the door open.</a:t>
            </a:r>
          </a:p>
        </p:txBody>
      </p:sp>
      <p:sp>
        <p:nvSpPr>
          <p:cNvPr id="30" name="TextBox 29"/>
          <p:cNvSpPr txBox="1"/>
          <p:nvPr/>
        </p:nvSpPr>
        <p:spPr>
          <a:xfrm>
            <a:off x="777240" y="605332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objection / deflection / rejection diagnosis practice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50"/>
                                        <p:tgtEl>
                                          <p:spTgt spid="7"/>
                                        </p:tgtEl>
                                      </p:cBhvr>
                                    </p:animEffect>
                                    <p:anim calcmode="lin" valueType="num">
                                      <p:cBhvr additive="base">
                                        <p:cTn id="1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50"/>
                                        <p:tgtEl>
                                          <p:spTgt spid="8"/>
                                        </p:tgtEl>
                                      </p:cBhvr>
                                    </p:animEffect>
                                    <p:anim calcmode="lin" valueType="num">
                                      <p:cBhvr additive="base">
                                        <p:cTn id="2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350"/>
                                        <p:tgtEl>
                                          <p:spTgt spid="19"/>
                                        </p:tgtEl>
                                      </p:cBhvr>
                                    </p:animEffect>
                                    <p:anim calcmode="lin" valueType="num">
                                      <p:cBhvr additive="base">
                                        <p:cTn id="45" dur="350" fill="hold"/>
                                        <p:tgtEl>
                                          <p:spTgt spid="19"/>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350"/>
                                        <p:tgtEl>
                                          <p:spTgt spid="26"/>
                                        </p:tgtEl>
                                      </p:cBhvr>
                                    </p:animEffect>
                                    <p:anim calcmode="lin" valueType="num">
                                      <p:cBhvr additive="base">
                                        <p:cTn id="55" dur="350" fill="hold"/>
                                        <p:tgtEl>
                                          <p:spTgt spid="26"/>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350"/>
                                        <p:tgtEl>
                                          <p:spTgt spid="22"/>
                                        </p:tgtEl>
                                      </p:cBhvr>
                                    </p:animEffect>
                                    <p:anim calcmode="lin" valueType="num">
                                      <p:cBhvr additive="base">
                                        <p:cTn id="75" dur="350" fill="hold"/>
                                        <p:tgtEl>
                                          <p:spTgt spid="22"/>
                                        </p:tgtEl>
                                        <p:attrNameLst>
                                          <p:attrName>ppt_y</p:attrName>
                                        </p:attrNameLst>
                                      </p:cBhvr>
                                      <p:tavLst>
                                        <p:tav tm="0">
                                          <p:val>
                                            <p:strVal val="#ppt_y+0.0350"/>
                                          </p:val>
                                        </p:tav>
                                        <p:tav tm="100000">
                                          <p:val>
                                            <p:strVal val="#ppt_y"/>
                                          </p:val>
                                        </p:tav>
                                      </p:tavLst>
                                    </p:anim>
                                  </p:childTnLst>
                                </p:cTn>
                              </p:par>
                            </p:childTnLst>
                          </p:cTn>
                        </p:par>
                      </p:childTnLst>
                    </p:cTn>
                  </p:par>
                  <p:par>
                    <p:cTn id="80" fill="hold">
                      <p:stCondLst>
                        <p:cond delay="0"/>
                      </p:stCondLst>
                      <p:childTnLst>
                        <p:par>
                          <p:cTn id="81" fill="hold">
                            <p:stCondLst>
                              <p:cond delay="0"/>
                            </p:stCondLst>
                            <p:childTnLst>
                              <p:par>
                                <p:cTn id="82" presetID="10" presetClass="entr" presetSubtype="0" fill="hold" grpId="0" nodeType="after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350"/>
                                        <p:tgtEl>
                                          <p:spTgt spid="29"/>
                                        </p:tgtEl>
                                      </p:cBhvr>
                                    </p:animEffect>
                                    <p:anim calcmode="lin" valueType="num">
                                      <p:cBhvr additive="base">
                                        <p:cTn id="85" dur="350" fill="hold"/>
                                        <p:tgtEl>
                                          <p:spTgt spid="29"/>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Reading the Difference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Signals an Objection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Signals a Rejection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Asks a follow-up question about terms or scope.</a:t>
            </a:r>
          </a:p>
          <a:p>
            <a:pPr>
              <a:spcAft>
                <a:spcPts val="1000"/>
              </a:spcAft>
            </a:pPr>
            <a:r>
              <a:rPr sz="1600" b="0">
                <a:solidFill>
                  <a:srgbClr val="161B26"/>
                </a:solidFill>
                <a:latin typeface="Arial"/>
              </a:rPr>
              <a:t>•  Engages with your answer and pushes back on detail.</a:t>
            </a:r>
          </a:p>
          <a:p>
            <a:pPr>
              <a:spcAft>
                <a:spcPts val="1000"/>
              </a:spcAft>
            </a:pPr>
            <a:r>
              <a:rPr sz="1600" b="0">
                <a:solidFill>
                  <a:srgbClr val="161B26"/>
                </a:solidFill>
                <a:latin typeface="Arial"/>
              </a:rPr>
              <a:t>•  Talks about 'when' and 'how', not 'whether'.</a:t>
            </a:r>
          </a:p>
          <a:p>
            <a:pPr>
              <a:spcAft>
                <a:spcPts val="1000"/>
              </a:spcAft>
            </a:pPr>
            <a:r>
              <a:rPr sz="1600" b="0">
                <a:solidFill>
                  <a:srgbClr val="161B26"/>
                </a:solidFill>
                <a:latin typeface="Arial"/>
              </a:rPr>
              <a:t>•  Still willing to book the next conversation.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Gives no reason and asks nothing further.</a:t>
            </a:r>
          </a:p>
          <a:p>
            <a:pPr>
              <a:spcAft>
                <a:spcPts val="1000"/>
              </a:spcAft>
            </a:pPr>
            <a:r>
              <a:rPr sz="1600" b="0">
                <a:solidFill>
                  <a:srgbClr val="161B26"/>
                </a:solidFill>
                <a:latin typeface="Arial"/>
              </a:rPr>
              <a:t>•  Answers in short, closed sentences.</a:t>
            </a:r>
          </a:p>
          <a:p>
            <a:pPr>
              <a:spcAft>
                <a:spcPts val="1000"/>
              </a:spcAft>
            </a:pPr>
            <a:r>
              <a:rPr sz="1600" b="0">
                <a:solidFill>
                  <a:srgbClr val="161B26"/>
                </a:solidFill>
                <a:latin typeface="Arial"/>
              </a:rPr>
              <a:t>•  Shifts to the past tense: "we were looking at".</a:t>
            </a:r>
          </a:p>
          <a:p>
            <a:pPr>
              <a:spcAft>
                <a:spcPts val="1000"/>
              </a:spcAft>
            </a:pPr>
            <a:r>
              <a:rPr sz="1600" b="0">
                <a:solidFill>
                  <a:srgbClr val="161B26"/>
                </a:solidFill>
                <a:latin typeface="Arial"/>
              </a:rPr>
              <a:t>•  Declines to schedule any next step.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objection-handling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Four Objections You Will Hear Most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Prepare these four properly and you have prepared for most of your career.</a:t>
            </a:r>
          </a:p>
        </p:txBody>
      </p:sp>
      <p:sp>
        <p:nvSpPr>
          <p:cNvPr id="8" name="Rectangle 7"/>
          <p:cNvSpPr/>
          <p:nvPr/>
        </p:nvSpPr>
        <p:spPr>
          <a:xfrm>
            <a:off x="777240" y="2510028"/>
            <a:ext cx="2452878" cy="30723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510028"/>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647188"/>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7931" y="2964667"/>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946986" y="2865455"/>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066041" y="2780416"/>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41832" y="353415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"Too expensive"</a:t>
            </a:r>
          </a:p>
        </p:txBody>
      </p:sp>
      <p:sp>
        <p:nvSpPr>
          <p:cNvPr id="15" name="TextBox 14"/>
          <p:cNvSpPr txBox="1"/>
          <p:nvPr/>
        </p:nvSpPr>
        <p:spPr>
          <a:xfrm>
            <a:off x="941832" y="4137660"/>
            <a:ext cx="2123694" cy="1335024"/>
          </a:xfrm>
          <a:prstGeom prst="rect">
            <a:avLst/>
          </a:prstGeom>
          <a:noFill/>
        </p:spPr>
        <p:txBody>
          <a:bodyPr wrap="square" anchor="t">
            <a:spAutoFit/>
          </a:bodyPr>
          <a:lstStyle/>
          <a:p>
            <a:pPr algn="ctr">
              <a:spcAft>
                <a:spcPts val="400"/>
              </a:spcAft>
            </a:pPr>
            <a:r>
              <a:rPr sz="1150" b="0">
                <a:solidFill>
                  <a:srgbClr val="5B6372"/>
                </a:solidFill>
                <a:latin typeface="Arial"/>
              </a:rPr>
              <a:t>Usually a value gap or a timing constraint.</a:t>
            </a:r>
          </a:p>
        </p:txBody>
      </p:sp>
      <p:sp>
        <p:nvSpPr>
          <p:cNvPr id="16" name="Rectangle 15"/>
          <p:cNvSpPr/>
          <p:nvPr/>
        </p:nvSpPr>
        <p:spPr>
          <a:xfrm>
            <a:off x="3504438" y="2510028"/>
            <a:ext cx="2452878" cy="30723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4438" y="2510028"/>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447413" y="2647188"/>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nut 18"/>
          <p:cNvSpPr/>
          <p:nvPr/>
        </p:nvSpPr>
        <p:spPr>
          <a:xfrm>
            <a:off x="4526782" y="2726557"/>
            <a:ext cx="408188" cy="408188"/>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713869" y="2783250"/>
            <a:ext cx="34015" cy="1587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713869" y="2913644"/>
            <a:ext cx="130393" cy="34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69030" y="353415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"Not the right time"</a:t>
            </a:r>
          </a:p>
        </p:txBody>
      </p:sp>
      <p:sp>
        <p:nvSpPr>
          <p:cNvPr id="23" name="TextBox 22"/>
          <p:cNvSpPr txBox="1"/>
          <p:nvPr/>
        </p:nvSpPr>
        <p:spPr>
          <a:xfrm>
            <a:off x="3669030" y="4137660"/>
            <a:ext cx="2123694" cy="1335024"/>
          </a:xfrm>
          <a:prstGeom prst="rect">
            <a:avLst/>
          </a:prstGeom>
          <a:noFill/>
        </p:spPr>
        <p:txBody>
          <a:bodyPr wrap="square" anchor="t">
            <a:spAutoFit/>
          </a:bodyPr>
          <a:lstStyle/>
          <a:p>
            <a:pPr algn="ctr">
              <a:spcAft>
                <a:spcPts val="400"/>
              </a:spcAft>
            </a:pPr>
            <a:r>
              <a:rPr sz="1150" b="0">
                <a:solidFill>
                  <a:srgbClr val="5B6372"/>
                </a:solidFill>
                <a:latin typeface="Arial"/>
              </a:rPr>
              <a:t>Usually a priority contest you haven't won.</a:t>
            </a:r>
          </a:p>
        </p:txBody>
      </p:sp>
      <p:sp>
        <p:nvSpPr>
          <p:cNvPr id="24" name="Rectangle 23"/>
          <p:cNvSpPr/>
          <p:nvPr/>
        </p:nvSpPr>
        <p:spPr>
          <a:xfrm>
            <a:off x="6231636" y="2510028"/>
            <a:ext cx="2452878" cy="30723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31636" y="2510028"/>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174611" y="2647188"/>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259650" y="2754904"/>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00594" y="2754904"/>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7236973" y="2936321"/>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480752" y="2936321"/>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96228" y="353415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"I need to consult"</a:t>
            </a:r>
          </a:p>
        </p:txBody>
      </p:sp>
      <p:sp>
        <p:nvSpPr>
          <p:cNvPr id="32" name="TextBox 31"/>
          <p:cNvSpPr txBox="1"/>
          <p:nvPr/>
        </p:nvSpPr>
        <p:spPr>
          <a:xfrm>
            <a:off x="6396228" y="4137660"/>
            <a:ext cx="2123694" cy="1335024"/>
          </a:xfrm>
          <a:prstGeom prst="rect">
            <a:avLst/>
          </a:prstGeom>
          <a:noFill/>
        </p:spPr>
        <p:txBody>
          <a:bodyPr wrap="square" anchor="t">
            <a:spAutoFit/>
          </a:bodyPr>
          <a:lstStyle/>
          <a:p>
            <a:pPr algn="ctr">
              <a:spcAft>
                <a:spcPts val="400"/>
              </a:spcAft>
            </a:pPr>
            <a:r>
              <a:rPr sz="1150" b="0">
                <a:solidFill>
                  <a:srgbClr val="5B6372"/>
                </a:solidFill>
                <a:latin typeface="Arial"/>
              </a:rPr>
              <a:t>Usually a committee you haven't mapped.</a:t>
            </a:r>
          </a:p>
        </p:txBody>
      </p:sp>
      <p:sp>
        <p:nvSpPr>
          <p:cNvPr id="33" name="Rectangle 32"/>
          <p:cNvSpPr/>
          <p:nvPr/>
        </p:nvSpPr>
        <p:spPr>
          <a:xfrm>
            <a:off x="8958834" y="2510028"/>
            <a:ext cx="2452878" cy="307238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958834" y="2510028"/>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901809" y="2647188"/>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entagon 35"/>
          <p:cNvSpPr/>
          <p:nvPr/>
        </p:nvSpPr>
        <p:spPr>
          <a:xfrm rot="5400000">
            <a:off x="10020863" y="2766242"/>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123426" y="3534156"/>
            <a:ext cx="2123694" cy="566928"/>
          </a:xfrm>
          <a:prstGeom prst="rect">
            <a:avLst/>
          </a:prstGeom>
          <a:noFill/>
        </p:spPr>
        <p:txBody>
          <a:bodyPr wrap="square" anchor="t">
            <a:spAutoFit/>
          </a:bodyPr>
          <a:lstStyle/>
          <a:p>
            <a:pPr algn="ctr">
              <a:spcAft>
                <a:spcPts val="400"/>
              </a:spcAft>
            </a:pPr>
            <a:r>
              <a:rPr sz="1400" b="1">
                <a:solidFill>
                  <a:srgbClr val="161B26"/>
                </a:solidFill>
                <a:latin typeface="Arial"/>
              </a:rPr>
              <a:t>"We're happy as we are"</a:t>
            </a:r>
          </a:p>
        </p:txBody>
      </p:sp>
      <p:sp>
        <p:nvSpPr>
          <p:cNvPr id="38" name="TextBox 37"/>
          <p:cNvSpPr txBox="1"/>
          <p:nvPr/>
        </p:nvSpPr>
        <p:spPr>
          <a:xfrm>
            <a:off x="9123426" y="4137660"/>
            <a:ext cx="2123694" cy="1335024"/>
          </a:xfrm>
          <a:prstGeom prst="rect">
            <a:avLst/>
          </a:prstGeom>
          <a:noFill/>
        </p:spPr>
        <p:txBody>
          <a:bodyPr wrap="square" anchor="t">
            <a:spAutoFit/>
          </a:bodyPr>
          <a:lstStyle/>
          <a:p>
            <a:pPr algn="ctr">
              <a:spcAft>
                <a:spcPts val="400"/>
              </a:spcAft>
            </a:pPr>
            <a:r>
              <a:rPr sz="1150" b="0">
                <a:solidFill>
                  <a:srgbClr val="5B6372"/>
                </a:solidFill>
                <a:latin typeface="Arial"/>
              </a:rPr>
              <a:t>Usually inertia, not genuine satisfaction.</a:t>
            </a:r>
          </a:p>
        </p:txBody>
      </p:sp>
      <p:sp>
        <p:nvSpPr>
          <p:cNvPr id="39" name="TextBox 38"/>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common-objection taxonomy, sales practice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the Objection-Handling Framework</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the Objection-Handling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Validation always comes before the answer. Skip it and even a correct answer leaves the buyer feeling unheard.</a:t>
            </a:r>
          </a:p>
        </p:txBody>
      </p:sp>
      <p:sp>
        <p:nvSpPr>
          <p:cNvPr id="8" name="Hexagon 7"/>
          <p:cNvSpPr/>
          <p:nvPr/>
        </p:nvSpPr>
        <p:spPr>
          <a:xfrm>
            <a:off x="1276731" y="2240280"/>
            <a:ext cx="1481328" cy="1333195"/>
          </a:xfrm>
          <a:prstGeom prst="hexagon">
            <a:avLst/>
          </a:prstGeom>
          <a:solidFill>
            <a:srgbClr val="1F6FE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276731"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A</a:t>
            </a:r>
          </a:p>
        </p:txBody>
      </p:sp>
      <p:sp>
        <p:nvSpPr>
          <p:cNvPr id="10" name="Rectangle 9"/>
          <p:cNvSpPr/>
          <p:nvPr/>
        </p:nvSpPr>
        <p:spPr>
          <a:xfrm>
            <a:off x="777240" y="3792931"/>
            <a:ext cx="2480310"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792931"/>
            <a:ext cx="2480310" cy="640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975811"/>
            <a:ext cx="2187702" cy="512064"/>
          </a:xfrm>
          <a:prstGeom prst="rect">
            <a:avLst/>
          </a:prstGeom>
          <a:noFill/>
        </p:spPr>
        <p:txBody>
          <a:bodyPr wrap="square" anchor="t">
            <a:spAutoFit/>
          </a:bodyPr>
          <a:lstStyle/>
          <a:p>
            <a:pPr algn="ctr">
              <a:spcAft>
                <a:spcPts val="400"/>
              </a:spcAft>
            </a:pPr>
            <a:r>
              <a:rPr sz="1350" b="1">
                <a:solidFill>
                  <a:srgbClr val="161B26"/>
                </a:solidFill>
                <a:latin typeface="Arial"/>
              </a:rPr>
              <a:t>Acknowledge</a:t>
            </a:r>
          </a:p>
        </p:txBody>
      </p:sp>
      <p:sp>
        <p:nvSpPr>
          <p:cNvPr id="13" name="TextBox 12"/>
          <p:cNvSpPr txBox="1"/>
          <p:nvPr/>
        </p:nvSpPr>
        <p:spPr>
          <a:xfrm>
            <a:off x="923544" y="4506163"/>
            <a:ext cx="2187702" cy="1236269"/>
          </a:xfrm>
          <a:prstGeom prst="rect">
            <a:avLst/>
          </a:prstGeom>
          <a:noFill/>
        </p:spPr>
        <p:txBody>
          <a:bodyPr wrap="square" anchor="t">
            <a:spAutoFit/>
          </a:bodyPr>
          <a:lstStyle/>
          <a:p>
            <a:pPr algn="ctr">
              <a:spcAft>
                <a:spcPts val="400"/>
              </a:spcAft>
            </a:pPr>
            <a:r>
              <a:rPr sz="1150" b="0">
                <a:solidFill>
                  <a:srgbClr val="5B6372"/>
                </a:solidFill>
                <a:latin typeface="Arial"/>
              </a:rPr>
              <a:t>Validate the feeling before touching the facts.</a:t>
            </a:r>
          </a:p>
        </p:txBody>
      </p:sp>
      <p:sp>
        <p:nvSpPr>
          <p:cNvPr id="14" name="Hexagon 13"/>
          <p:cNvSpPr/>
          <p:nvPr/>
        </p:nvSpPr>
        <p:spPr>
          <a:xfrm>
            <a:off x="3994785" y="2240280"/>
            <a:ext cx="1481328" cy="1333195"/>
          </a:xfrm>
          <a:prstGeom prst="hexagon">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994785"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C</a:t>
            </a:r>
          </a:p>
        </p:txBody>
      </p:sp>
      <p:sp>
        <p:nvSpPr>
          <p:cNvPr id="16" name="Rectangle 15"/>
          <p:cNvSpPr/>
          <p:nvPr/>
        </p:nvSpPr>
        <p:spPr>
          <a:xfrm>
            <a:off x="3495294" y="3792931"/>
            <a:ext cx="2480310"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95294" y="3792931"/>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1598" y="3975811"/>
            <a:ext cx="2187702" cy="512064"/>
          </a:xfrm>
          <a:prstGeom prst="rect">
            <a:avLst/>
          </a:prstGeom>
          <a:noFill/>
        </p:spPr>
        <p:txBody>
          <a:bodyPr wrap="square" anchor="t">
            <a:spAutoFit/>
          </a:bodyPr>
          <a:lstStyle/>
          <a:p>
            <a:pPr algn="ctr">
              <a:spcAft>
                <a:spcPts val="400"/>
              </a:spcAft>
            </a:pPr>
            <a:r>
              <a:rPr sz="1350" b="1">
                <a:solidFill>
                  <a:srgbClr val="161B26"/>
                </a:solidFill>
                <a:latin typeface="Arial"/>
              </a:rPr>
              <a:t>Clarify</a:t>
            </a:r>
          </a:p>
        </p:txBody>
      </p:sp>
      <p:sp>
        <p:nvSpPr>
          <p:cNvPr id="19" name="TextBox 18"/>
          <p:cNvSpPr txBox="1"/>
          <p:nvPr/>
        </p:nvSpPr>
        <p:spPr>
          <a:xfrm>
            <a:off x="3641598" y="4506163"/>
            <a:ext cx="2187702" cy="1236269"/>
          </a:xfrm>
          <a:prstGeom prst="rect">
            <a:avLst/>
          </a:prstGeom>
          <a:noFill/>
        </p:spPr>
        <p:txBody>
          <a:bodyPr wrap="square" anchor="t">
            <a:spAutoFit/>
          </a:bodyPr>
          <a:lstStyle/>
          <a:p>
            <a:pPr algn="ctr">
              <a:spcAft>
                <a:spcPts val="400"/>
              </a:spcAft>
            </a:pPr>
            <a:r>
              <a:rPr sz="1150" b="0">
                <a:solidFill>
                  <a:srgbClr val="5B6372"/>
                </a:solidFill>
                <a:latin typeface="Arial"/>
              </a:rPr>
              <a:t>Ask what specifically sits behind the concern.</a:t>
            </a:r>
          </a:p>
        </p:txBody>
      </p:sp>
      <p:sp>
        <p:nvSpPr>
          <p:cNvPr id="20" name="Hexagon 19"/>
          <p:cNvSpPr/>
          <p:nvPr/>
        </p:nvSpPr>
        <p:spPr>
          <a:xfrm>
            <a:off x="6712839" y="2240280"/>
            <a:ext cx="1481328" cy="1333195"/>
          </a:xfrm>
          <a:prstGeom prst="hexagon">
            <a:avLst/>
          </a:prstGeom>
          <a:solidFill>
            <a:srgbClr val="7C3AED"/>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12839"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A</a:t>
            </a:r>
          </a:p>
        </p:txBody>
      </p:sp>
      <p:sp>
        <p:nvSpPr>
          <p:cNvPr id="22" name="Rectangle 21"/>
          <p:cNvSpPr/>
          <p:nvPr/>
        </p:nvSpPr>
        <p:spPr>
          <a:xfrm>
            <a:off x="6213348" y="3792931"/>
            <a:ext cx="2480310"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3348" y="3792931"/>
            <a:ext cx="2480310"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9652" y="3975811"/>
            <a:ext cx="2187702" cy="512064"/>
          </a:xfrm>
          <a:prstGeom prst="rect">
            <a:avLst/>
          </a:prstGeom>
          <a:noFill/>
        </p:spPr>
        <p:txBody>
          <a:bodyPr wrap="square" anchor="t">
            <a:spAutoFit/>
          </a:bodyPr>
          <a:lstStyle/>
          <a:p>
            <a:pPr algn="ctr">
              <a:spcAft>
                <a:spcPts val="400"/>
              </a:spcAft>
            </a:pPr>
            <a:r>
              <a:rPr sz="1350" b="1">
                <a:solidFill>
                  <a:srgbClr val="161B26"/>
                </a:solidFill>
                <a:latin typeface="Arial"/>
              </a:rPr>
              <a:t>Address</a:t>
            </a:r>
          </a:p>
        </p:txBody>
      </p:sp>
      <p:sp>
        <p:nvSpPr>
          <p:cNvPr id="25" name="TextBox 24"/>
          <p:cNvSpPr txBox="1"/>
          <p:nvPr/>
        </p:nvSpPr>
        <p:spPr>
          <a:xfrm>
            <a:off x="6359652" y="4506163"/>
            <a:ext cx="2187702" cy="1236269"/>
          </a:xfrm>
          <a:prstGeom prst="rect">
            <a:avLst/>
          </a:prstGeom>
          <a:noFill/>
        </p:spPr>
        <p:txBody>
          <a:bodyPr wrap="square" anchor="t">
            <a:spAutoFit/>
          </a:bodyPr>
          <a:lstStyle/>
          <a:p>
            <a:pPr algn="ctr">
              <a:spcAft>
                <a:spcPts val="400"/>
              </a:spcAft>
            </a:pPr>
            <a:r>
              <a:rPr sz="1150" b="0">
                <a:solidFill>
                  <a:srgbClr val="5B6372"/>
                </a:solidFill>
                <a:latin typeface="Arial"/>
              </a:rPr>
              <a:t>Answer the real concern with evidence.</a:t>
            </a:r>
          </a:p>
        </p:txBody>
      </p:sp>
      <p:sp>
        <p:nvSpPr>
          <p:cNvPr id="26" name="Hexagon 25"/>
          <p:cNvSpPr/>
          <p:nvPr/>
        </p:nvSpPr>
        <p:spPr>
          <a:xfrm>
            <a:off x="9430893" y="2240280"/>
            <a:ext cx="1481328" cy="1333195"/>
          </a:xfrm>
          <a:prstGeom prst="hexagon">
            <a:avLst/>
          </a:prstGeom>
          <a:solidFill>
            <a:srgbClr val="F59E0B"/>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430893" y="2240280"/>
            <a:ext cx="1481328" cy="1333195"/>
          </a:xfrm>
          <a:prstGeom prst="rect">
            <a:avLst/>
          </a:prstGeom>
          <a:noFill/>
        </p:spPr>
        <p:txBody>
          <a:bodyPr wrap="square" anchor="ctr">
            <a:spAutoFit/>
          </a:bodyPr>
          <a:lstStyle/>
          <a:p>
            <a:pPr algn="ctr">
              <a:spcAft>
                <a:spcPts val="400"/>
              </a:spcAft>
            </a:pPr>
            <a:r>
              <a:rPr sz="2400" b="1">
                <a:solidFill>
                  <a:srgbClr val="FFFFFF"/>
                </a:solidFill>
                <a:latin typeface="Arial"/>
              </a:rPr>
              <a:t>C</a:t>
            </a:r>
          </a:p>
        </p:txBody>
      </p:sp>
      <p:sp>
        <p:nvSpPr>
          <p:cNvPr id="28" name="Rectangle 27"/>
          <p:cNvSpPr/>
          <p:nvPr/>
        </p:nvSpPr>
        <p:spPr>
          <a:xfrm>
            <a:off x="8931402" y="3792931"/>
            <a:ext cx="2480310" cy="2059229"/>
          </a:xfrm>
          <a:prstGeom prst="rect">
            <a:avLst/>
          </a:prstGeom>
          <a:solidFill>
            <a:srgbClr val="F5F8FC"/>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31402" y="3792931"/>
            <a:ext cx="2480310"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77706" y="3975811"/>
            <a:ext cx="2187702" cy="512064"/>
          </a:xfrm>
          <a:prstGeom prst="rect">
            <a:avLst/>
          </a:prstGeom>
          <a:noFill/>
        </p:spPr>
        <p:txBody>
          <a:bodyPr wrap="square" anchor="t">
            <a:spAutoFit/>
          </a:bodyPr>
          <a:lstStyle/>
          <a:p>
            <a:pPr algn="ctr">
              <a:spcAft>
                <a:spcPts val="400"/>
              </a:spcAft>
            </a:pPr>
            <a:r>
              <a:rPr sz="1350" b="1">
                <a:solidFill>
                  <a:srgbClr val="161B26"/>
                </a:solidFill>
                <a:latin typeface="Arial"/>
              </a:rPr>
              <a:t>Confirm</a:t>
            </a:r>
          </a:p>
        </p:txBody>
      </p:sp>
      <p:sp>
        <p:nvSpPr>
          <p:cNvPr id="31" name="TextBox 30"/>
          <p:cNvSpPr txBox="1"/>
          <p:nvPr/>
        </p:nvSpPr>
        <p:spPr>
          <a:xfrm>
            <a:off x="9077706" y="4506163"/>
            <a:ext cx="2187702" cy="1236269"/>
          </a:xfrm>
          <a:prstGeom prst="rect">
            <a:avLst/>
          </a:prstGeom>
          <a:noFill/>
        </p:spPr>
        <p:txBody>
          <a:bodyPr wrap="square" anchor="t">
            <a:spAutoFit/>
          </a:bodyPr>
          <a:lstStyle/>
          <a:p>
            <a:pPr algn="ctr">
              <a:spcAft>
                <a:spcPts val="400"/>
              </a:spcAft>
            </a:pPr>
            <a:r>
              <a:rPr sz="1150" b="0">
                <a:solidFill>
                  <a:srgbClr val="5B6372"/>
                </a:solidFill>
                <a:latin typeface="Arial"/>
              </a:rPr>
              <a:t>Check it actually landed before moving on.</a:t>
            </a:r>
          </a:p>
        </p:txBody>
      </p:sp>
      <p:sp>
        <p:nvSpPr>
          <p:cNvPr id="32" name="TextBox 31"/>
          <p:cNvSpPr txBox="1"/>
          <p:nvPr/>
        </p:nvSpPr>
        <p:spPr>
          <a:xfrm>
            <a:off x="777240" y="5989320"/>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objection-handling framework (alexberman.com; sales practice)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Answer &amp; Ask — Never Go Quiet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Answer Directly</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Resolve the stated concern without hedging.</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Then Ask</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Follow immediately with a re-engaging question.</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Listen Fully</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Their answer reveals the next real issue.</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Isolate</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"Outside of that, anything else holding this up?"</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Answering and then falling silent leaves the buyer alone with their doubt. The question is what keeps the conversation alive.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Answer &amp; Ask technique; isolation question (alexberman.com)</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Arguing vs Validating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ft Arrow 6"/>
          <p:cNvSpPr/>
          <p:nvPr/>
        </p:nvSpPr>
        <p:spPr>
          <a:xfrm>
            <a:off x="777240" y="2103120"/>
            <a:ext cx="5134356" cy="658368"/>
          </a:xfrm>
          <a:prstGeom prst="leftArrow">
            <a:avLst/>
          </a:prstGeom>
          <a:solidFill>
            <a:srgbClr val="C03939"/>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234440" y="2103120"/>
            <a:ext cx="4219956" cy="658368"/>
          </a:xfrm>
          <a:prstGeom prst="rect">
            <a:avLst/>
          </a:prstGeom>
          <a:noFill/>
        </p:spPr>
        <p:txBody>
          <a:bodyPr wrap="square" anchor="ctr">
            <a:spAutoFit/>
          </a:bodyPr>
          <a:lstStyle/>
          <a:p>
            <a:pPr algn="ctr">
              <a:spcAft>
                <a:spcPts val="400"/>
              </a:spcAft>
            </a:pPr>
            <a:r>
              <a:rPr sz="1500" b="1">
                <a:solidFill>
                  <a:srgbClr val="FFFFFF"/>
                </a:solidFill>
                <a:latin typeface="Arial"/>
              </a:rPr>
              <a:t>ARGUING WITH THE OBJECTION</a:t>
            </a:r>
          </a:p>
        </p:txBody>
      </p:sp>
      <p:sp>
        <p:nvSpPr>
          <p:cNvPr id="9" name="Rectangle 8"/>
          <p:cNvSpPr/>
          <p:nvPr/>
        </p:nvSpPr>
        <p:spPr>
          <a:xfrm>
            <a:off x="777240" y="297180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97180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 y="316992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ightning Bolt 11"/>
          <p:cNvSpPr/>
          <p:nvPr/>
        </p:nvSpPr>
        <p:spPr>
          <a:xfrm>
            <a:off x="1229868" y="3233928"/>
            <a:ext cx="228600" cy="32918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764792" y="2971800"/>
            <a:ext cx="3963924" cy="853440"/>
          </a:xfrm>
          <a:prstGeom prst="rect">
            <a:avLst/>
          </a:prstGeom>
          <a:noFill/>
        </p:spPr>
        <p:txBody>
          <a:bodyPr wrap="square" anchor="ctr">
            <a:spAutoFit/>
          </a:bodyPr>
          <a:lstStyle/>
          <a:p>
            <a:pPr algn="l">
              <a:spcAft>
                <a:spcPts val="200"/>
              </a:spcAft>
            </a:pPr>
            <a:r>
              <a:rPr sz="1150" b="1">
                <a:solidFill>
                  <a:srgbClr val="161B26"/>
                </a:solidFill>
                <a:latin typeface="Arial"/>
              </a:rPr>
              <a:t>"Actually, that's not right…"</a:t>
            </a:r>
          </a:p>
          <a:p>
            <a:pPr algn="l">
              <a:spcAft>
                <a:spcPts val="200"/>
              </a:spcAft>
            </a:pPr>
            <a:r>
              <a:rPr sz="1100" b="0">
                <a:solidFill>
                  <a:srgbClr val="5B6372"/>
                </a:solidFill>
                <a:latin typeface="Arial"/>
              </a:rPr>
              <a:t>Buyer digs in to defend their position.</a:t>
            </a:r>
          </a:p>
        </p:txBody>
      </p:sp>
      <p:sp>
        <p:nvSpPr>
          <p:cNvPr id="14" name="Rectangle 13"/>
          <p:cNvSpPr/>
          <p:nvPr/>
        </p:nvSpPr>
        <p:spPr>
          <a:xfrm>
            <a:off x="777240" y="400812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00812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15568" y="420624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2436" y="4462272"/>
            <a:ext cx="64008" cy="114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298448" y="4382262"/>
            <a:ext cx="64008" cy="19431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394460" y="4313682"/>
            <a:ext cx="64008" cy="2628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764792" y="400812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Buries Them in Data</a:t>
            </a:r>
          </a:p>
          <a:p>
            <a:pPr algn="l">
              <a:spcAft>
                <a:spcPts val="200"/>
              </a:spcAft>
            </a:pPr>
            <a:r>
              <a:rPr sz="1100" b="0">
                <a:solidFill>
                  <a:srgbClr val="5B6372"/>
                </a:solidFill>
                <a:latin typeface="Arial"/>
              </a:rPr>
              <a:t>More evidence, less trust.</a:t>
            </a:r>
          </a:p>
        </p:txBody>
      </p:sp>
      <p:sp>
        <p:nvSpPr>
          <p:cNvPr id="21" name="Rectangle 20"/>
          <p:cNvSpPr/>
          <p:nvPr/>
        </p:nvSpPr>
        <p:spPr>
          <a:xfrm>
            <a:off x="777240" y="504444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044440"/>
            <a:ext cx="73152" cy="85344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15568" y="5242560"/>
            <a:ext cx="457200" cy="457200"/>
          </a:xfrm>
          <a:prstGeom prst="ellipse">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nut 23"/>
          <p:cNvSpPr/>
          <p:nvPr/>
        </p:nvSpPr>
        <p:spPr>
          <a:xfrm>
            <a:off x="1179576" y="5306568"/>
            <a:ext cx="329184" cy="329184"/>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330452" y="5352288"/>
            <a:ext cx="27432"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330452" y="5457444"/>
            <a:ext cx="105156"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764792" y="504444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Rushes to Rebut</a:t>
            </a:r>
          </a:p>
          <a:p>
            <a:pPr algn="l">
              <a:spcAft>
                <a:spcPts val="200"/>
              </a:spcAft>
            </a:pPr>
            <a:r>
              <a:rPr sz="1100" b="0">
                <a:solidFill>
                  <a:srgbClr val="5B6372"/>
                </a:solidFill>
                <a:latin typeface="Arial"/>
              </a:rPr>
              <a:t>Answers before understanding the concern.</a:t>
            </a:r>
          </a:p>
        </p:txBody>
      </p:sp>
      <p:sp>
        <p:nvSpPr>
          <p:cNvPr id="28" name="Right Arrow 27"/>
          <p:cNvSpPr/>
          <p:nvPr/>
        </p:nvSpPr>
        <p:spPr>
          <a:xfrm>
            <a:off x="6277356" y="2103120"/>
            <a:ext cx="5134356" cy="658368"/>
          </a:xfrm>
          <a:prstGeom prst="rightArrow">
            <a:avLst/>
          </a:prstGeom>
          <a:solidFill>
            <a:srgbClr val="10B981"/>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34556" y="2103120"/>
            <a:ext cx="4219956" cy="658368"/>
          </a:xfrm>
          <a:prstGeom prst="rect">
            <a:avLst/>
          </a:prstGeom>
          <a:noFill/>
        </p:spPr>
        <p:txBody>
          <a:bodyPr wrap="square" anchor="ctr">
            <a:spAutoFit/>
          </a:bodyPr>
          <a:lstStyle/>
          <a:p>
            <a:pPr algn="ctr">
              <a:spcAft>
                <a:spcPts val="400"/>
              </a:spcAft>
            </a:pPr>
            <a:r>
              <a:rPr sz="1500" b="1">
                <a:solidFill>
                  <a:srgbClr val="FFFFFF"/>
                </a:solidFill>
                <a:latin typeface="Arial"/>
              </a:rPr>
              <a:t>VALIDATING, THEN SOLVING</a:t>
            </a:r>
          </a:p>
        </p:txBody>
      </p:sp>
      <p:sp>
        <p:nvSpPr>
          <p:cNvPr id="30" name="Rectangle 29"/>
          <p:cNvSpPr/>
          <p:nvPr/>
        </p:nvSpPr>
        <p:spPr>
          <a:xfrm>
            <a:off x="6277356" y="297180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77356" y="297180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615684" y="316992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eart 32"/>
          <p:cNvSpPr/>
          <p:nvPr/>
        </p:nvSpPr>
        <p:spPr>
          <a:xfrm>
            <a:off x="6693408" y="3256788"/>
            <a:ext cx="301752" cy="283464"/>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264908" y="2971800"/>
            <a:ext cx="3963924" cy="853440"/>
          </a:xfrm>
          <a:prstGeom prst="rect">
            <a:avLst/>
          </a:prstGeom>
          <a:noFill/>
        </p:spPr>
        <p:txBody>
          <a:bodyPr wrap="square" anchor="ctr">
            <a:spAutoFit/>
          </a:bodyPr>
          <a:lstStyle/>
          <a:p>
            <a:pPr algn="l">
              <a:spcAft>
                <a:spcPts val="200"/>
              </a:spcAft>
            </a:pPr>
            <a:r>
              <a:rPr sz="1150" b="1">
                <a:solidFill>
                  <a:srgbClr val="161B26"/>
                </a:solidFill>
                <a:latin typeface="Arial"/>
              </a:rPr>
              <a:t>"That's a fair concern."</a:t>
            </a:r>
          </a:p>
          <a:p>
            <a:pPr algn="l">
              <a:spcAft>
                <a:spcPts val="200"/>
              </a:spcAft>
            </a:pPr>
            <a:r>
              <a:rPr sz="1100" b="0">
                <a:solidFill>
                  <a:srgbClr val="5B6372"/>
                </a:solidFill>
                <a:latin typeface="Arial"/>
              </a:rPr>
              <a:t>Buyer relaxes and says more.</a:t>
            </a:r>
          </a:p>
        </p:txBody>
      </p:sp>
      <p:sp>
        <p:nvSpPr>
          <p:cNvPr id="35" name="Rectangle 34"/>
          <p:cNvSpPr/>
          <p:nvPr/>
        </p:nvSpPr>
        <p:spPr>
          <a:xfrm>
            <a:off x="6277356" y="400812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77356" y="400812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615684" y="42062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ular Callout 37"/>
          <p:cNvSpPr/>
          <p:nvPr/>
        </p:nvSpPr>
        <p:spPr>
          <a:xfrm>
            <a:off x="6693408" y="4302252"/>
            <a:ext cx="301752" cy="228600"/>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264908" y="400812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Asks What's Behind It</a:t>
            </a:r>
          </a:p>
          <a:p>
            <a:pPr algn="l">
              <a:spcAft>
                <a:spcPts val="200"/>
              </a:spcAft>
            </a:pPr>
            <a:r>
              <a:rPr sz="1100" b="0">
                <a:solidFill>
                  <a:srgbClr val="5B6372"/>
                </a:solidFill>
                <a:latin typeface="Arial"/>
              </a:rPr>
              <a:t>Finds the real issue under the stated one.</a:t>
            </a:r>
          </a:p>
        </p:txBody>
      </p:sp>
      <p:sp>
        <p:nvSpPr>
          <p:cNvPr id="40" name="Rectangle 39"/>
          <p:cNvSpPr/>
          <p:nvPr/>
        </p:nvSpPr>
        <p:spPr>
          <a:xfrm>
            <a:off x="6277356" y="5044440"/>
            <a:ext cx="5134356" cy="85344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77356" y="5044440"/>
            <a:ext cx="73152" cy="853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615684" y="524256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rot="2700000">
            <a:off x="6718554" y="5475732"/>
            <a:ext cx="114300" cy="365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rot="18900000">
            <a:off x="6780276" y="5448300"/>
            <a:ext cx="210312" cy="365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264908" y="5044440"/>
            <a:ext cx="3963924" cy="853440"/>
          </a:xfrm>
          <a:prstGeom prst="rect">
            <a:avLst/>
          </a:prstGeom>
          <a:noFill/>
        </p:spPr>
        <p:txBody>
          <a:bodyPr wrap="square" anchor="ctr">
            <a:spAutoFit/>
          </a:bodyPr>
          <a:lstStyle/>
          <a:p>
            <a:pPr algn="l">
              <a:spcAft>
                <a:spcPts val="200"/>
              </a:spcAft>
            </a:pPr>
            <a:r>
              <a:rPr sz="1300" b="1">
                <a:solidFill>
                  <a:srgbClr val="161B26"/>
                </a:solidFill>
                <a:latin typeface="Arial"/>
              </a:rPr>
              <a:t>Answers, Then Checks</a:t>
            </a:r>
          </a:p>
          <a:p>
            <a:pPr algn="l">
              <a:spcAft>
                <a:spcPts val="200"/>
              </a:spcAft>
            </a:pPr>
            <a:r>
              <a:rPr sz="1100" b="0">
                <a:solidFill>
                  <a:srgbClr val="5B6372"/>
                </a:solidFill>
                <a:latin typeface="Arial"/>
              </a:rPr>
              <a:t>Confirms it landed before moving on.</a:t>
            </a:r>
          </a:p>
        </p:txBody>
      </p:sp>
      <p:sp>
        <p:nvSpPr>
          <p:cNvPr id="46" name="TextBox 4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empathy-driven objection handling</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Feel · Felt · Found — Still Works After 50 Years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simple three-beat structure for turning a concern into social proof.</a:t>
            </a:r>
          </a:p>
        </p:txBody>
      </p:sp>
      <p:sp>
        <p:nvSpPr>
          <p:cNvPr id="8" name="Rectangle 7"/>
          <p:cNvSpPr/>
          <p:nvPr/>
        </p:nvSpPr>
        <p:spPr>
          <a:xfrm>
            <a:off x="777240" y="2336292"/>
            <a:ext cx="3361944" cy="341985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336292"/>
            <a:ext cx="3361944"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74748" y="2473452"/>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eart 10"/>
          <p:cNvSpPr/>
          <p:nvPr/>
        </p:nvSpPr>
        <p:spPr>
          <a:xfrm>
            <a:off x="2271125" y="2581168"/>
            <a:ext cx="374172" cy="351495"/>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360420"/>
            <a:ext cx="3032760" cy="566928"/>
          </a:xfrm>
          <a:prstGeom prst="rect">
            <a:avLst/>
          </a:prstGeom>
          <a:noFill/>
        </p:spPr>
        <p:txBody>
          <a:bodyPr wrap="square" anchor="t">
            <a:spAutoFit/>
          </a:bodyPr>
          <a:lstStyle/>
          <a:p>
            <a:pPr algn="ctr">
              <a:spcAft>
                <a:spcPts val="400"/>
              </a:spcAft>
            </a:pPr>
            <a:r>
              <a:rPr sz="1550" b="1">
                <a:solidFill>
                  <a:srgbClr val="161B26"/>
                </a:solidFill>
                <a:latin typeface="Arial"/>
              </a:rPr>
              <a:t>Feel</a:t>
            </a:r>
          </a:p>
        </p:txBody>
      </p:sp>
      <p:sp>
        <p:nvSpPr>
          <p:cNvPr id="13" name="TextBox 12"/>
          <p:cNvSpPr txBox="1"/>
          <p:nvPr/>
        </p:nvSpPr>
        <p:spPr>
          <a:xfrm>
            <a:off x="941832" y="3963924"/>
            <a:ext cx="3032760" cy="1682496"/>
          </a:xfrm>
          <a:prstGeom prst="rect">
            <a:avLst/>
          </a:prstGeom>
          <a:noFill/>
        </p:spPr>
        <p:txBody>
          <a:bodyPr wrap="square" anchor="t">
            <a:spAutoFit/>
          </a:bodyPr>
          <a:lstStyle/>
          <a:p>
            <a:pPr algn="ctr">
              <a:spcAft>
                <a:spcPts val="400"/>
              </a:spcAft>
            </a:pPr>
            <a:r>
              <a:rPr sz="1000" b="0">
                <a:solidFill>
                  <a:srgbClr val="5B6372"/>
                </a:solidFill>
                <a:latin typeface="Arial"/>
              </a:rPr>
              <a:t>"I understand how you feel about the switching risk."</a:t>
            </a:r>
          </a:p>
        </p:txBody>
      </p:sp>
      <p:sp>
        <p:nvSpPr>
          <p:cNvPr id="14" name="Rectangle 13"/>
          <p:cNvSpPr/>
          <p:nvPr/>
        </p:nvSpPr>
        <p:spPr>
          <a:xfrm>
            <a:off x="4413504" y="2336292"/>
            <a:ext cx="3361944" cy="341985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13504" y="2336292"/>
            <a:ext cx="3361944"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73452"/>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96051" y="2581168"/>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136995" y="2581168"/>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873374" y="2762585"/>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117153" y="2762585"/>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78096" y="3360420"/>
            <a:ext cx="3032760" cy="566928"/>
          </a:xfrm>
          <a:prstGeom prst="rect">
            <a:avLst/>
          </a:prstGeom>
          <a:noFill/>
        </p:spPr>
        <p:txBody>
          <a:bodyPr wrap="square" anchor="t">
            <a:spAutoFit/>
          </a:bodyPr>
          <a:lstStyle/>
          <a:p>
            <a:pPr algn="ctr">
              <a:spcAft>
                <a:spcPts val="400"/>
              </a:spcAft>
            </a:pPr>
            <a:r>
              <a:rPr sz="1550" b="1">
                <a:solidFill>
                  <a:srgbClr val="161B26"/>
                </a:solidFill>
                <a:latin typeface="Arial"/>
              </a:rPr>
              <a:t>Felt</a:t>
            </a:r>
          </a:p>
        </p:txBody>
      </p:sp>
      <p:sp>
        <p:nvSpPr>
          <p:cNvPr id="22" name="TextBox 21"/>
          <p:cNvSpPr txBox="1"/>
          <p:nvPr/>
        </p:nvSpPr>
        <p:spPr>
          <a:xfrm>
            <a:off x="4578096" y="3963924"/>
            <a:ext cx="3032760" cy="1682496"/>
          </a:xfrm>
          <a:prstGeom prst="rect">
            <a:avLst/>
          </a:prstGeom>
          <a:noFill/>
        </p:spPr>
        <p:txBody>
          <a:bodyPr wrap="square" anchor="t">
            <a:spAutoFit/>
          </a:bodyPr>
          <a:lstStyle/>
          <a:p>
            <a:pPr algn="ctr">
              <a:spcAft>
                <a:spcPts val="400"/>
              </a:spcAft>
            </a:pPr>
            <a:r>
              <a:rPr sz="1150" b="0">
                <a:solidFill>
                  <a:srgbClr val="5B6372"/>
                </a:solidFill>
                <a:latin typeface="Arial"/>
              </a:rPr>
              <a:t>"Sunrise Builders felt exactly the same way."</a:t>
            </a:r>
          </a:p>
        </p:txBody>
      </p:sp>
      <p:sp>
        <p:nvSpPr>
          <p:cNvPr id="23" name="Rectangle 22"/>
          <p:cNvSpPr/>
          <p:nvPr/>
        </p:nvSpPr>
        <p:spPr>
          <a:xfrm>
            <a:off x="8049768" y="2336292"/>
            <a:ext cx="3361944" cy="341985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49768" y="2336292"/>
            <a:ext cx="3361944"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47276" y="2473452"/>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5-Point Star 25"/>
          <p:cNvSpPr/>
          <p:nvPr/>
        </p:nvSpPr>
        <p:spPr>
          <a:xfrm>
            <a:off x="9526645" y="2552821"/>
            <a:ext cx="408188" cy="408188"/>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14360" y="3360420"/>
            <a:ext cx="3032760" cy="566928"/>
          </a:xfrm>
          <a:prstGeom prst="rect">
            <a:avLst/>
          </a:prstGeom>
          <a:noFill/>
        </p:spPr>
        <p:txBody>
          <a:bodyPr wrap="square" anchor="t">
            <a:spAutoFit/>
          </a:bodyPr>
          <a:lstStyle/>
          <a:p>
            <a:pPr algn="ctr">
              <a:spcAft>
                <a:spcPts val="400"/>
              </a:spcAft>
            </a:pPr>
            <a:r>
              <a:rPr sz="1550" b="1">
                <a:solidFill>
                  <a:srgbClr val="161B26"/>
                </a:solidFill>
                <a:latin typeface="Arial"/>
              </a:rPr>
              <a:t>Found</a:t>
            </a:r>
          </a:p>
        </p:txBody>
      </p:sp>
      <p:sp>
        <p:nvSpPr>
          <p:cNvPr id="28" name="TextBox 27"/>
          <p:cNvSpPr txBox="1"/>
          <p:nvPr/>
        </p:nvSpPr>
        <p:spPr>
          <a:xfrm>
            <a:off x="8214360" y="3963924"/>
            <a:ext cx="3032760" cy="1682496"/>
          </a:xfrm>
          <a:prstGeom prst="rect">
            <a:avLst/>
          </a:prstGeom>
          <a:noFill/>
        </p:spPr>
        <p:txBody>
          <a:bodyPr wrap="square" anchor="t">
            <a:spAutoFit/>
          </a:bodyPr>
          <a:lstStyle/>
          <a:p>
            <a:pPr algn="ctr">
              <a:spcAft>
                <a:spcPts val="400"/>
              </a:spcAft>
            </a:pPr>
            <a:r>
              <a:rPr sz="1000" b="0">
                <a:solidFill>
                  <a:srgbClr val="5B6372"/>
                </a:solidFill>
                <a:latin typeface="Arial"/>
              </a:rPr>
              <a:t>"What they found was the pilot took nine days, not six weeks."</a:t>
            </a:r>
          </a:p>
        </p:txBody>
      </p:sp>
      <p:sp>
        <p:nvSpPr>
          <p:cNvPr id="29" name="TextBox 28"/>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Feel-Felt-Found technique, in sales use since the 1970s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Composure Under Pressure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Composure Under Pressure?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buyer's frustration is rarely about you. Your job is to stay the calmest person in the conversation.</a:t>
            </a:r>
          </a:p>
        </p:txBody>
      </p:sp>
      <p:sp>
        <p:nvSpPr>
          <p:cNvPr id="8" name="Rectangle 7"/>
          <p:cNvSpPr/>
          <p:nvPr/>
        </p:nvSpPr>
        <p:spPr>
          <a:xfrm>
            <a:off x="777240"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18588"/>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55748"/>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entagon 10"/>
          <p:cNvSpPr/>
          <p:nvPr/>
        </p:nvSpPr>
        <p:spPr>
          <a:xfrm rot="5400000">
            <a:off x="1839269" y="2674802"/>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442716"/>
            <a:ext cx="2123694" cy="566928"/>
          </a:xfrm>
          <a:prstGeom prst="rect">
            <a:avLst/>
          </a:prstGeom>
          <a:noFill/>
        </p:spPr>
        <p:txBody>
          <a:bodyPr wrap="square" anchor="t">
            <a:spAutoFit/>
          </a:bodyPr>
          <a:lstStyle/>
          <a:p>
            <a:pPr algn="ctr">
              <a:spcAft>
                <a:spcPts val="400"/>
              </a:spcAft>
            </a:pPr>
            <a:r>
              <a:rPr sz="1400" b="1">
                <a:solidFill>
                  <a:srgbClr val="161B26"/>
                </a:solidFill>
                <a:latin typeface="Arial"/>
              </a:rPr>
              <a:t>Separate Self From Deal</a:t>
            </a:r>
          </a:p>
        </p:txBody>
      </p:sp>
      <p:sp>
        <p:nvSpPr>
          <p:cNvPr id="13" name="TextBox 12"/>
          <p:cNvSpPr txBox="1"/>
          <p:nvPr/>
        </p:nvSpPr>
        <p:spPr>
          <a:xfrm>
            <a:off x="941832" y="4046220"/>
            <a:ext cx="2123694" cy="1517904"/>
          </a:xfrm>
          <a:prstGeom prst="rect">
            <a:avLst/>
          </a:prstGeom>
          <a:noFill/>
        </p:spPr>
        <p:txBody>
          <a:bodyPr wrap="square" anchor="t">
            <a:spAutoFit/>
          </a:bodyPr>
          <a:lstStyle/>
          <a:p>
            <a:pPr algn="ctr">
              <a:spcAft>
                <a:spcPts val="400"/>
              </a:spcAft>
            </a:pPr>
            <a:r>
              <a:rPr sz="1150" b="0">
                <a:solidFill>
                  <a:srgbClr val="5B6372"/>
                </a:solidFill>
                <a:latin typeface="Arial"/>
              </a:rPr>
              <a:t>Their no is about fit, not about your worth.</a:t>
            </a:r>
          </a:p>
        </p:txBody>
      </p:sp>
      <p:sp>
        <p:nvSpPr>
          <p:cNvPr id="14" name="Rectangle 13"/>
          <p:cNvSpPr/>
          <p:nvPr/>
        </p:nvSpPr>
        <p:spPr>
          <a:xfrm>
            <a:off x="3504438"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418588"/>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47413" y="2555748"/>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nut 16"/>
          <p:cNvSpPr/>
          <p:nvPr/>
        </p:nvSpPr>
        <p:spPr>
          <a:xfrm>
            <a:off x="4526782" y="2635117"/>
            <a:ext cx="408188" cy="408188"/>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713869" y="2691810"/>
            <a:ext cx="34015" cy="1587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713869" y="2822204"/>
            <a:ext cx="130393" cy="34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69030"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Buy Six Seconds</a:t>
            </a:r>
          </a:p>
        </p:txBody>
      </p:sp>
      <p:sp>
        <p:nvSpPr>
          <p:cNvPr id="21" name="TextBox 20"/>
          <p:cNvSpPr txBox="1"/>
          <p:nvPr/>
        </p:nvSpPr>
        <p:spPr>
          <a:xfrm>
            <a:off x="3669030"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A breath before responding prevents most regrets.</a:t>
            </a:r>
          </a:p>
        </p:txBody>
      </p:sp>
      <p:sp>
        <p:nvSpPr>
          <p:cNvPr id="22" name="Rectangle 21"/>
          <p:cNvSpPr/>
          <p:nvPr/>
        </p:nvSpPr>
        <p:spPr>
          <a:xfrm>
            <a:off x="6231636"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31636" y="2418588"/>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74611" y="2555748"/>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nut 24"/>
          <p:cNvSpPr/>
          <p:nvPr/>
        </p:nvSpPr>
        <p:spPr>
          <a:xfrm>
            <a:off x="7282327" y="2652125"/>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rot="2700000">
            <a:off x="7503429" y="2895904"/>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96228"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Name It Internally</a:t>
            </a:r>
          </a:p>
        </p:txBody>
      </p:sp>
      <p:sp>
        <p:nvSpPr>
          <p:cNvPr id="28" name="TextBox 27"/>
          <p:cNvSpPr txBox="1"/>
          <p:nvPr/>
        </p:nvSpPr>
        <p:spPr>
          <a:xfrm>
            <a:off x="6396228"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Labelling your own reaction reduces its intensity.</a:t>
            </a:r>
          </a:p>
        </p:txBody>
      </p:sp>
      <p:sp>
        <p:nvSpPr>
          <p:cNvPr id="29" name="Rectangle 28"/>
          <p:cNvSpPr/>
          <p:nvPr/>
        </p:nvSpPr>
        <p:spPr>
          <a:xfrm>
            <a:off x="8958834" y="2418588"/>
            <a:ext cx="2452878" cy="3255264"/>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958834" y="2418588"/>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901809" y="2555748"/>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ircular Arrow 31"/>
          <p:cNvSpPr/>
          <p:nvPr/>
        </p:nvSpPr>
        <p:spPr>
          <a:xfrm>
            <a:off x="9930155" y="2584094"/>
            <a:ext cx="510235" cy="510235"/>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23426" y="3442716"/>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Reframe the Goal</a:t>
            </a:r>
          </a:p>
        </p:txBody>
      </p:sp>
      <p:sp>
        <p:nvSpPr>
          <p:cNvPr id="34" name="TextBox 33"/>
          <p:cNvSpPr txBox="1"/>
          <p:nvPr/>
        </p:nvSpPr>
        <p:spPr>
          <a:xfrm>
            <a:off x="9123426" y="4046220"/>
            <a:ext cx="2123694" cy="1517904"/>
          </a:xfrm>
          <a:prstGeom prst="rect">
            <a:avLst/>
          </a:prstGeom>
          <a:noFill/>
        </p:spPr>
        <p:txBody>
          <a:bodyPr wrap="square" anchor="t">
            <a:spAutoFit/>
          </a:bodyPr>
          <a:lstStyle/>
          <a:p>
            <a:pPr algn="ctr">
              <a:spcAft>
                <a:spcPts val="400"/>
              </a:spcAft>
            </a:pPr>
            <a:r>
              <a:rPr sz="1000" b="0">
                <a:solidFill>
                  <a:srgbClr val="5B6372"/>
                </a:solidFill>
                <a:latin typeface="Arial"/>
              </a:rPr>
              <a:t>Switch from winning the point to learning the reason.</a:t>
            </a:r>
          </a:p>
        </p:txBody>
      </p:sp>
      <p:sp>
        <p:nvSpPr>
          <p:cNvPr id="35" name="TextBox 34"/>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emotional-regulation practice in sales negotiation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Five-Step Micro-Routine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Pause</a:t>
            </a:r>
          </a:p>
        </p:txBody>
      </p:sp>
      <p:sp>
        <p:nvSpPr>
          <p:cNvPr id="12" name="TextBox 11"/>
          <p:cNvSpPr txBox="1"/>
          <p:nvPr/>
        </p:nvSpPr>
        <p:spPr>
          <a:xfrm>
            <a:off x="905256"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Six seconds. Breathe in for 3, out for 4.</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8353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87014"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Label</a:t>
            </a:r>
          </a:p>
        </p:txBody>
      </p:sp>
      <p:sp>
        <p:nvSpPr>
          <p:cNvPr id="19" name="TextBox 18"/>
          <p:cNvSpPr txBox="1"/>
          <p:nvPr/>
        </p:nvSpPr>
        <p:spPr>
          <a:xfrm>
            <a:off x="3087014"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Name your own feeling silently.</a:t>
            </a:r>
          </a:p>
        </p:txBody>
      </p:sp>
      <p:sp>
        <p:nvSpPr>
          <p:cNvPr id="20" name="TextBox 19"/>
          <p:cNvSpPr txBox="1"/>
          <p:nvPr/>
        </p:nvSpPr>
        <p:spPr>
          <a:xfrm>
            <a:off x="484814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652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68772"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Reframe</a:t>
            </a:r>
          </a:p>
        </p:txBody>
      </p:sp>
      <p:sp>
        <p:nvSpPr>
          <p:cNvPr id="26" name="TextBox 25"/>
          <p:cNvSpPr txBox="1"/>
          <p:nvPr/>
        </p:nvSpPr>
        <p:spPr>
          <a:xfrm>
            <a:off x="5268772"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From 'win this' to 'understand this'.</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704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50530"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Respond</a:t>
            </a:r>
          </a:p>
        </p:txBody>
      </p:sp>
      <p:sp>
        <p:nvSpPr>
          <p:cNvPr id="33" name="TextBox 32"/>
          <p:cNvSpPr txBox="1"/>
          <p:nvPr/>
        </p:nvSpPr>
        <p:spPr>
          <a:xfrm>
            <a:off x="7450530"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Neutral, fact-checking language only.</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28807"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32288"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Reassess</a:t>
            </a:r>
          </a:p>
        </p:txBody>
      </p:sp>
      <p:sp>
        <p:nvSpPr>
          <p:cNvPr id="40" name="TextBox 39"/>
          <p:cNvSpPr txBox="1"/>
          <p:nvPr/>
        </p:nvSpPr>
        <p:spPr>
          <a:xfrm>
            <a:off x="9632288"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Read their reaction; adjust before continuing.</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Practise this on three live calls this week. It is the single most transferable skill in the entire course.</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
        <p:nvSpPr>
          <p:cNvPr id="47" name="TextBox 46"/>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five-step emotion-regulation micro-routine, EI negotiation practice</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Reading the Buyer's Emotional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What You Observe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What To Do About It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Short, clipped responses.</a:t>
            </a:r>
          </a:p>
          <a:p>
            <a:pPr>
              <a:spcAft>
                <a:spcPts val="1000"/>
              </a:spcAft>
            </a:pPr>
            <a:r>
              <a:rPr sz="1600" b="0">
                <a:solidFill>
                  <a:srgbClr val="161B26"/>
                </a:solidFill>
                <a:latin typeface="Arial"/>
              </a:rPr>
              <a:t>•  An unusually long silence.</a:t>
            </a:r>
          </a:p>
          <a:p>
            <a:pPr>
              <a:spcAft>
                <a:spcPts val="1000"/>
              </a:spcAft>
            </a:pPr>
            <a:r>
              <a:rPr sz="1600" b="0">
                <a:solidFill>
                  <a:srgbClr val="161B26"/>
                </a:solidFill>
                <a:latin typeface="Arial"/>
              </a:rPr>
              <a:t>•  Repeated questions about price.</a:t>
            </a:r>
          </a:p>
          <a:p>
            <a:pPr>
              <a:spcAft>
                <a:spcPts val="1000"/>
              </a:spcAft>
            </a:pPr>
            <a:r>
              <a:rPr sz="1600" b="0">
                <a:solidFill>
                  <a:srgbClr val="161B26"/>
                </a:solidFill>
                <a:latin typeface="Arial"/>
              </a:rPr>
              <a:t>•  Voice rising, pace quickening.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Acknowledge the time pressure; offer to be brief.</a:t>
            </a:r>
          </a:p>
          <a:p>
            <a:pPr>
              <a:spcAft>
                <a:spcPts val="1000"/>
              </a:spcAft>
            </a:pPr>
            <a:r>
              <a:rPr sz="1600" b="0">
                <a:solidFill>
                  <a:srgbClr val="161B26"/>
                </a:solidFill>
                <a:latin typeface="Arial"/>
              </a:rPr>
              <a:t>•  Let it sit, then ask an open clarifying question.</a:t>
            </a:r>
          </a:p>
          <a:p>
            <a:pPr>
              <a:spcAft>
                <a:spcPts val="1000"/>
              </a:spcAft>
            </a:pPr>
            <a:r>
              <a:rPr sz="1600" b="0">
                <a:solidFill>
                  <a:srgbClr val="161B26"/>
                </a:solidFill>
                <a:latin typeface="Arial"/>
              </a:rPr>
              <a:t>•  Reframe the benefit in their own metrics.</a:t>
            </a:r>
          </a:p>
          <a:p>
            <a:pPr>
              <a:spcAft>
                <a:spcPts val="1000"/>
              </a:spcAft>
            </a:pPr>
            <a:r>
              <a:rPr sz="1600" b="0">
                <a:solidFill>
                  <a:srgbClr val="161B26"/>
                </a:solidFill>
                <a:latin typeface="Arial"/>
              </a:rPr>
              <a:t>•  Slow your own pace; simplify; offer concrete choices.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buyer-signal / response mapping, EI negotiation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Empathy Map — Tom, Mid-Objection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homeowner from today's role play, at the exact moment he says the system is too expensive.</a:t>
            </a:r>
          </a:p>
        </p:txBody>
      </p:sp>
      <p:sp>
        <p:nvSpPr>
          <p:cNvPr id="8" name="Rectangle 7"/>
          <p:cNvSpPr/>
          <p:nvPr/>
        </p:nvSpPr>
        <p:spPr>
          <a:xfrm>
            <a:off x="777240" y="2103120"/>
            <a:ext cx="5189220" cy="177850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03120"/>
            <a:ext cx="518922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4128" y="235000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ular Callout 10"/>
          <p:cNvSpPr/>
          <p:nvPr/>
        </p:nvSpPr>
        <p:spPr>
          <a:xfrm>
            <a:off x="1101852" y="2446020"/>
            <a:ext cx="301752" cy="228600"/>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618488" y="2359152"/>
            <a:ext cx="4183380" cy="402336"/>
          </a:xfrm>
          <a:prstGeom prst="rect">
            <a:avLst/>
          </a:prstGeom>
          <a:noFill/>
        </p:spPr>
        <p:txBody>
          <a:bodyPr wrap="square" anchor="t">
            <a:spAutoFit/>
          </a:bodyPr>
          <a:lstStyle/>
          <a:p>
            <a:pPr algn="l">
              <a:spcAft>
                <a:spcPts val="400"/>
              </a:spcAft>
            </a:pPr>
            <a:r>
              <a:rPr sz="1300" b="1">
                <a:solidFill>
                  <a:srgbClr val="1F6FEB"/>
                </a:solidFill>
                <a:latin typeface="Arial"/>
              </a:rPr>
              <a:t>SAYS</a:t>
            </a:r>
          </a:p>
        </p:txBody>
      </p:sp>
      <p:sp>
        <p:nvSpPr>
          <p:cNvPr id="13" name="TextBox 12"/>
          <p:cNvSpPr txBox="1"/>
          <p:nvPr/>
        </p:nvSpPr>
        <p:spPr>
          <a:xfrm>
            <a:off x="1088136" y="2889504"/>
            <a:ext cx="4622292" cy="864108"/>
          </a:xfrm>
          <a:prstGeom prst="rect">
            <a:avLst/>
          </a:prstGeom>
          <a:noFill/>
        </p:spPr>
        <p:txBody>
          <a:bodyPr wrap="square">
            <a:spAutoFit/>
          </a:bodyPr>
          <a:lstStyle/>
          <a:p>
            <a:pPr>
              <a:spcAft>
                <a:spcPts val="600"/>
              </a:spcAft>
            </a:pPr>
            <a:r>
              <a:rPr sz="1200" b="0">
                <a:solidFill>
                  <a:srgbClr val="161B26"/>
                </a:solidFill>
                <a:latin typeface="Arial"/>
              </a:rPr>
              <a:t>•  "That's more than I wanted to spend."</a:t>
            </a:r>
          </a:p>
          <a:p>
            <a:pPr>
              <a:spcAft>
                <a:spcPts val="600"/>
              </a:spcAft>
            </a:pPr>
            <a:r>
              <a:rPr sz="1200" b="0">
                <a:solidFill>
                  <a:srgbClr val="161B26"/>
                </a:solidFill>
                <a:latin typeface="Arial"/>
              </a:rPr>
              <a:t>•  "I'll need to think about it."</a:t>
            </a:r>
          </a:p>
        </p:txBody>
      </p:sp>
      <p:sp>
        <p:nvSpPr>
          <p:cNvPr id="14" name="Rectangle 13"/>
          <p:cNvSpPr/>
          <p:nvPr/>
        </p:nvSpPr>
        <p:spPr>
          <a:xfrm>
            <a:off x="6222492" y="2103120"/>
            <a:ext cx="5189220" cy="177850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22492" y="2103120"/>
            <a:ext cx="518922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69380" y="235000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92824" y="2418588"/>
            <a:ext cx="210312" cy="2103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647688" y="2638044"/>
            <a:ext cx="100584" cy="685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063740" y="2359152"/>
            <a:ext cx="4183380" cy="402336"/>
          </a:xfrm>
          <a:prstGeom prst="rect">
            <a:avLst/>
          </a:prstGeom>
          <a:noFill/>
        </p:spPr>
        <p:txBody>
          <a:bodyPr wrap="square" anchor="t">
            <a:spAutoFit/>
          </a:bodyPr>
          <a:lstStyle/>
          <a:p>
            <a:pPr algn="l">
              <a:spcAft>
                <a:spcPts val="400"/>
              </a:spcAft>
            </a:pPr>
            <a:r>
              <a:rPr sz="1300" b="1">
                <a:solidFill>
                  <a:srgbClr val="7C3AED"/>
                </a:solidFill>
                <a:latin typeface="Arial"/>
              </a:rPr>
              <a:t>THINKS</a:t>
            </a:r>
          </a:p>
        </p:txBody>
      </p:sp>
      <p:sp>
        <p:nvSpPr>
          <p:cNvPr id="20" name="TextBox 19"/>
          <p:cNvSpPr txBox="1"/>
          <p:nvPr/>
        </p:nvSpPr>
        <p:spPr>
          <a:xfrm>
            <a:off x="6533388" y="2889504"/>
            <a:ext cx="4622292" cy="864108"/>
          </a:xfrm>
          <a:prstGeom prst="rect">
            <a:avLst/>
          </a:prstGeom>
          <a:noFill/>
        </p:spPr>
        <p:txBody>
          <a:bodyPr wrap="square">
            <a:spAutoFit/>
          </a:bodyPr>
          <a:lstStyle/>
          <a:p>
            <a:pPr>
              <a:spcAft>
                <a:spcPts val="600"/>
              </a:spcAft>
            </a:pPr>
            <a:r>
              <a:rPr sz="1200" b="0">
                <a:solidFill>
                  <a:srgbClr val="161B26"/>
                </a:solidFill>
                <a:latin typeface="Arial"/>
              </a:rPr>
              <a:t>•  "Am I being talked into something?"</a:t>
            </a:r>
          </a:p>
          <a:p>
            <a:pPr>
              <a:spcAft>
                <a:spcPts val="600"/>
              </a:spcAft>
            </a:pPr>
            <a:r>
              <a:rPr sz="1200" b="0">
                <a:solidFill>
                  <a:srgbClr val="161B26"/>
                </a:solidFill>
                <a:latin typeface="Arial"/>
              </a:rPr>
              <a:t>•  "What happens if it doesn't work?"</a:t>
            </a:r>
          </a:p>
        </p:txBody>
      </p:sp>
      <p:sp>
        <p:nvSpPr>
          <p:cNvPr id="21" name="Rectangle 20"/>
          <p:cNvSpPr/>
          <p:nvPr/>
        </p:nvSpPr>
        <p:spPr>
          <a:xfrm>
            <a:off x="777240" y="4119372"/>
            <a:ext cx="5189220" cy="177850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119372"/>
            <a:ext cx="518922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36626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ear 6 23"/>
          <p:cNvSpPr/>
          <p:nvPr/>
        </p:nvSpPr>
        <p:spPr>
          <a:xfrm>
            <a:off x="1101852" y="4443984"/>
            <a:ext cx="301752" cy="301752"/>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618488" y="4375404"/>
            <a:ext cx="4183380" cy="402336"/>
          </a:xfrm>
          <a:prstGeom prst="rect">
            <a:avLst/>
          </a:prstGeom>
          <a:noFill/>
        </p:spPr>
        <p:txBody>
          <a:bodyPr wrap="square" anchor="t">
            <a:spAutoFit/>
          </a:bodyPr>
          <a:lstStyle/>
          <a:p>
            <a:pPr algn="l">
              <a:spcAft>
                <a:spcPts val="400"/>
              </a:spcAft>
            </a:pPr>
            <a:r>
              <a:rPr sz="1300" b="1">
                <a:solidFill>
                  <a:srgbClr val="10B981"/>
                </a:solidFill>
                <a:latin typeface="Arial"/>
              </a:rPr>
              <a:t>DOES</a:t>
            </a:r>
          </a:p>
        </p:txBody>
      </p:sp>
      <p:sp>
        <p:nvSpPr>
          <p:cNvPr id="26" name="TextBox 25"/>
          <p:cNvSpPr txBox="1"/>
          <p:nvPr/>
        </p:nvSpPr>
        <p:spPr>
          <a:xfrm>
            <a:off x="1088136" y="4905756"/>
            <a:ext cx="4622292" cy="864108"/>
          </a:xfrm>
          <a:prstGeom prst="rect">
            <a:avLst/>
          </a:prstGeom>
          <a:noFill/>
        </p:spPr>
        <p:txBody>
          <a:bodyPr wrap="square">
            <a:spAutoFit/>
          </a:bodyPr>
          <a:lstStyle/>
          <a:p>
            <a:pPr>
              <a:spcAft>
                <a:spcPts val="600"/>
              </a:spcAft>
            </a:pPr>
            <a:r>
              <a:rPr sz="1200" b="0">
                <a:solidFill>
                  <a:srgbClr val="161B26"/>
                </a:solidFill>
                <a:latin typeface="Arial"/>
              </a:rPr>
              <a:t>•  Folds arms; stops asking questions.</a:t>
            </a:r>
          </a:p>
          <a:p>
            <a:pPr>
              <a:spcAft>
                <a:spcPts val="600"/>
              </a:spcAft>
            </a:pPr>
            <a:r>
              <a:rPr sz="1200" b="0">
                <a:solidFill>
                  <a:srgbClr val="161B26"/>
                </a:solidFill>
                <a:latin typeface="Arial"/>
              </a:rPr>
              <a:t>•  Reaches for the brochure to end the meeting.</a:t>
            </a:r>
          </a:p>
        </p:txBody>
      </p:sp>
      <p:sp>
        <p:nvSpPr>
          <p:cNvPr id="27" name="Rectangle 26"/>
          <p:cNvSpPr/>
          <p:nvPr/>
        </p:nvSpPr>
        <p:spPr>
          <a:xfrm>
            <a:off x="6222492" y="4119372"/>
            <a:ext cx="5189220" cy="177850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2492" y="4119372"/>
            <a:ext cx="518922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69380" y="436626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eart 29"/>
          <p:cNvSpPr/>
          <p:nvPr/>
        </p:nvSpPr>
        <p:spPr>
          <a:xfrm>
            <a:off x="6547104" y="4453128"/>
            <a:ext cx="301752" cy="283464"/>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063740" y="4375404"/>
            <a:ext cx="4183380" cy="402336"/>
          </a:xfrm>
          <a:prstGeom prst="rect">
            <a:avLst/>
          </a:prstGeom>
          <a:noFill/>
        </p:spPr>
        <p:txBody>
          <a:bodyPr wrap="square" anchor="t">
            <a:spAutoFit/>
          </a:bodyPr>
          <a:lstStyle/>
          <a:p>
            <a:pPr algn="l">
              <a:spcAft>
                <a:spcPts val="400"/>
              </a:spcAft>
            </a:pPr>
            <a:r>
              <a:rPr sz="1300" b="1">
                <a:solidFill>
                  <a:srgbClr val="F59E0B"/>
                </a:solidFill>
                <a:latin typeface="Arial"/>
              </a:rPr>
              <a:t>FEELS</a:t>
            </a:r>
          </a:p>
        </p:txBody>
      </p:sp>
      <p:sp>
        <p:nvSpPr>
          <p:cNvPr id="32" name="TextBox 31"/>
          <p:cNvSpPr txBox="1"/>
          <p:nvPr/>
        </p:nvSpPr>
        <p:spPr>
          <a:xfrm>
            <a:off x="6533388" y="4905756"/>
            <a:ext cx="4622292" cy="864108"/>
          </a:xfrm>
          <a:prstGeom prst="rect">
            <a:avLst/>
          </a:prstGeom>
          <a:noFill/>
        </p:spPr>
        <p:txBody>
          <a:bodyPr wrap="square">
            <a:spAutoFit/>
          </a:bodyPr>
          <a:lstStyle/>
          <a:p>
            <a:pPr>
              <a:spcAft>
                <a:spcPts val="600"/>
              </a:spcAft>
            </a:pPr>
            <a:r>
              <a:rPr sz="1200" b="0">
                <a:solidFill>
                  <a:srgbClr val="161B26"/>
                </a:solidFill>
                <a:latin typeface="Arial"/>
              </a:rPr>
              <a:t>•  Embarrassed about the budget limit.</a:t>
            </a:r>
          </a:p>
          <a:p>
            <a:pPr>
              <a:spcAft>
                <a:spcPts val="600"/>
              </a:spcAft>
            </a:pPr>
            <a:r>
              <a:rPr sz="1200" b="0">
                <a:solidFill>
                  <a:srgbClr val="161B26"/>
                </a:solidFill>
                <a:latin typeface="Arial"/>
              </a:rPr>
              <a:t>•  Anxious about making an expensive mistake.</a:t>
            </a:r>
          </a:p>
        </p:txBody>
      </p:sp>
      <p:sp>
        <p:nvSpPr>
          <p:cNvPr id="33" name="Oval 32"/>
          <p:cNvSpPr/>
          <p:nvPr/>
        </p:nvSpPr>
        <p:spPr>
          <a:xfrm>
            <a:off x="5564124" y="3470148"/>
            <a:ext cx="1060704" cy="1060704"/>
          </a:xfrm>
          <a:prstGeom prst="ellipse">
            <a:avLst/>
          </a:prstGeom>
          <a:solidFill>
            <a:srgbClr val="161B26"/>
          </a:solidFill>
          <a:ln>
            <a:no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64124" y="3470148"/>
            <a:ext cx="1060704" cy="1060704"/>
          </a:xfrm>
          <a:prstGeom prst="rect">
            <a:avLst/>
          </a:prstGeom>
          <a:noFill/>
        </p:spPr>
        <p:txBody>
          <a:bodyPr wrap="square" anchor="ctr">
            <a:spAutoFit/>
          </a:bodyPr>
          <a:lstStyle/>
          <a:p>
            <a:pPr algn="ctr">
              <a:spcAft>
                <a:spcPts val="400"/>
              </a:spcAft>
            </a:pPr>
            <a:r>
              <a:rPr sz="1300" b="1">
                <a:solidFill>
                  <a:srgbClr val="FFFFFF"/>
                </a:solidFill>
                <a:latin typeface="Arial"/>
              </a:rPr>
              <a:t>Tom</a:t>
            </a:r>
          </a:p>
        </p:txBody>
      </p:sp>
      <p:sp>
        <p:nvSpPr>
          <p:cNvPr id="35" name="TextBox 34"/>
          <p:cNvSpPr txBox="1"/>
          <p:nvPr/>
        </p:nvSpPr>
        <p:spPr>
          <a:xfrm>
            <a:off x="777240" y="605332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empathy-mapping practice, grounded in this course's role-play persona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Testimonials &amp; Social Proof</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Testimonials &amp; Social Proof?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You arguing your own case is the weakest evidence available. A similar customer saying it for you is the strongest.</a:t>
            </a:r>
          </a:p>
        </p:txBody>
      </p:sp>
      <p:sp>
        <p:nvSpPr>
          <p:cNvPr id="8" name="Rectangle 7"/>
          <p:cNvSpPr/>
          <p:nvPr/>
        </p:nvSpPr>
        <p:spPr>
          <a:xfrm>
            <a:off x="777240" y="2455164"/>
            <a:ext cx="2452878" cy="318211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55164"/>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92324"/>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805254" y="2700040"/>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2046198" y="2700040"/>
            <a:ext cx="155905" cy="15590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1782577" y="2881457"/>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2026356" y="2881457"/>
            <a:ext cx="198424" cy="175747"/>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41832" y="3479292"/>
            <a:ext cx="2123694" cy="566928"/>
          </a:xfrm>
          <a:prstGeom prst="rect">
            <a:avLst/>
          </a:prstGeom>
          <a:noFill/>
        </p:spPr>
        <p:txBody>
          <a:bodyPr wrap="square" anchor="t">
            <a:spAutoFit/>
          </a:bodyPr>
          <a:lstStyle/>
          <a:p>
            <a:pPr algn="ctr">
              <a:spcAft>
                <a:spcPts val="400"/>
              </a:spcAft>
            </a:pPr>
            <a:r>
              <a:rPr sz="1400" b="1">
                <a:solidFill>
                  <a:srgbClr val="161B26"/>
                </a:solidFill>
                <a:latin typeface="Arial"/>
              </a:rPr>
              <a:t>Similarity Matters Most</a:t>
            </a:r>
          </a:p>
        </p:txBody>
      </p:sp>
      <p:sp>
        <p:nvSpPr>
          <p:cNvPr id="16" name="TextBox 15"/>
          <p:cNvSpPr txBox="1"/>
          <p:nvPr/>
        </p:nvSpPr>
        <p:spPr>
          <a:xfrm>
            <a:off x="941832" y="4082796"/>
            <a:ext cx="2123694" cy="1444752"/>
          </a:xfrm>
          <a:prstGeom prst="rect">
            <a:avLst/>
          </a:prstGeom>
          <a:noFill/>
        </p:spPr>
        <p:txBody>
          <a:bodyPr wrap="square" anchor="t">
            <a:spAutoFit/>
          </a:bodyPr>
          <a:lstStyle/>
          <a:p>
            <a:pPr algn="ctr">
              <a:spcAft>
                <a:spcPts val="400"/>
              </a:spcAft>
            </a:pPr>
            <a:r>
              <a:rPr sz="1000" b="0">
                <a:solidFill>
                  <a:srgbClr val="5B6372"/>
                </a:solidFill>
                <a:latin typeface="Arial"/>
              </a:rPr>
              <a:t>Same industry, same size, same problem as theirs.</a:t>
            </a:r>
          </a:p>
        </p:txBody>
      </p:sp>
      <p:sp>
        <p:nvSpPr>
          <p:cNvPr id="17" name="Rectangle 16"/>
          <p:cNvSpPr/>
          <p:nvPr/>
        </p:nvSpPr>
        <p:spPr>
          <a:xfrm>
            <a:off x="3504438" y="2455164"/>
            <a:ext cx="2452878" cy="318211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04438" y="2455164"/>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47413" y="2592324"/>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55129" y="2909803"/>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674184" y="2810591"/>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793239" y="2725552"/>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69030" y="347929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Specific Beats Glowing</a:t>
            </a:r>
          </a:p>
        </p:txBody>
      </p:sp>
      <p:sp>
        <p:nvSpPr>
          <p:cNvPr id="24" name="TextBox 23"/>
          <p:cNvSpPr txBox="1"/>
          <p:nvPr/>
        </p:nvSpPr>
        <p:spPr>
          <a:xfrm>
            <a:off x="3669030" y="4082796"/>
            <a:ext cx="2123694" cy="1444752"/>
          </a:xfrm>
          <a:prstGeom prst="rect">
            <a:avLst/>
          </a:prstGeom>
          <a:noFill/>
        </p:spPr>
        <p:txBody>
          <a:bodyPr wrap="square" anchor="t">
            <a:spAutoFit/>
          </a:bodyPr>
          <a:lstStyle/>
          <a:p>
            <a:pPr algn="ctr">
              <a:spcAft>
                <a:spcPts val="400"/>
              </a:spcAft>
            </a:pPr>
            <a:r>
              <a:rPr sz="1000" b="0">
                <a:solidFill>
                  <a:srgbClr val="5B6372"/>
                </a:solidFill>
                <a:latin typeface="Arial"/>
              </a:rPr>
              <a:t>A number outperforms an enthusiastic adjective.</a:t>
            </a:r>
          </a:p>
        </p:txBody>
      </p:sp>
      <p:sp>
        <p:nvSpPr>
          <p:cNvPr id="25" name="Rectangle 24"/>
          <p:cNvSpPr/>
          <p:nvPr/>
        </p:nvSpPr>
        <p:spPr>
          <a:xfrm>
            <a:off x="6231636" y="2455164"/>
            <a:ext cx="2452878" cy="318211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31636" y="2455164"/>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174611" y="2592324"/>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onut 27"/>
          <p:cNvSpPr/>
          <p:nvPr/>
        </p:nvSpPr>
        <p:spPr>
          <a:xfrm>
            <a:off x="7253980" y="2671693"/>
            <a:ext cx="408188" cy="408188"/>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441067" y="2728386"/>
            <a:ext cx="34015" cy="1587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7441067" y="2858780"/>
            <a:ext cx="130393" cy="34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96228" y="347929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Timing Is Everything</a:t>
            </a:r>
          </a:p>
        </p:txBody>
      </p:sp>
      <p:sp>
        <p:nvSpPr>
          <p:cNvPr id="32" name="TextBox 31"/>
          <p:cNvSpPr txBox="1"/>
          <p:nvPr/>
        </p:nvSpPr>
        <p:spPr>
          <a:xfrm>
            <a:off x="6396228" y="4082796"/>
            <a:ext cx="2123694" cy="1444752"/>
          </a:xfrm>
          <a:prstGeom prst="rect">
            <a:avLst/>
          </a:prstGeom>
          <a:noFill/>
        </p:spPr>
        <p:txBody>
          <a:bodyPr wrap="square" anchor="t">
            <a:spAutoFit/>
          </a:bodyPr>
          <a:lstStyle/>
          <a:p>
            <a:pPr algn="ctr">
              <a:spcAft>
                <a:spcPts val="400"/>
              </a:spcAft>
            </a:pPr>
            <a:r>
              <a:rPr sz="1150" b="0">
                <a:solidFill>
                  <a:srgbClr val="5B6372"/>
                </a:solidFill>
                <a:latin typeface="Arial"/>
              </a:rPr>
              <a:t>Deploy right after the concern, never before.</a:t>
            </a:r>
          </a:p>
        </p:txBody>
      </p:sp>
      <p:sp>
        <p:nvSpPr>
          <p:cNvPr id="33" name="Rectangle 32"/>
          <p:cNvSpPr/>
          <p:nvPr/>
        </p:nvSpPr>
        <p:spPr>
          <a:xfrm>
            <a:off x="8958834" y="2455164"/>
            <a:ext cx="2452878" cy="3182112"/>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958834" y="2455164"/>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901809" y="2592324"/>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entagon 35"/>
          <p:cNvSpPr/>
          <p:nvPr/>
        </p:nvSpPr>
        <p:spPr>
          <a:xfrm rot="5400000">
            <a:off x="10020863" y="2711378"/>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123426" y="3479292"/>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Verifiable Only</a:t>
            </a:r>
          </a:p>
        </p:txBody>
      </p:sp>
      <p:sp>
        <p:nvSpPr>
          <p:cNvPr id="38" name="TextBox 37"/>
          <p:cNvSpPr txBox="1"/>
          <p:nvPr/>
        </p:nvSpPr>
        <p:spPr>
          <a:xfrm>
            <a:off x="9123426" y="4082796"/>
            <a:ext cx="2123694" cy="1444752"/>
          </a:xfrm>
          <a:prstGeom prst="rect">
            <a:avLst/>
          </a:prstGeom>
          <a:noFill/>
        </p:spPr>
        <p:txBody>
          <a:bodyPr wrap="square" anchor="t">
            <a:spAutoFit/>
          </a:bodyPr>
          <a:lstStyle/>
          <a:p>
            <a:pPr algn="ctr">
              <a:spcAft>
                <a:spcPts val="400"/>
              </a:spcAft>
            </a:pPr>
            <a:r>
              <a:rPr sz="1150" b="0">
                <a:solidFill>
                  <a:srgbClr val="5B6372"/>
                </a:solidFill>
                <a:latin typeface="Arial"/>
              </a:rPr>
              <a:t>Never invent or embellish a customer story.</a:t>
            </a:r>
          </a:p>
        </p:txBody>
      </p:sp>
      <p:sp>
        <p:nvSpPr>
          <p:cNvPr id="39" name="TextBox 38"/>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social-proof practice; Cialdini's Social Proof principle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Deploying a Testimonial Properly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Hear the Concern</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Let them finish and validate it first.</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Match the Story</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Pick the closest comparable customer.</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Give the Number</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Quantify the outcome they achieved.</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Offer the Proof</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Offer a reference call if they want one.</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testimonial offered before the objection is marketing. Offered right after it, it is evidence.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testimonial-deployment practice</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Weak Testimonial vs A Strong 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Weak</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Strong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"Our customers absolutely love the product."</a:t>
            </a:r>
          </a:p>
          <a:p>
            <a:pPr>
              <a:spcAft>
                <a:spcPts val="1000"/>
              </a:spcAft>
            </a:pPr>
            <a:r>
              <a:rPr sz="1600" b="0">
                <a:solidFill>
                  <a:srgbClr val="161B26"/>
                </a:solidFill>
                <a:latin typeface="Arial"/>
              </a:rPr>
              <a:t>•  No name, no industry, no number.</a:t>
            </a:r>
          </a:p>
          <a:p>
            <a:pPr>
              <a:spcAft>
                <a:spcPts val="1000"/>
              </a:spcAft>
            </a:pPr>
            <a:r>
              <a:rPr sz="1600" b="0">
                <a:solidFill>
                  <a:srgbClr val="161B26"/>
                </a:solidFill>
                <a:latin typeface="Arial"/>
              </a:rPr>
              <a:t>•  Delivered as a slide in the standard deck.</a:t>
            </a:r>
          </a:p>
          <a:p>
            <a:pPr>
              <a:spcAft>
                <a:spcPts val="1000"/>
              </a:spcAft>
            </a:pPr>
            <a:r>
              <a:rPr sz="1600" b="0">
                <a:solidFill>
                  <a:srgbClr val="161B26"/>
                </a:solidFill>
                <a:latin typeface="Arial"/>
              </a:rPr>
              <a:t>•  Unverifiable, so easy to discount.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"Sunrise Builders cut chased status updates by 70% in nine weeks."</a:t>
            </a:r>
          </a:p>
          <a:p>
            <a:pPr>
              <a:spcAft>
                <a:spcPts val="1000"/>
              </a:spcAft>
            </a:pPr>
            <a:r>
              <a:rPr sz="1600" b="0">
                <a:solidFill>
                  <a:srgbClr val="161B26"/>
                </a:solidFill>
                <a:latin typeface="Arial"/>
              </a:rPr>
              <a:t>•  Named, comparable, and measured.</a:t>
            </a:r>
          </a:p>
          <a:p>
            <a:pPr>
              <a:spcAft>
                <a:spcPts val="1000"/>
              </a:spcAft>
            </a:pPr>
            <a:r>
              <a:rPr sz="1600" b="0">
                <a:solidFill>
                  <a:srgbClr val="161B26"/>
                </a:solidFill>
                <a:latin typeface="Arial"/>
              </a:rPr>
              <a:t>•  Delivered at the exact moment the doubt appeared.</a:t>
            </a:r>
          </a:p>
          <a:p>
            <a:pPr>
              <a:spcAft>
                <a:spcPts val="1000"/>
              </a:spcAft>
            </a:pPr>
            <a:r>
              <a:rPr sz="1600" b="0">
                <a:solidFill>
                  <a:srgbClr val="161B26"/>
                </a:solidFill>
                <a:latin typeface="Arial"/>
              </a:rPr>
              <a:t>•  Backed by an offer to speak to them directly.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
        <p:nvSpPr>
          <p:cNvPr id="16" name="TextBox 1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social-proof quality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Handling a Genuine Rejection Well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How you lose determines whether you are ever invited back.</a:t>
            </a:r>
          </a:p>
        </p:txBody>
      </p:sp>
      <p:sp>
        <p:nvSpPr>
          <p:cNvPr id="8" name="Rectangle 7"/>
          <p:cNvSpPr/>
          <p:nvPr/>
        </p:nvSpPr>
        <p:spPr>
          <a:xfrm>
            <a:off x="777240" y="2473452"/>
            <a:ext cx="2452878" cy="314553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73452"/>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610612"/>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eart 10"/>
          <p:cNvSpPr/>
          <p:nvPr/>
        </p:nvSpPr>
        <p:spPr>
          <a:xfrm>
            <a:off x="1816592" y="2718328"/>
            <a:ext cx="374172" cy="351495"/>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49758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Accept Gracefully</a:t>
            </a:r>
          </a:p>
        </p:txBody>
      </p:sp>
      <p:sp>
        <p:nvSpPr>
          <p:cNvPr id="13" name="TextBox 12"/>
          <p:cNvSpPr txBox="1"/>
          <p:nvPr/>
        </p:nvSpPr>
        <p:spPr>
          <a:xfrm>
            <a:off x="941832" y="4101084"/>
            <a:ext cx="2123694" cy="1408176"/>
          </a:xfrm>
          <a:prstGeom prst="rect">
            <a:avLst/>
          </a:prstGeom>
          <a:noFill/>
        </p:spPr>
        <p:txBody>
          <a:bodyPr wrap="square" anchor="t">
            <a:spAutoFit/>
          </a:bodyPr>
          <a:lstStyle/>
          <a:p>
            <a:pPr algn="ctr">
              <a:spcAft>
                <a:spcPts val="400"/>
              </a:spcAft>
            </a:pPr>
            <a:r>
              <a:rPr sz="1150" b="0">
                <a:solidFill>
                  <a:srgbClr val="5B6372"/>
                </a:solidFill>
                <a:latin typeface="Arial"/>
              </a:rPr>
              <a:t>"I appreciate you telling me straight."</a:t>
            </a:r>
          </a:p>
        </p:txBody>
      </p:sp>
      <p:sp>
        <p:nvSpPr>
          <p:cNvPr id="14" name="Rectangle 13"/>
          <p:cNvSpPr/>
          <p:nvPr/>
        </p:nvSpPr>
        <p:spPr>
          <a:xfrm>
            <a:off x="3504438" y="2473452"/>
            <a:ext cx="2452878" cy="314553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04438" y="2473452"/>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47413" y="2610612"/>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nut 16"/>
          <p:cNvSpPr/>
          <p:nvPr/>
        </p:nvSpPr>
        <p:spPr>
          <a:xfrm>
            <a:off x="4555129" y="2706989"/>
            <a:ext cx="269290" cy="269290"/>
          </a:xfrm>
          <a:prstGeom prst="donu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rot="2700000">
            <a:off x="4776231" y="2950768"/>
            <a:ext cx="147401" cy="453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9030" y="3497580"/>
            <a:ext cx="2123694" cy="566928"/>
          </a:xfrm>
          <a:prstGeom prst="rect">
            <a:avLst/>
          </a:prstGeom>
          <a:noFill/>
        </p:spPr>
        <p:txBody>
          <a:bodyPr wrap="square" anchor="t">
            <a:spAutoFit/>
          </a:bodyPr>
          <a:lstStyle/>
          <a:p>
            <a:pPr algn="ctr">
              <a:spcAft>
                <a:spcPts val="400"/>
              </a:spcAft>
            </a:pPr>
            <a:r>
              <a:rPr sz="1400" b="1">
                <a:solidFill>
                  <a:srgbClr val="161B26"/>
                </a:solidFill>
                <a:latin typeface="Arial"/>
              </a:rPr>
              <a:t>Ask What Would Change It</a:t>
            </a:r>
          </a:p>
        </p:txBody>
      </p:sp>
      <p:sp>
        <p:nvSpPr>
          <p:cNvPr id="20" name="TextBox 19"/>
          <p:cNvSpPr txBox="1"/>
          <p:nvPr/>
        </p:nvSpPr>
        <p:spPr>
          <a:xfrm>
            <a:off x="3669030" y="4101084"/>
            <a:ext cx="2123694" cy="1408176"/>
          </a:xfrm>
          <a:prstGeom prst="rect">
            <a:avLst/>
          </a:prstGeom>
          <a:noFill/>
        </p:spPr>
        <p:txBody>
          <a:bodyPr wrap="square" anchor="t">
            <a:spAutoFit/>
          </a:bodyPr>
          <a:lstStyle/>
          <a:p>
            <a:pPr algn="ctr">
              <a:spcAft>
                <a:spcPts val="400"/>
              </a:spcAft>
            </a:pPr>
            <a:r>
              <a:rPr sz="1000" b="0">
                <a:solidFill>
                  <a:srgbClr val="5B6372"/>
                </a:solidFill>
                <a:latin typeface="Arial"/>
              </a:rPr>
              <a:t>Learn the condition that would flip the answer.</a:t>
            </a:r>
          </a:p>
        </p:txBody>
      </p:sp>
      <p:sp>
        <p:nvSpPr>
          <p:cNvPr id="21" name="Rectangle 20"/>
          <p:cNvSpPr/>
          <p:nvPr/>
        </p:nvSpPr>
        <p:spPr>
          <a:xfrm>
            <a:off x="6231636" y="2473452"/>
            <a:ext cx="2452878" cy="314553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1636" y="2473452"/>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74611" y="2610612"/>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ular Callout 23"/>
          <p:cNvSpPr/>
          <p:nvPr/>
        </p:nvSpPr>
        <p:spPr>
          <a:xfrm>
            <a:off x="7270988" y="2729666"/>
            <a:ext cx="374172" cy="283464"/>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96228" y="349758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Leave the Door Open</a:t>
            </a:r>
          </a:p>
        </p:txBody>
      </p:sp>
      <p:sp>
        <p:nvSpPr>
          <p:cNvPr id="26" name="TextBox 25"/>
          <p:cNvSpPr txBox="1"/>
          <p:nvPr/>
        </p:nvSpPr>
        <p:spPr>
          <a:xfrm>
            <a:off x="6396228" y="4101084"/>
            <a:ext cx="2123694" cy="1408176"/>
          </a:xfrm>
          <a:prstGeom prst="rect">
            <a:avLst/>
          </a:prstGeom>
          <a:noFill/>
        </p:spPr>
        <p:txBody>
          <a:bodyPr wrap="square" anchor="t">
            <a:spAutoFit/>
          </a:bodyPr>
          <a:lstStyle/>
          <a:p>
            <a:pPr algn="ctr">
              <a:spcAft>
                <a:spcPts val="400"/>
              </a:spcAft>
            </a:pPr>
            <a:r>
              <a:rPr sz="1150" b="0">
                <a:solidFill>
                  <a:srgbClr val="5B6372"/>
                </a:solidFill>
                <a:latin typeface="Arial"/>
              </a:rPr>
              <a:t>Agree one useful touchpoint for the future.</a:t>
            </a:r>
          </a:p>
        </p:txBody>
      </p:sp>
      <p:sp>
        <p:nvSpPr>
          <p:cNvPr id="27" name="Rectangle 26"/>
          <p:cNvSpPr/>
          <p:nvPr/>
        </p:nvSpPr>
        <p:spPr>
          <a:xfrm>
            <a:off x="8958834" y="2473452"/>
            <a:ext cx="2452878" cy="314553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58834" y="2473452"/>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01809" y="2610612"/>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5-Point Star 29"/>
          <p:cNvSpPr/>
          <p:nvPr/>
        </p:nvSpPr>
        <p:spPr>
          <a:xfrm>
            <a:off x="9981178" y="2689981"/>
            <a:ext cx="408188" cy="408188"/>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23426" y="3497580"/>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Ask for the Referral</a:t>
            </a:r>
          </a:p>
        </p:txBody>
      </p:sp>
      <p:sp>
        <p:nvSpPr>
          <p:cNvPr id="32" name="TextBox 31"/>
          <p:cNvSpPr txBox="1"/>
          <p:nvPr/>
        </p:nvSpPr>
        <p:spPr>
          <a:xfrm>
            <a:off x="9123426" y="4101084"/>
            <a:ext cx="2123694" cy="1408176"/>
          </a:xfrm>
          <a:prstGeom prst="rect">
            <a:avLst/>
          </a:prstGeom>
          <a:noFill/>
        </p:spPr>
        <p:txBody>
          <a:bodyPr wrap="square" anchor="t">
            <a:spAutoFit/>
          </a:bodyPr>
          <a:lstStyle/>
          <a:p>
            <a:pPr algn="ctr">
              <a:spcAft>
                <a:spcPts val="400"/>
              </a:spcAft>
            </a:pPr>
            <a:r>
              <a:rPr sz="1150" b="0">
                <a:solidFill>
                  <a:srgbClr val="5B6372"/>
                </a:solidFill>
                <a:latin typeface="Arial"/>
              </a:rPr>
              <a:t>"Who else might have this problem?"</a:t>
            </a:r>
          </a:p>
        </p:txBody>
      </p:sp>
      <p:sp>
        <p:nvSpPr>
          <p:cNvPr id="33" name="TextBox 32"/>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rejection-handling and Backwards Close practice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Sales Closure Metrics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Sales Closure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'Close better' is not a plan. These are the numbers that turn a vague ambition into something a team can actually manage.</a:t>
            </a:r>
          </a:p>
        </p:txBody>
      </p:sp>
      <p:sp>
        <p:nvSpPr>
          <p:cNvPr id="8" name="Rectangle 7"/>
          <p:cNvSpPr/>
          <p:nvPr/>
        </p:nvSpPr>
        <p:spPr>
          <a:xfrm>
            <a:off x="777240" y="2436876"/>
            <a:ext cx="2452878" cy="321868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436876"/>
            <a:ext cx="2452878" cy="841248"/>
          </a:xfrm>
          <a:prstGeom prst="roundRect">
            <a:avLst/>
          </a:prstGeom>
          <a:gradFill rotWithShape="1">
            <a:gsLst>
              <a:gs pos="0">
                <a:srgbClr val="357DED"/>
              </a:gs>
              <a:gs pos="100000">
                <a:srgbClr val="195B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20215" y="2574036"/>
            <a:ext cx="566928" cy="566928"/>
          </a:xfrm>
          <a:prstGeom prst="ellipse">
            <a:avLst/>
          </a:prstGeom>
          <a:solidFill>
            <a:srgbClr val="154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nut 10"/>
          <p:cNvSpPr/>
          <p:nvPr/>
        </p:nvSpPr>
        <p:spPr>
          <a:xfrm>
            <a:off x="1788246" y="2642067"/>
            <a:ext cx="430865" cy="430865"/>
          </a:xfrm>
          <a:prstGeom prst="donu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929978" y="2783799"/>
            <a:ext cx="147401" cy="14740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1832" y="346100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Conversion Rate</a:t>
            </a:r>
          </a:p>
        </p:txBody>
      </p:sp>
      <p:sp>
        <p:nvSpPr>
          <p:cNvPr id="14" name="TextBox 13"/>
          <p:cNvSpPr txBox="1"/>
          <p:nvPr/>
        </p:nvSpPr>
        <p:spPr>
          <a:xfrm>
            <a:off x="941832" y="4064508"/>
            <a:ext cx="2123694" cy="1481328"/>
          </a:xfrm>
          <a:prstGeom prst="rect">
            <a:avLst/>
          </a:prstGeom>
          <a:noFill/>
        </p:spPr>
        <p:txBody>
          <a:bodyPr wrap="square" anchor="t">
            <a:spAutoFit/>
          </a:bodyPr>
          <a:lstStyle/>
          <a:p>
            <a:pPr algn="ctr">
              <a:spcAft>
                <a:spcPts val="400"/>
              </a:spcAft>
            </a:pPr>
            <a:r>
              <a:rPr sz="1150" b="0">
                <a:solidFill>
                  <a:srgbClr val="5B6372"/>
                </a:solidFill>
                <a:latin typeface="Arial"/>
              </a:rPr>
              <a:t>Proposals that become signed deals, by stage.</a:t>
            </a:r>
          </a:p>
        </p:txBody>
      </p:sp>
      <p:sp>
        <p:nvSpPr>
          <p:cNvPr id="15" name="Rectangle 14"/>
          <p:cNvSpPr/>
          <p:nvPr/>
        </p:nvSpPr>
        <p:spPr>
          <a:xfrm>
            <a:off x="3504438" y="2436876"/>
            <a:ext cx="2452878" cy="321868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04438" y="2436876"/>
            <a:ext cx="2452878" cy="841248"/>
          </a:xfrm>
          <a:prstGeom prst="roundRect">
            <a:avLst/>
          </a:prstGeom>
          <a:gradFill rotWithShape="1">
            <a:gsLst>
              <a:gs pos="0">
                <a:srgbClr val="27C08D"/>
              </a:gs>
              <a:gs pos="100000">
                <a:srgbClr val="0D976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47413" y="2574036"/>
            <a:ext cx="566928" cy="566928"/>
          </a:xfrm>
          <a:prstGeom prst="ellipse">
            <a:avLst/>
          </a:prstGeom>
          <a:solidFill>
            <a:srgbClr val="0B8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55129" y="2891515"/>
            <a:ext cx="79369" cy="141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674184" y="2792303"/>
            <a:ext cx="79369" cy="240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793239" y="2707264"/>
            <a:ext cx="79369" cy="3259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69030" y="346100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Average Deal Size</a:t>
            </a:r>
          </a:p>
        </p:txBody>
      </p:sp>
      <p:sp>
        <p:nvSpPr>
          <p:cNvPr id="22" name="TextBox 21"/>
          <p:cNvSpPr txBox="1"/>
          <p:nvPr/>
        </p:nvSpPr>
        <p:spPr>
          <a:xfrm>
            <a:off x="3669030" y="4064508"/>
            <a:ext cx="2123694" cy="1481328"/>
          </a:xfrm>
          <a:prstGeom prst="rect">
            <a:avLst/>
          </a:prstGeom>
          <a:noFill/>
        </p:spPr>
        <p:txBody>
          <a:bodyPr wrap="square" anchor="t">
            <a:spAutoFit/>
          </a:bodyPr>
          <a:lstStyle/>
          <a:p>
            <a:pPr algn="ctr">
              <a:spcAft>
                <a:spcPts val="400"/>
              </a:spcAft>
            </a:pPr>
            <a:r>
              <a:rPr sz="1150" b="0">
                <a:solidFill>
                  <a:srgbClr val="5B6372"/>
                </a:solidFill>
                <a:latin typeface="Arial"/>
              </a:rPr>
              <a:t>Revenue per closed deal, tracked over time.</a:t>
            </a:r>
          </a:p>
        </p:txBody>
      </p:sp>
      <p:sp>
        <p:nvSpPr>
          <p:cNvPr id="23" name="Rectangle 22"/>
          <p:cNvSpPr/>
          <p:nvPr/>
        </p:nvSpPr>
        <p:spPr>
          <a:xfrm>
            <a:off x="6231636" y="2436876"/>
            <a:ext cx="2452878" cy="321868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1636" y="2436876"/>
            <a:ext cx="2452878" cy="841248"/>
          </a:xfrm>
          <a:prstGeom prst="roundRect">
            <a:avLst/>
          </a:prstGeom>
          <a:gradFill rotWithShape="1">
            <a:gsLst>
              <a:gs pos="0">
                <a:srgbClr val="894DEE"/>
              </a:gs>
              <a:gs pos="100000">
                <a:srgbClr val="652FC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74611" y="2574036"/>
            <a:ext cx="566928" cy="566928"/>
          </a:xfrm>
          <a:prstGeom prst="ellipse">
            <a:avLst/>
          </a:prstGeom>
          <a:solidFill>
            <a:srgbClr val="562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nut 25"/>
          <p:cNvSpPr/>
          <p:nvPr/>
        </p:nvSpPr>
        <p:spPr>
          <a:xfrm>
            <a:off x="7253980" y="2653405"/>
            <a:ext cx="408188" cy="408188"/>
          </a:xfrm>
          <a:prstGeom prst="donu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441067" y="2710098"/>
            <a:ext cx="34015" cy="1587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441067" y="2840492"/>
            <a:ext cx="130393" cy="34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96228" y="346100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Sales-Cycle Length</a:t>
            </a:r>
          </a:p>
        </p:txBody>
      </p:sp>
      <p:sp>
        <p:nvSpPr>
          <p:cNvPr id="30" name="TextBox 29"/>
          <p:cNvSpPr txBox="1"/>
          <p:nvPr/>
        </p:nvSpPr>
        <p:spPr>
          <a:xfrm>
            <a:off x="6396228" y="4064508"/>
            <a:ext cx="2123694" cy="1481328"/>
          </a:xfrm>
          <a:prstGeom prst="rect">
            <a:avLst/>
          </a:prstGeom>
          <a:noFill/>
        </p:spPr>
        <p:txBody>
          <a:bodyPr wrap="square" anchor="t">
            <a:spAutoFit/>
          </a:bodyPr>
          <a:lstStyle/>
          <a:p>
            <a:pPr algn="ctr">
              <a:spcAft>
                <a:spcPts val="400"/>
              </a:spcAft>
            </a:pPr>
            <a:r>
              <a:rPr sz="1150" b="0">
                <a:solidFill>
                  <a:srgbClr val="5B6372"/>
                </a:solidFill>
                <a:latin typeface="Arial"/>
              </a:rPr>
              <a:t>Days from first conversation to signature.</a:t>
            </a:r>
          </a:p>
        </p:txBody>
      </p:sp>
      <p:sp>
        <p:nvSpPr>
          <p:cNvPr id="31" name="Rectangle 30"/>
          <p:cNvSpPr/>
          <p:nvPr/>
        </p:nvSpPr>
        <p:spPr>
          <a:xfrm>
            <a:off x="8958834" y="2436876"/>
            <a:ext cx="2452878" cy="3218688"/>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958834" y="2436876"/>
            <a:ext cx="2452878" cy="841248"/>
          </a:xfrm>
          <a:prstGeom prst="roundRect">
            <a:avLst/>
          </a:prstGeom>
          <a:gradFill rotWithShape="1">
            <a:gsLst>
              <a:gs pos="0">
                <a:srgbClr val="F6A723"/>
              </a:gs>
              <a:gs pos="100000">
                <a:srgbClr val="C88109"/>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01809" y="2574036"/>
            <a:ext cx="566928" cy="566928"/>
          </a:xfrm>
          <a:prstGeom prst="ellipse">
            <a:avLst/>
          </a:prstGeom>
          <a:solidFill>
            <a:srgbClr val="AB6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entagon 33"/>
          <p:cNvSpPr/>
          <p:nvPr/>
        </p:nvSpPr>
        <p:spPr>
          <a:xfrm rot="5400000">
            <a:off x="10020863" y="2693090"/>
            <a:ext cx="328818" cy="328818"/>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123426" y="3461004"/>
            <a:ext cx="2123694" cy="566928"/>
          </a:xfrm>
          <a:prstGeom prst="rect">
            <a:avLst/>
          </a:prstGeom>
          <a:noFill/>
        </p:spPr>
        <p:txBody>
          <a:bodyPr wrap="square" anchor="t">
            <a:spAutoFit/>
          </a:bodyPr>
          <a:lstStyle/>
          <a:p>
            <a:pPr algn="ctr">
              <a:spcAft>
                <a:spcPts val="400"/>
              </a:spcAft>
            </a:pPr>
            <a:r>
              <a:rPr sz="1550" b="1">
                <a:solidFill>
                  <a:srgbClr val="161B26"/>
                </a:solidFill>
                <a:latin typeface="Arial"/>
              </a:rPr>
              <a:t>Discount Depth</a:t>
            </a:r>
          </a:p>
        </p:txBody>
      </p:sp>
      <p:sp>
        <p:nvSpPr>
          <p:cNvPr id="36" name="TextBox 35"/>
          <p:cNvSpPr txBox="1"/>
          <p:nvPr/>
        </p:nvSpPr>
        <p:spPr>
          <a:xfrm>
            <a:off x="9123426" y="4064508"/>
            <a:ext cx="2123694" cy="1481328"/>
          </a:xfrm>
          <a:prstGeom prst="rect">
            <a:avLst/>
          </a:prstGeom>
          <a:noFill/>
        </p:spPr>
        <p:txBody>
          <a:bodyPr wrap="square" anchor="t">
            <a:spAutoFit/>
          </a:bodyPr>
          <a:lstStyle/>
          <a:p>
            <a:pPr algn="ctr">
              <a:spcAft>
                <a:spcPts val="400"/>
              </a:spcAft>
            </a:pPr>
            <a:r>
              <a:rPr sz="1000" b="0">
                <a:solidFill>
                  <a:srgbClr val="5B6372"/>
                </a:solidFill>
                <a:latin typeface="Arial"/>
              </a:rPr>
              <a:t>Average discount given — a proxy for value selling.</a:t>
            </a:r>
          </a:p>
        </p:txBody>
      </p:sp>
      <p:sp>
        <p:nvSpPr>
          <p:cNvPr id="37" name="TextBox 36"/>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sales-closure metric practice (K1 / A1)</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T5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Building the Evaluation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Define</a:t>
            </a:r>
          </a:p>
        </p:txBody>
      </p:sp>
      <p:sp>
        <p:nvSpPr>
          <p:cNvPr id="12" name="TextBox 11"/>
          <p:cNvSpPr txBox="1"/>
          <p:nvPr/>
        </p:nvSpPr>
        <p:spPr>
          <a:xfrm>
            <a:off x="905256"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Name each metric and how it is calculated.</a:t>
            </a:r>
          </a:p>
        </p:txBody>
      </p:sp>
      <p:sp>
        <p:nvSpPr>
          <p:cNvPr id="13" name="TextBox 12"/>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Baseline</a:t>
            </a:r>
          </a:p>
        </p:txBody>
      </p:sp>
      <p:sp>
        <p:nvSpPr>
          <p:cNvPr id="19" name="TextBox 18"/>
          <p:cNvSpPr txBox="1"/>
          <p:nvPr/>
        </p:nvSpPr>
        <p:spPr>
          <a:xfrm>
            <a:off x="3632454"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Measure the current position honestly.</a:t>
            </a:r>
          </a:p>
        </p:txBody>
      </p:sp>
      <p:sp>
        <p:nvSpPr>
          <p:cNvPr id="20" name="TextBox 19"/>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Target</a:t>
            </a:r>
          </a:p>
        </p:txBody>
      </p:sp>
      <p:sp>
        <p:nvSpPr>
          <p:cNvPr id="26" name="TextBox 25"/>
          <p:cNvSpPr txBox="1"/>
          <p:nvPr/>
        </p:nvSpPr>
        <p:spPr>
          <a:xfrm>
            <a:off x="6359652"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Set a realistic improvement and a date.</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33756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Review</a:t>
            </a:r>
          </a:p>
        </p:txBody>
      </p:sp>
      <p:sp>
        <p:nvSpPr>
          <p:cNvPr id="33" name="TextBox 32"/>
          <p:cNvSpPr txBox="1"/>
          <p:nvPr/>
        </p:nvSpPr>
        <p:spPr>
          <a:xfrm>
            <a:off x="9086850" y="3721608"/>
            <a:ext cx="2196846" cy="1143000"/>
          </a:xfrm>
          <a:prstGeom prst="rect">
            <a:avLst/>
          </a:prstGeom>
          <a:noFill/>
        </p:spPr>
        <p:txBody>
          <a:bodyPr wrap="square" anchor="t">
            <a:spAutoFit/>
          </a:bodyPr>
          <a:lstStyle/>
          <a:p>
            <a:pPr algn="ctr">
              <a:spcAft>
                <a:spcPts val="400"/>
              </a:spcAft>
            </a:pPr>
            <a:r>
              <a:rPr sz="1050" b="0">
                <a:solidFill>
                  <a:srgbClr val="5B6372"/>
                </a:solidFill>
                <a:latin typeface="Arial"/>
              </a:rPr>
              <a:t>Agree the cadence and who owns each number.</a:t>
            </a:r>
          </a:p>
        </p:txBody>
      </p:sp>
      <p:sp>
        <p:nvSpPr>
          <p:cNvPr id="34" name="Rectangle 33"/>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metric with no named owner and no review date is a number on a slide, not a management tool.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
        <p:nvSpPr>
          <p:cNvPr id="40" name="TextBox 39"/>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sales-performance management practice</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Choosing Metrics That Actually Drive Behaviour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Effort to measure against influence on outcome. Start top-right, and be honest about the bottom-left.</a:t>
            </a:r>
          </a:p>
        </p:txBody>
      </p:sp>
      <p:sp>
        <p:nvSpPr>
          <p:cNvPr id="8" name="Rectangle 7"/>
          <p:cNvSpPr/>
          <p:nvPr/>
        </p:nvSpPr>
        <p:spPr>
          <a:xfrm>
            <a:off x="1417320" y="2103120"/>
            <a:ext cx="4713732" cy="175107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17320" y="2103120"/>
            <a:ext cx="4713732"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3352" y="2286000"/>
            <a:ext cx="4256532" cy="384048"/>
          </a:xfrm>
          <a:prstGeom prst="rect">
            <a:avLst/>
          </a:prstGeom>
          <a:noFill/>
        </p:spPr>
        <p:txBody>
          <a:bodyPr wrap="square" anchor="t">
            <a:spAutoFit/>
          </a:bodyPr>
          <a:lstStyle/>
          <a:p>
            <a:pPr algn="l">
              <a:spcAft>
                <a:spcPts val="400"/>
              </a:spcAft>
            </a:pPr>
            <a:r>
              <a:rPr sz="1500" b="1">
                <a:solidFill>
                  <a:srgbClr val="1F6FEB"/>
                </a:solidFill>
                <a:latin typeface="Arial"/>
              </a:rPr>
              <a:t>Track First</a:t>
            </a:r>
          </a:p>
        </p:txBody>
      </p:sp>
      <p:sp>
        <p:nvSpPr>
          <p:cNvPr id="11" name="TextBox 10"/>
          <p:cNvSpPr txBox="1"/>
          <p:nvPr/>
        </p:nvSpPr>
        <p:spPr>
          <a:xfrm>
            <a:off x="1673352" y="2724912"/>
            <a:ext cx="4219956" cy="1001268"/>
          </a:xfrm>
          <a:prstGeom prst="rect">
            <a:avLst/>
          </a:prstGeom>
          <a:noFill/>
        </p:spPr>
        <p:txBody>
          <a:bodyPr wrap="square">
            <a:spAutoFit/>
          </a:bodyPr>
          <a:lstStyle/>
          <a:p>
            <a:pPr>
              <a:spcAft>
                <a:spcPts val="500"/>
              </a:spcAft>
            </a:pPr>
            <a:r>
              <a:rPr sz="1150" b="0">
                <a:solidFill>
                  <a:srgbClr val="161B26"/>
                </a:solidFill>
                <a:latin typeface="Arial"/>
              </a:rPr>
              <a:t>•  Conversion rate by stage</a:t>
            </a:r>
          </a:p>
          <a:p>
            <a:pPr>
              <a:spcAft>
                <a:spcPts val="500"/>
              </a:spcAft>
            </a:pPr>
            <a:r>
              <a:rPr sz="1150" b="0">
                <a:solidFill>
                  <a:srgbClr val="161B26"/>
                </a:solidFill>
                <a:latin typeface="Arial"/>
              </a:rPr>
              <a:t>•  Discount depth</a:t>
            </a:r>
          </a:p>
          <a:p>
            <a:pPr>
              <a:spcAft>
                <a:spcPts val="500"/>
              </a:spcAft>
            </a:pPr>
            <a:r>
              <a:rPr sz="1150" b="0">
                <a:solidFill>
                  <a:srgbClr val="161B26"/>
                </a:solidFill>
                <a:latin typeface="Arial"/>
              </a:rPr>
              <a:t>•  Cheap to capture, high signal</a:t>
            </a:r>
          </a:p>
        </p:txBody>
      </p:sp>
      <p:sp>
        <p:nvSpPr>
          <p:cNvPr id="12" name="Rectangle 11"/>
          <p:cNvSpPr/>
          <p:nvPr/>
        </p:nvSpPr>
        <p:spPr>
          <a:xfrm>
            <a:off x="6350508" y="2103120"/>
            <a:ext cx="4713732" cy="175107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0508" y="2103120"/>
            <a:ext cx="47137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6540" y="2286000"/>
            <a:ext cx="4256532" cy="384048"/>
          </a:xfrm>
          <a:prstGeom prst="rect">
            <a:avLst/>
          </a:prstGeom>
          <a:noFill/>
        </p:spPr>
        <p:txBody>
          <a:bodyPr wrap="square" anchor="t">
            <a:spAutoFit/>
          </a:bodyPr>
          <a:lstStyle/>
          <a:p>
            <a:pPr algn="l">
              <a:spcAft>
                <a:spcPts val="400"/>
              </a:spcAft>
            </a:pPr>
            <a:r>
              <a:rPr sz="1500" b="1">
                <a:solidFill>
                  <a:srgbClr val="10B981"/>
                </a:solidFill>
                <a:latin typeface="Arial"/>
              </a:rPr>
              <a:t>Worth the Effort</a:t>
            </a:r>
          </a:p>
        </p:txBody>
      </p:sp>
      <p:sp>
        <p:nvSpPr>
          <p:cNvPr id="15" name="TextBox 14"/>
          <p:cNvSpPr txBox="1"/>
          <p:nvPr/>
        </p:nvSpPr>
        <p:spPr>
          <a:xfrm>
            <a:off x="6606540" y="2724912"/>
            <a:ext cx="4219956" cy="1001268"/>
          </a:xfrm>
          <a:prstGeom prst="rect">
            <a:avLst/>
          </a:prstGeom>
          <a:noFill/>
        </p:spPr>
        <p:txBody>
          <a:bodyPr wrap="square">
            <a:spAutoFit/>
          </a:bodyPr>
          <a:lstStyle/>
          <a:p>
            <a:pPr>
              <a:spcAft>
                <a:spcPts val="500"/>
              </a:spcAft>
            </a:pPr>
            <a:r>
              <a:rPr sz="1150" b="0">
                <a:solidFill>
                  <a:srgbClr val="161B26"/>
                </a:solidFill>
                <a:latin typeface="Arial"/>
              </a:rPr>
              <a:t>•  Cost of customer acquisition</a:t>
            </a:r>
          </a:p>
          <a:p>
            <a:pPr>
              <a:spcAft>
                <a:spcPts val="500"/>
              </a:spcAft>
            </a:pPr>
            <a:r>
              <a:rPr sz="1150" b="0">
                <a:solidFill>
                  <a:srgbClr val="161B26"/>
                </a:solidFill>
                <a:latin typeface="Arial"/>
              </a:rPr>
              <a:t>•  NPS at handoff</a:t>
            </a:r>
          </a:p>
          <a:p>
            <a:pPr>
              <a:spcAft>
                <a:spcPts val="500"/>
              </a:spcAft>
            </a:pPr>
            <a:r>
              <a:rPr sz="1150" b="0">
                <a:solidFill>
                  <a:srgbClr val="161B26"/>
                </a:solidFill>
                <a:latin typeface="Arial"/>
              </a:rPr>
              <a:t>•  Harder to gather, still decisive</a:t>
            </a:r>
          </a:p>
        </p:txBody>
      </p:sp>
      <p:sp>
        <p:nvSpPr>
          <p:cNvPr id="16" name="Rectangle 15"/>
          <p:cNvSpPr/>
          <p:nvPr/>
        </p:nvSpPr>
        <p:spPr>
          <a:xfrm>
            <a:off x="1417320" y="4055364"/>
            <a:ext cx="4713732" cy="175107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17320" y="4055364"/>
            <a:ext cx="4713732" cy="7315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73352" y="4238244"/>
            <a:ext cx="4256532" cy="384048"/>
          </a:xfrm>
          <a:prstGeom prst="rect">
            <a:avLst/>
          </a:prstGeom>
          <a:noFill/>
        </p:spPr>
        <p:txBody>
          <a:bodyPr wrap="square" anchor="t">
            <a:spAutoFit/>
          </a:bodyPr>
          <a:lstStyle/>
          <a:p>
            <a:pPr algn="l">
              <a:spcAft>
                <a:spcPts val="400"/>
              </a:spcAft>
            </a:pPr>
            <a:r>
              <a:rPr sz="1500" b="1">
                <a:solidFill>
                  <a:srgbClr val="5B6372"/>
                </a:solidFill>
                <a:latin typeface="Arial"/>
              </a:rPr>
              <a:t>Low Priority</a:t>
            </a:r>
          </a:p>
        </p:txBody>
      </p:sp>
      <p:sp>
        <p:nvSpPr>
          <p:cNvPr id="19" name="TextBox 18"/>
          <p:cNvSpPr txBox="1"/>
          <p:nvPr/>
        </p:nvSpPr>
        <p:spPr>
          <a:xfrm>
            <a:off x="1673352" y="4677156"/>
            <a:ext cx="4219956" cy="1001268"/>
          </a:xfrm>
          <a:prstGeom prst="rect">
            <a:avLst/>
          </a:prstGeom>
          <a:noFill/>
        </p:spPr>
        <p:txBody>
          <a:bodyPr wrap="square">
            <a:spAutoFit/>
          </a:bodyPr>
          <a:lstStyle/>
          <a:p>
            <a:pPr>
              <a:spcAft>
                <a:spcPts val="500"/>
              </a:spcAft>
            </a:pPr>
            <a:r>
              <a:rPr sz="1150" b="0">
                <a:solidFill>
                  <a:srgbClr val="161B26"/>
                </a:solidFill>
                <a:latin typeface="Arial"/>
              </a:rPr>
              <a:t>•  Raw activity counts</a:t>
            </a:r>
          </a:p>
          <a:p>
            <a:pPr>
              <a:spcAft>
                <a:spcPts val="500"/>
              </a:spcAft>
            </a:pPr>
            <a:r>
              <a:rPr sz="1150" b="0">
                <a:solidFill>
                  <a:srgbClr val="161B26"/>
                </a:solidFill>
                <a:latin typeface="Arial"/>
              </a:rPr>
              <a:t>•  Calls dialled per day</a:t>
            </a:r>
          </a:p>
          <a:p>
            <a:pPr>
              <a:spcAft>
                <a:spcPts val="500"/>
              </a:spcAft>
            </a:pPr>
            <a:r>
              <a:rPr sz="1150" b="0">
                <a:solidFill>
                  <a:srgbClr val="161B26"/>
                </a:solidFill>
                <a:latin typeface="Arial"/>
              </a:rPr>
              <a:t>•  Easy to game, weak signal</a:t>
            </a:r>
          </a:p>
        </p:txBody>
      </p:sp>
      <p:sp>
        <p:nvSpPr>
          <p:cNvPr id="20" name="Rectangle 19"/>
          <p:cNvSpPr/>
          <p:nvPr/>
        </p:nvSpPr>
        <p:spPr>
          <a:xfrm>
            <a:off x="6350508" y="4055364"/>
            <a:ext cx="4713732" cy="1751076"/>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0508" y="4055364"/>
            <a:ext cx="4713732"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6540" y="4238244"/>
            <a:ext cx="4256532" cy="384048"/>
          </a:xfrm>
          <a:prstGeom prst="rect">
            <a:avLst/>
          </a:prstGeom>
          <a:noFill/>
        </p:spPr>
        <p:txBody>
          <a:bodyPr wrap="square" anchor="t">
            <a:spAutoFit/>
          </a:bodyPr>
          <a:lstStyle/>
          <a:p>
            <a:pPr algn="l">
              <a:spcAft>
                <a:spcPts val="400"/>
              </a:spcAft>
            </a:pPr>
            <a:r>
              <a:rPr sz="1500" b="1">
                <a:solidFill>
                  <a:srgbClr val="F59E0B"/>
                </a:solidFill>
                <a:latin typeface="Arial"/>
              </a:rPr>
              <a:t>Use Sparingly</a:t>
            </a:r>
          </a:p>
        </p:txBody>
      </p:sp>
      <p:sp>
        <p:nvSpPr>
          <p:cNvPr id="23" name="TextBox 22"/>
          <p:cNvSpPr txBox="1"/>
          <p:nvPr/>
        </p:nvSpPr>
        <p:spPr>
          <a:xfrm>
            <a:off x="6606540" y="4677156"/>
            <a:ext cx="4219956" cy="1001268"/>
          </a:xfrm>
          <a:prstGeom prst="rect">
            <a:avLst/>
          </a:prstGeom>
          <a:noFill/>
        </p:spPr>
        <p:txBody>
          <a:bodyPr wrap="square">
            <a:spAutoFit/>
          </a:bodyPr>
          <a:lstStyle/>
          <a:p>
            <a:pPr>
              <a:spcAft>
                <a:spcPts val="500"/>
              </a:spcAft>
            </a:pPr>
            <a:r>
              <a:rPr sz="1150" b="0">
                <a:solidFill>
                  <a:srgbClr val="161B26"/>
                </a:solidFill>
                <a:latin typeface="Arial"/>
              </a:rPr>
              <a:t>•  Individual win-rate leaderboards</a:t>
            </a:r>
          </a:p>
          <a:p>
            <a:pPr>
              <a:spcAft>
                <a:spcPts val="500"/>
              </a:spcAft>
            </a:pPr>
            <a:r>
              <a:rPr sz="1150" b="0">
                <a:solidFill>
                  <a:srgbClr val="161B26"/>
                </a:solidFill>
                <a:latin typeface="Arial"/>
              </a:rPr>
              <a:t>•  Costly to maintain fairly</a:t>
            </a:r>
          </a:p>
          <a:p>
            <a:pPr>
              <a:spcAft>
                <a:spcPts val="500"/>
              </a:spcAft>
            </a:pPr>
            <a:r>
              <a:rPr sz="1150" b="0">
                <a:solidFill>
                  <a:srgbClr val="161B26"/>
                </a:solidFill>
                <a:latin typeface="Arial"/>
              </a:rPr>
              <a:t>•  Can drive the wrong behaviour</a:t>
            </a:r>
          </a:p>
        </p:txBody>
      </p:sp>
      <p:sp>
        <p:nvSpPr>
          <p:cNvPr id="24" name="TextBox 23"/>
          <p:cNvSpPr txBox="1"/>
          <p:nvPr/>
        </p:nvSpPr>
        <p:spPr>
          <a:xfrm rot="16200000">
            <a:off x="182880" y="3131820"/>
            <a:ext cx="1645920" cy="1645920"/>
          </a:xfrm>
          <a:prstGeom prst="rect">
            <a:avLst/>
          </a:prstGeom>
          <a:noFill/>
        </p:spPr>
        <p:txBody>
          <a:bodyPr wrap="square" anchor="ctr">
            <a:spAutoFit/>
          </a:bodyPr>
          <a:lstStyle/>
          <a:p>
            <a:pPr algn="ctr">
              <a:spcAft>
                <a:spcPts val="400"/>
              </a:spcAft>
            </a:pPr>
            <a:r>
              <a:rPr sz="1200" b="1">
                <a:solidFill>
                  <a:srgbClr val="5B6372"/>
                </a:solidFill>
                <a:latin typeface="Arial"/>
              </a:rPr>
              <a:t>INFLUENCE ON OUTCOME →</a:t>
            </a:r>
          </a:p>
        </p:txBody>
      </p:sp>
      <p:sp>
        <p:nvSpPr>
          <p:cNvPr id="25" name="TextBox 24"/>
          <p:cNvSpPr txBox="1"/>
          <p:nvPr/>
        </p:nvSpPr>
        <p:spPr>
          <a:xfrm>
            <a:off x="1417320" y="5897880"/>
            <a:ext cx="9646920" cy="365760"/>
          </a:xfrm>
          <a:prstGeom prst="rect">
            <a:avLst/>
          </a:prstGeom>
          <a:noFill/>
        </p:spPr>
        <p:txBody>
          <a:bodyPr wrap="square" anchor="t">
            <a:spAutoFit/>
          </a:bodyPr>
          <a:lstStyle/>
          <a:p>
            <a:pPr algn="ctr">
              <a:spcAft>
                <a:spcPts val="400"/>
              </a:spcAft>
            </a:pPr>
            <a:r>
              <a:rPr sz="1200" b="1">
                <a:solidFill>
                  <a:srgbClr val="5B6372"/>
                </a:solidFill>
                <a:latin typeface="Arial"/>
              </a:rPr>
              <a:t>EFFORT TO MEASURE →</a:t>
            </a:r>
          </a:p>
        </p:txBody>
      </p:sp>
      <p:sp>
        <p:nvSpPr>
          <p:cNvPr id="26" name="TextBox 25"/>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metric-selection practice for sales performance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Sales Closure Scorecard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Illustrative quarterly scorecard — the shape your own evaluation framework should take.</a:t>
            </a:r>
          </a:p>
        </p:txBody>
      </p:sp>
      <p:sp>
        <p:nvSpPr>
          <p:cNvPr id="8" name="Rectangle 7"/>
          <p:cNvSpPr/>
          <p:nvPr/>
        </p:nvSpPr>
        <p:spPr>
          <a:xfrm>
            <a:off x="777240" y="2286000"/>
            <a:ext cx="2425446"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286000"/>
            <a:ext cx="2425446" cy="128016"/>
          </a:xfrm>
          <a:prstGeom prst="roundRect">
            <a:avLst/>
          </a:prstGeom>
          <a:gradFill rotWithShape="1">
            <a:gsLst>
              <a:gs pos="0">
                <a:srgbClr val="2A76EC"/>
              </a:gs>
              <a:gs pos="100000">
                <a:srgbClr val="1856B7"/>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61488"/>
            <a:ext cx="2425446" cy="1097280"/>
          </a:xfrm>
          <a:prstGeom prst="rect">
            <a:avLst/>
          </a:prstGeom>
          <a:noFill/>
        </p:spPr>
        <p:txBody>
          <a:bodyPr wrap="square" anchor="t">
            <a:spAutoFit/>
          </a:bodyPr>
          <a:lstStyle/>
          <a:p>
            <a:pPr algn="ctr">
              <a:spcAft>
                <a:spcPts val="400"/>
              </a:spcAft>
            </a:pPr>
            <a:r>
              <a:rPr sz="4600" b="1">
                <a:solidFill>
                  <a:srgbClr val="1F6FEB"/>
                </a:solidFill>
                <a:latin typeface="Arial"/>
              </a:rPr>
              <a:t>32%</a:t>
            </a:r>
          </a:p>
        </p:txBody>
      </p:sp>
      <p:sp>
        <p:nvSpPr>
          <p:cNvPr id="11" name="TextBox 10"/>
          <p:cNvSpPr txBox="1"/>
          <p:nvPr/>
        </p:nvSpPr>
        <p:spPr>
          <a:xfrm>
            <a:off x="960120" y="3913632"/>
            <a:ext cx="2059686" cy="822960"/>
          </a:xfrm>
          <a:prstGeom prst="rect">
            <a:avLst/>
          </a:prstGeom>
          <a:noFill/>
        </p:spPr>
        <p:txBody>
          <a:bodyPr wrap="square" anchor="t">
            <a:spAutoFit/>
          </a:bodyPr>
          <a:lstStyle/>
          <a:p>
            <a:pPr algn="ctr">
              <a:spcAft>
                <a:spcPts val="400"/>
              </a:spcAft>
            </a:pPr>
            <a:r>
              <a:rPr sz="1300" b="1">
                <a:solidFill>
                  <a:srgbClr val="161B26"/>
                </a:solidFill>
                <a:latin typeface="Arial"/>
              </a:rPr>
              <a:t>Close rate</a:t>
            </a:r>
          </a:p>
        </p:txBody>
      </p:sp>
      <p:sp>
        <p:nvSpPr>
          <p:cNvPr id="12" name="TextBox 11"/>
          <p:cNvSpPr txBox="1"/>
          <p:nvPr/>
        </p:nvSpPr>
        <p:spPr>
          <a:xfrm>
            <a:off x="960120" y="4507992"/>
            <a:ext cx="2059686" cy="457200"/>
          </a:xfrm>
          <a:prstGeom prst="rect">
            <a:avLst/>
          </a:prstGeom>
          <a:noFill/>
        </p:spPr>
        <p:txBody>
          <a:bodyPr wrap="square" anchor="t">
            <a:spAutoFit/>
          </a:bodyPr>
          <a:lstStyle/>
          <a:p>
            <a:pPr algn="ctr">
              <a:spcAft>
                <a:spcPts val="400"/>
              </a:spcAft>
            </a:pPr>
            <a:r>
              <a:rPr sz="1200" b="1">
                <a:solidFill>
                  <a:srgbClr val="10B981"/>
                </a:solidFill>
                <a:latin typeface="Arial"/>
              </a:rPr>
              <a:t>▲  </a:t>
            </a:r>
            <a:r>
              <a:rPr sz="1150" b="0">
                <a:solidFill>
                  <a:srgbClr val="5B6372"/>
                </a:solidFill>
                <a:latin typeface="Arial"/>
              </a:rPr>
              <a:t>proposals converting to signed deals</a:t>
            </a:r>
          </a:p>
        </p:txBody>
      </p:sp>
      <p:sp>
        <p:nvSpPr>
          <p:cNvPr id="13" name="Rectangle 12"/>
          <p:cNvSpPr/>
          <p:nvPr/>
        </p:nvSpPr>
        <p:spPr>
          <a:xfrm>
            <a:off x="3513582" y="2286000"/>
            <a:ext cx="2425446"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13582" y="2286000"/>
            <a:ext cx="2425446" cy="128016"/>
          </a:xfrm>
          <a:prstGeom prst="roundRect">
            <a:avLst/>
          </a:prstGeom>
          <a:gradFill rotWithShape="1">
            <a:gsLst>
              <a:gs pos="0">
                <a:srgbClr val="1BBC87"/>
              </a:gs>
              <a:gs pos="100000">
                <a:srgbClr val="0C9064"/>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3582" y="2761488"/>
            <a:ext cx="2425446" cy="1097280"/>
          </a:xfrm>
          <a:prstGeom prst="rect">
            <a:avLst/>
          </a:prstGeom>
          <a:noFill/>
        </p:spPr>
        <p:txBody>
          <a:bodyPr wrap="square" anchor="t">
            <a:spAutoFit/>
          </a:bodyPr>
          <a:lstStyle/>
          <a:p>
            <a:pPr algn="ctr">
              <a:spcAft>
                <a:spcPts val="400"/>
              </a:spcAft>
            </a:pPr>
            <a:r>
              <a:rPr sz="3600" b="1">
                <a:solidFill>
                  <a:srgbClr val="10B981"/>
                </a:solidFill>
                <a:latin typeface="Arial"/>
              </a:rPr>
              <a:t>41 days</a:t>
            </a:r>
          </a:p>
        </p:txBody>
      </p:sp>
      <p:sp>
        <p:nvSpPr>
          <p:cNvPr id="16" name="TextBox 15"/>
          <p:cNvSpPr txBox="1"/>
          <p:nvPr/>
        </p:nvSpPr>
        <p:spPr>
          <a:xfrm>
            <a:off x="3696462" y="3913632"/>
            <a:ext cx="2059686" cy="822960"/>
          </a:xfrm>
          <a:prstGeom prst="rect">
            <a:avLst/>
          </a:prstGeom>
          <a:noFill/>
        </p:spPr>
        <p:txBody>
          <a:bodyPr wrap="square" anchor="t">
            <a:spAutoFit/>
          </a:bodyPr>
          <a:lstStyle/>
          <a:p>
            <a:pPr algn="ctr">
              <a:spcAft>
                <a:spcPts val="400"/>
              </a:spcAft>
            </a:pPr>
            <a:r>
              <a:rPr sz="1300" b="1">
                <a:solidFill>
                  <a:srgbClr val="161B26"/>
                </a:solidFill>
                <a:latin typeface="Arial"/>
              </a:rPr>
              <a:t>Cycle length</a:t>
            </a:r>
          </a:p>
        </p:txBody>
      </p:sp>
      <p:sp>
        <p:nvSpPr>
          <p:cNvPr id="17" name="TextBox 16"/>
          <p:cNvSpPr txBox="1"/>
          <p:nvPr/>
        </p:nvSpPr>
        <p:spPr>
          <a:xfrm>
            <a:off x="3696462" y="4507992"/>
            <a:ext cx="2059686" cy="457200"/>
          </a:xfrm>
          <a:prstGeom prst="rect">
            <a:avLst/>
          </a:prstGeom>
          <a:noFill/>
        </p:spPr>
        <p:txBody>
          <a:bodyPr wrap="square" anchor="t">
            <a:spAutoFit/>
          </a:bodyPr>
          <a:lstStyle/>
          <a:p>
            <a:pPr algn="ctr">
              <a:spcAft>
                <a:spcPts val="400"/>
              </a:spcAft>
            </a:pPr>
            <a:r>
              <a:rPr sz="1200" b="1">
                <a:solidFill>
                  <a:srgbClr val="C03939"/>
                </a:solidFill>
                <a:latin typeface="Arial"/>
              </a:rPr>
              <a:t>▼  </a:t>
            </a:r>
            <a:r>
              <a:rPr sz="1150" b="0">
                <a:solidFill>
                  <a:srgbClr val="5B6372"/>
                </a:solidFill>
                <a:latin typeface="Arial"/>
              </a:rPr>
              <a:t>first conversation to signature</a:t>
            </a:r>
          </a:p>
        </p:txBody>
      </p:sp>
      <p:sp>
        <p:nvSpPr>
          <p:cNvPr id="18" name="Rectangle 17"/>
          <p:cNvSpPr/>
          <p:nvPr/>
        </p:nvSpPr>
        <p:spPr>
          <a:xfrm>
            <a:off x="6249924" y="2286000"/>
            <a:ext cx="2425446"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49924" y="2286000"/>
            <a:ext cx="2425446" cy="128016"/>
          </a:xfrm>
          <a:prstGeom prst="roundRect">
            <a:avLst/>
          </a:prstGeom>
          <a:gradFill rotWithShape="1">
            <a:gsLst>
              <a:gs pos="0">
                <a:srgbClr val="8243ED"/>
              </a:gs>
              <a:gs pos="100000">
                <a:srgbClr val="602DB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9924" y="2761488"/>
            <a:ext cx="2425446" cy="1097280"/>
          </a:xfrm>
          <a:prstGeom prst="rect">
            <a:avLst/>
          </a:prstGeom>
          <a:noFill/>
        </p:spPr>
        <p:txBody>
          <a:bodyPr wrap="square" anchor="t">
            <a:spAutoFit/>
          </a:bodyPr>
          <a:lstStyle/>
          <a:p>
            <a:pPr algn="ctr">
              <a:spcAft>
                <a:spcPts val="400"/>
              </a:spcAft>
            </a:pPr>
            <a:r>
              <a:rPr sz="4600" b="1">
                <a:solidFill>
                  <a:srgbClr val="7C3AED"/>
                </a:solidFill>
                <a:latin typeface="Arial"/>
              </a:rPr>
              <a:t>6.2%</a:t>
            </a:r>
          </a:p>
        </p:txBody>
      </p:sp>
      <p:sp>
        <p:nvSpPr>
          <p:cNvPr id="21" name="TextBox 20"/>
          <p:cNvSpPr txBox="1"/>
          <p:nvPr/>
        </p:nvSpPr>
        <p:spPr>
          <a:xfrm>
            <a:off x="6432804" y="3913632"/>
            <a:ext cx="2059686" cy="822960"/>
          </a:xfrm>
          <a:prstGeom prst="rect">
            <a:avLst/>
          </a:prstGeom>
          <a:noFill/>
        </p:spPr>
        <p:txBody>
          <a:bodyPr wrap="square" anchor="t">
            <a:spAutoFit/>
          </a:bodyPr>
          <a:lstStyle/>
          <a:p>
            <a:pPr algn="ctr">
              <a:spcAft>
                <a:spcPts val="400"/>
              </a:spcAft>
            </a:pPr>
            <a:r>
              <a:rPr sz="1300" b="1">
                <a:solidFill>
                  <a:srgbClr val="161B26"/>
                </a:solidFill>
                <a:latin typeface="Arial"/>
              </a:rPr>
              <a:t>Average discount</a:t>
            </a:r>
          </a:p>
        </p:txBody>
      </p:sp>
      <p:sp>
        <p:nvSpPr>
          <p:cNvPr id="22" name="TextBox 21"/>
          <p:cNvSpPr txBox="1"/>
          <p:nvPr/>
        </p:nvSpPr>
        <p:spPr>
          <a:xfrm>
            <a:off x="6432804" y="4507992"/>
            <a:ext cx="2059686" cy="457200"/>
          </a:xfrm>
          <a:prstGeom prst="rect">
            <a:avLst/>
          </a:prstGeom>
          <a:noFill/>
        </p:spPr>
        <p:txBody>
          <a:bodyPr wrap="square" anchor="t">
            <a:spAutoFit/>
          </a:bodyPr>
          <a:lstStyle/>
          <a:p>
            <a:pPr algn="ctr">
              <a:spcAft>
                <a:spcPts val="400"/>
              </a:spcAft>
            </a:pPr>
            <a:r>
              <a:rPr sz="1200" b="1">
                <a:solidFill>
                  <a:srgbClr val="C03939"/>
                </a:solidFill>
                <a:latin typeface="Arial"/>
              </a:rPr>
              <a:t>▼  </a:t>
            </a:r>
            <a:r>
              <a:rPr sz="1150" b="0">
                <a:solidFill>
                  <a:srgbClr val="5B6372"/>
                </a:solidFill>
                <a:latin typeface="Arial"/>
              </a:rPr>
              <a:t>given against list price</a:t>
            </a:r>
          </a:p>
        </p:txBody>
      </p:sp>
      <p:sp>
        <p:nvSpPr>
          <p:cNvPr id="23" name="Rectangle 22"/>
          <p:cNvSpPr/>
          <p:nvPr/>
        </p:nvSpPr>
        <p:spPr>
          <a:xfrm>
            <a:off x="8986266" y="2286000"/>
            <a:ext cx="2425446" cy="2880360"/>
          </a:xfrm>
          <a:prstGeom prst="rect">
            <a:avLst/>
          </a:prstGeom>
          <a:solidFill>
            <a:srgbClr val="FFFFFF"/>
          </a:solidFill>
          <a:ln w="12700">
            <a:solidFill>
              <a:srgbClr val="E2E8F0"/>
            </a:solidFill>
          </a:ln>
          <a:effectLst>
            <a:outerShdw blurRad="76200" dist="31750" dir="5400000" rotWithShape="0">
              <a:srgbClr val="8A94A6">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986266" y="2286000"/>
            <a:ext cx="2425446" cy="128016"/>
          </a:xfrm>
          <a:prstGeom prst="roundRect">
            <a:avLst/>
          </a:prstGeom>
          <a:gradFill rotWithShape="1">
            <a:gsLst>
              <a:gs pos="0">
                <a:srgbClr val="F5A217"/>
              </a:gs>
              <a:gs pos="100000">
                <a:srgbClr val="BF7B08"/>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86266" y="2761488"/>
            <a:ext cx="2425446" cy="1097280"/>
          </a:xfrm>
          <a:prstGeom prst="rect">
            <a:avLst/>
          </a:prstGeom>
          <a:noFill/>
        </p:spPr>
        <p:txBody>
          <a:bodyPr wrap="square" anchor="t">
            <a:spAutoFit/>
          </a:bodyPr>
          <a:lstStyle/>
          <a:p>
            <a:pPr algn="ctr">
              <a:spcAft>
                <a:spcPts val="400"/>
              </a:spcAft>
            </a:pPr>
            <a:r>
              <a:rPr sz="4600" b="1">
                <a:solidFill>
                  <a:srgbClr val="F59E0B"/>
                </a:solidFill>
                <a:latin typeface="Arial"/>
              </a:rPr>
              <a:t>+48</a:t>
            </a:r>
          </a:p>
        </p:txBody>
      </p:sp>
      <p:sp>
        <p:nvSpPr>
          <p:cNvPr id="26" name="TextBox 25"/>
          <p:cNvSpPr txBox="1"/>
          <p:nvPr/>
        </p:nvSpPr>
        <p:spPr>
          <a:xfrm>
            <a:off x="9169146" y="3913632"/>
            <a:ext cx="2059686" cy="822960"/>
          </a:xfrm>
          <a:prstGeom prst="rect">
            <a:avLst/>
          </a:prstGeom>
          <a:noFill/>
        </p:spPr>
        <p:txBody>
          <a:bodyPr wrap="square" anchor="t">
            <a:spAutoFit/>
          </a:bodyPr>
          <a:lstStyle/>
          <a:p>
            <a:pPr algn="ctr">
              <a:spcAft>
                <a:spcPts val="400"/>
              </a:spcAft>
            </a:pPr>
            <a:r>
              <a:rPr sz="1300" b="1">
                <a:solidFill>
                  <a:srgbClr val="161B26"/>
                </a:solidFill>
                <a:latin typeface="Arial"/>
              </a:rPr>
              <a:t>NPS at handoff</a:t>
            </a:r>
          </a:p>
        </p:txBody>
      </p:sp>
      <p:sp>
        <p:nvSpPr>
          <p:cNvPr id="27" name="TextBox 26"/>
          <p:cNvSpPr txBox="1"/>
          <p:nvPr/>
        </p:nvSpPr>
        <p:spPr>
          <a:xfrm>
            <a:off x="9169146" y="4507992"/>
            <a:ext cx="2059686" cy="457200"/>
          </a:xfrm>
          <a:prstGeom prst="rect">
            <a:avLst/>
          </a:prstGeom>
          <a:noFill/>
        </p:spPr>
        <p:txBody>
          <a:bodyPr wrap="square" anchor="t">
            <a:spAutoFit/>
          </a:bodyPr>
          <a:lstStyle/>
          <a:p>
            <a:pPr algn="ctr">
              <a:spcAft>
                <a:spcPts val="400"/>
              </a:spcAft>
            </a:pPr>
            <a:r>
              <a:rPr sz="1200" b="1">
                <a:solidFill>
                  <a:srgbClr val="10B981"/>
                </a:solidFill>
                <a:latin typeface="Arial"/>
              </a:rPr>
              <a:t>▲  </a:t>
            </a:r>
            <a:r>
              <a:rPr sz="1150" b="0">
                <a:solidFill>
                  <a:srgbClr val="5B6372"/>
                </a:solidFill>
                <a:latin typeface="Arial"/>
              </a:rPr>
              <a:t>customer sentiment entering onboarding</a:t>
            </a:r>
          </a:p>
        </p:txBody>
      </p:sp>
      <p:sp>
        <p:nvSpPr>
          <p:cNvPr id="28" name="Rectangle 27"/>
          <p:cNvSpPr/>
          <p:nvPr/>
        </p:nvSpPr>
        <p:spPr>
          <a:xfrm>
            <a:off x="777240" y="562356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623560"/>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623560"/>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Illustrative targets — a falling cycle length and a falling discount depth together are the clearest sign that value selling is working.</a:t>
            </a:r>
          </a:p>
        </p:txBody>
      </p:sp>
      <p:sp>
        <p:nvSpPr>
          <p:cNvPr id="31" name="TextBox 30"/>
          <p:cNvSpPr txBox="1"/>
          <p:nvPr/>
        </p:nvSpPr>
        <p:spPr>
          <a:xfrm>
            <a:off x="777240" y="6144768"/>
            <a:ext cx="10607040" cy="256032"/>
          </a:xfrm>
          <a:prstGeom prst="rect">
            <a:avLst/>
          </a:prstGeom>
          <a:noFill/>
        </p:spPr>
        <p:txBody>
          <a:bodyPr wrap="square" anchor="t">
            <a:spAutoFit/>
          </a:bodyPr>
          <a:lstStyle/>
          <a:p>
            <a:pPr algn="l">
              <a:spcAft>
                <a:spcPts val="400"/>
              </a:spcAft>
            </a:pPr>
            <a:r>
              <a:rPr sz="1000" b="0">
                <a:solidFill>
                  <a:srgbClr val="5B6372"/>
                </a:solidFill>
                <a:latin typeface="Arial"/>
              </a:rPr>
              <a:t>Source: illustrative sales-closure scorecard, performance-management practice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ROLE PLAY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Handling Objections &amp; Rejections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Sophie sells a high-end home security system. Tom is a homeowner in Bukit Timah whose neighbour was burgled six weeks ago. He requested the quotation himself, sat through the full home assessment, and agreed the system is exactly what he wants.</a:t>
            </a:r>
          </a:p>
          <a:p>
            <a:pPr algn="l">
              <a:spcAft>
                <a:spcPts val="800"/>
              </a:spcAft>
            </a:pPr>
            <a:r>
              <a:rPr sz="1450" b="0">
                <a:solidFill>
                  <a:srgbClr val="161B26"/>
                </a:solidFill>
                <a:latin typeface="Arial"/>
              </a:rPr>
              <a:t>Then the price came up. Tom's first response is that it costs more than he wanted to spend — but he does not say that his real constraint is a renovation bill arriving next month, and he is slightly embarrassed about it. Later in the conversation he attempts an outright rejection to end the discomfort.</a:t>
            </a:r>
          </a:p>
          <a:p>
            <a:pPr algn="l">
              <a:spcAft>
                <a:spcPts val="800"/>
              </a:spcAft>
            </a:pPr>
            <a:r>
              <a:rPr sz="1450" b="0">
                <a:solidFill>
                  <a:srgbClr val="161B26"/>
                </a:solidFill>
                <a:latin typeface="Arial"/>
              </a:rPr>
              <a:t>The scene requires Sophie to tell an objection from a deflection from a genuine rejection, validate before solving, use Answer &amp; Ask and a well-matched testimonial, stay composed when Tom becomes short with her, and handle the rejection attempt in a way that keeps the relationship — and the door — open.</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Objection-Handling Observer Scorecard labelling each response as objection / deflection / rejection, with the matching technique used and the exact validating line quoted</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1 hour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ROLE PLAY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Handling Objections &amp; Rejections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Sophie — Sales Rep, Home Security</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Diagnose each response correctly and respond with empathy before evidence</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Must resist rebutting the price objection with more features. Her task is to validate first, ask the question that surfaces the real constraint, and offer a genuine option — staged installation — rather than a discount.</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Tom — Homeowner, Bukit Timah</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Protect his budget and his pride without admitting the real reason</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Genuinely wants the system. Raises price as the objection, deflects when asked directly, and if pushed will attempt a flat rejection to escape the discomfort. Will reveal the renovation bill ONLY if Sophie validates him first and asks well.</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Observer / Coach</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Score the diagnosis, the validation and the composure</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Marks each of Tom's responses as objection, deflection or rejection, and checks whether Sophie's reply matched. Notes whether validation came before the answer, and whether Sophie stayed composed when Tom became short.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wipe dir="l"/>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ROLE PLAY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Handling Objections &amp; Rejections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234184"/>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234184"/>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597152" y="2148840"/>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Label each of Tom's three responses: objection, deflection or rejection. Did Sophie's reply match the diagnosis each time?</a:t>
            </a:r>
          </a:p>
        </p:txBody>
      </p:sp>
      <p:sp>
        <p:nvSpPr>
          <p:cNvPr id="13" name="Rectangle 12"/>
          <p:cNvSpPr/>
          <p:nvPr/>
        </p:nvSpPr>
        <p:spPr>
          <a:xfrm>
            <a:off x="777240" y="2828544"/>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828544"/>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2913888"/>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2913888"/>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597152" y="2828544"/>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Where exactly did Sophie validate before solving — and was there a moment she jumped straight to the answer?</a:t>
            </a:r>
          </a:p>
        </p:txBody>
      </p:sp>
      <p:sp>
        <p:nvSpPr>
          <p:cNvPr id="18" name="Rectangle 17"/>
          <p:cNvSpPr/>
          <p:nvPr/>
        </p:nvSpPr>
        <p:spPr>
          <a:xfrm>
            <a:off x="777240" y="3508248"/>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508248"/>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3593592"/>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3593592"/>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597152" y="3508248"/>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Which question finally surfaced the renovation bill? What made it safe enough for Tom to admit it?</a:t>
            </a:r>
          </a:p>
        </p:txBody>
      </p:sp>
      <p:sp>
        <p:nvSpPr>
          <p:cNvPr id="23" name="Rectangle 22"/>
          <p:cNvSpPr/>
          <p:nvPr/>
        </p:nvSpPr>
        <p:spPr>
          <a:xfrm>
            <a:off x="777240" y="4187952"/>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187952"/>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4273296"/>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4273296"/>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597152" y="4187952"/>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When Tom became short and folded his arms, what did Sophie do with her own reaction? What would the five-step routine have changed?</a:t>
            </a:r>
          </a:p>
        </p:txBody>
      </p:sp>
      <p:sp>
        <p:nvSpPr>
          <p:cNvPr id="28" name="Rectangle 27"/>
          <p:cNvSpPr/>
          <p:nvPr/>
        </p:nvSpPr>
        <p:spPr>
          <a:xfrm>
            <a:off x="777240" y="4867656"/>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867656"/>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78408" y="4953000"/>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 y="4953000"/>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2" name="TextBox 31"/>
          <p:cNvSpPr txBox="1"/>
          <p:nvPr/>
        </p:nvSpPr>
        <p:spPr>
          <a:xfrm>
            <a:off x="1597152" y="4867656"/>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Was the testimonial well matched to Tom, and was it deployed at the right moment?</a:t>
            </a:r>
          </a:p>
        </p:txBody>
      </p:sp>
      <p:sp>
        <p:nvSpPr>
          <p:cNvPr id="33" name="Rectangle 32"/>
          <p:cNvSpPr/>
          <p:nvPr/>
        </p:nvSpPr>
        <p:spPr>
          <a:xfrm>
            <a:off x="777240" y="5547360"/>
            <a:ext cx="10634472" cy="53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547360"/>
            <a:ext cx="73152" cy="53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8408" y="5632704"/>
            <a:ext cx="362712" cy="3627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8" y="5632704"/>
            <a:ext cx="362712" cy="362712"/>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7" name="TextBox 36"/>
          <p:cNvSpPr txBox="1"/>
          <p:nvPr/>
        </p:nvSpPr>
        <p:spPr>
          <a:xfrm>
            <a:off x="1597152" y="5547360"/>
            <a:ext cx="9448800" cy="533400"/>
          </a:xfrm>
          <a:prstGeom prst="rect">
            <a:avLst/>
          </a:prstGeom>
          <a:noFill/>
        </p:spPr>
        <p:txBody>
          <a:bodyPr wrap="square" anchor="ctr">
            <a:spAutoFit/>
          </a:bodyPr>
          <a:lstStyle/>
          <a:p>
            <a:pPr algn="l">
              <a:spcAft>
                <a:spcPts val="400"/>
              </a:spcAft>
            </a:pPr>
            <a:r>
              <a:rPr sz="1300" b="0">
                <a:solidFill>
                  <a:srgbClr val="161B26"/>
                </a:solidFill>
                <a:latin typeface="Arial"/>
              </a:rPr>
              <a:t>Tom attempted an outright rejection. Did Sophie keep the door open in a way that was genuine rather than pushy?</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wipe dir="l"/>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ROLE PLAY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Role Play: Handling Objections &amp; Rejections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What is the cost of misdiagnosing a deflection as a rejection — and vice versa?</a:t>
            </a:r>
          </a:p>
          <a:p>
            <a:pPr>
              <a:spcAft>
                <a:spcPts val="900"/>
              </a:spcAft>
            </a:pPr>
            <a:r>
              <a:rPr sz="1450" b="0">
                <a:solidFill>
                  <a:srgbClr val="161B26"/>
                </a:solidFill>
                <a:latin typeface="Arial"/>
              </a:rPr>
              <a:t>•  How did naming Tom's feeling out loud change the temperature of the conversation?</a:t>
            </a:r>
          </a:p>
          <a:p>
            <a:pPr>
              <a:spcAft>
                <a:spcPts val="900"/>
              </a:spcAft>
            </a:pPr>
            <a:r>
              <a:rPr sz="1450" b="0">
                <a:solidFill>
                  <a:srgbClr val="161B26"/>
                </a:solidFill>
                <a:latin typeface="Arial"/>
              </a:rPr>
              <a:t>•  Which objection in your own work have you been arguing with instead of validating?</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observer can label all three of Tom's responses correctly, quote the line where Sophie validated before answering, name the question that surfaced the real constraint, and describe how the rejection attempt was handled without either caving or pushing.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Handling Objections &amp; Rejections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Objection vs Deflection vs Rejection</a:t>
            </a:r>
          </a:p>
          <a:p>
            <a:pPr algn="l">
              <a:spcAft>
                <a:spcPts val="300"/>
              </a:spcAft>
            </a:pPr>
            <a:r>
              <a:rPr sz="1100" b="0">
                <a:solidFill>
                  <a:srgbClr val="5B6372"/>
                </a:solidFill>
                <a:latin typeface="Arial"/>
              </a:rPr>
              <a:t>You can now: tell an objection, a deflection and a rejection apart and respond correctly to each.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Objection-Handling Framework</a:t>
            </a:r>
          </a:p>
          <a:p>
            <a:pPr algn="l">
              <a:spcAft>
                <a:spcPts val="300"/>
              </a:spcAft>
            </a:pPr>
            <a:r>
              <a:rPr sz="1100" b="0">
                <a:solidFill>
                  <a:srgbClr val="5B6372"/>
                </a:solidFill>
                <a:latin typeface="Arial"/>
              </a:rPr>
              <a:t>You can now: apply a structured, empathy-first sequence to any objection raised.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Staying Composed Under Pressure</a:t>
            </a:r>
          </a:p>
          <a:p>
            <a:pPr algn="l">
              <a:spcAft>
                <a:spcPts val="300"/>
              </a:spcAft>
            </a:pPr>
            <a:r>
              <a:rPr sz="1100" b="0">
                <a:solidFill>
                  <a:srgbClr val="5B6372"/>
                </a:solidFill>
                <a:latin typeface="Arial"/>
              </a:rPr>
              <a:t>You can now: regulate your own emotional response so a hostile objection does not derail the call.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Testimonials &amp; Social Proof</a:t>
            </a:r>
          </a:p>
          <a:p>
            <a:pPr algn="l">
              <a:spcAft>
                <a:spcPts val="300"/>
              </a:spcAft>
            </a:pPr>
            <a:r>
              <a:rPr sz="1100" b="0">
                <a:solidFill>
                  <a:srgbClr val="5B6372"/>
                </a:solidFill>
                <a:latin typeface="Arial"/>
              </a:rPr>
              <a:t>You can now: use evidence and social proof to convert scepticism without arguing.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Metrics of the Sales Closure Process</a:t>
            </a:r>
          </a:p>
          <a:p>
            <a:pPr algn="l">
              <a:spcAft>
                <a:spcPts val="300"/>
              </a:spcAft>
            </a:pPr>
            <a:r>
              <a:rPr sz="1100" b="0">
                <a:solidFill>
                  <a:srgbClr val="5B6372"/>
                </a:solidFill>
                <a:latin typeface="Arial"/>
              </a:rPr>
              <a:t>You can now: define organisational evaluation metrics that make sales closure measurable and improvable.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 Play: Handling Objections &amp; Rejections</a:t>
            </a:r>
          </a:p>
          <a:p>
            <a:pPr algn="l">
              <a:spcAft>
                <a:spcPts val="300"/>
              </a:spcAft>
            </a:pPr>
            <a:r>
              <a:rPr sz="1100" b="0">
                <a:solidFill>
                  <a:srgbClr val="5B6372"/>
                </a:solidFill>
                <a:latin typeface="Arial"/>
              </a:rPr>
              <a:t>You practised: diagnose and respond to objections, deflections and a rejection using empathy-first technique.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LU4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objection is not a wall. It's a door that hasn't been shown how to open yet.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LU4: Handling Objections &amp; Rejections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zoom/>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Empathy-Driven Closing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01</a:t>
            </a:r>
          </a:p>
        </p:txBody>
      </p:sp>
      <p:sp>
        <p:nvSpPr>
          <p:cNvPr id="8" name="TextBox 7"/>
          <p:cNvSpPr txBox="1"/>
          <p:nvPr/>
        </p:nvSpPr>
        <p:spPr>
          <a:xfrm>
            <a:off x="777240" y="2697480"/>
            <a:ext cx="2425446" cy="685800"/>
          </a:xfrm>
          <a:prstGeom prst="rect">
            <a:avLst/>
          </a:prstGeom>
          <a:noFill/>
        </p:spPr>
        <p:txBody>
          <a:bodyPr wrap="square" anchor="t">
            <a:spAutoFit/>
          </a:bodyPr>
          <a:lstStyle/>
          <a:p>
            <a:pPr algn="l">
              <a:spcAft>
                <a:spcPts val="400"/>
              </a:spcAft>
            </a:pPr>
            <a:r>
              <a:rPr sz="1600" b="1">
                <a:solidFill>
                  <a:srgbClr val="1F6FEB"/>
                </a:solidFill>
                <a:latin typeface="Arial"/>
              </a:rPr>
              <a:t>Sell Like a Human</a:t>
            </a:r>
          </a:p>
        </p:txBody>
      </p:sp>
      <p:sp>
        <p:nvSpPr>
          <p:cNvPr id="9" name="TextBox 8"/>
          <p:cNvSpPr txBox="1"/>
          <p:nvPr/>
        </p:nvSpPr>
        <p:spPr>
          <a:xfrm>
            <a:off x="777240"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Mindset, trust and discovery come before any technique or script (LU1).</a:t>
            </a:r>
          </a:p>
        </p:txBody>
      </p:sp>
      <p:sp>
        <p:nvSpPr>
          <p:cNvPr id="10" name="TextBox 9"/>
          <p:cNvSpPr txBox="1"/>
          <p:nvPr/>
        </p:nvSpPr>
        <p:spPr>
          <a:xfrm>
            <a:off x="3513582"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02</a:t>
            </a:r>
          </a:p>
        </p:txBody>
      </p:sp>
      <p:sp>
        <p:nvSpPr>
          <p:cNvPr id="11" name="TextBox 10"/>
          <p:cNvSpPr txBox="1"/>
          <p:nvPr/>
        </p:nvSpPr>
        <p:spPr>
          <a:xfrm>
            <a:off x="3513582" y="2697480"/>
            <a:ext cx="2425446" cy="685800"/>
          </a:xfrm>
          <a:prstGeom prst="rect">
            <a:avLst/>
          </a:prstGeom>
          <a:noFill/>
        </p:spPr>
        <p:txBody>
          <a:bodyPr wrap="square" anchor="t">
            <a:spAutoFit/>
          </a:bodyPr>
          <a:lstStyle/>
          <a:p>
            <a:pPr algn="l">
              <a:spcAft>
                <a:spcPts val="400"/>
              </a:spcAft>
            </a:pPr>
            <a:r>
              <a:rPr sz="1600" b="1">
                <a:solidFill>
                  <a:srgbClr val="10B981"/>
                </a:solidFill>
                <a:latin typeface="Arial"/>
              </a:rPr>
              <a:t>Solve Before You Pitch</a:t>
            </a:r>
          </a:p>
        </p:txBody>
      </p:sp>
      <p:sp>
        <p:nvSpPr>
          <p:cNvPr id="12" name="TextBox 11"/>
          <p:cNvSpPr txBox="1"/>
          <p:nvPr/>
        </p:nvSpPr>
        <p:spPr>
          <a:xfrm>
            <a:off x="3513582"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Educate, demonstrate and earn buy-in before ever upselling (LU2).</a:t>
            </a:r>
          </a:p>
        </p:txBody>
      </p:sp>
      <p:sp>
        <p:nvSpPr>
          <p:cNvPr id="13" name="TextBox 12"/>
          <p:cNvSpPr txBox="1"/>
          <p:nvPr/>
        </p:nvSpPr>
        <p:spPr>
          <a:xfrm>
            <a:off x="6249924"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03</a:t>
            </a:r>
          </a:p>
        </p:txBody>
      </p:sp>
      <p:sp>
        <p:nvSpPr>
          <p:cNvPr id="14" name="TextBox 13"/>
          <p:cNvSpPr txBox="1"/>
          <p:nvPr/>
        </p:nvSpPr>
        <p:spPr>
          <a:xfrm>
            <a:off x="6249924" y="2697480"/>
            <a:ext cx="2425446" cy="685800"/>
          </a:xfrm>
          <a:prstGeom prst="rect">
            <a:avLst/>
          </a:prstGeom>
          <a:noFill/>
        </p:spPr>
        <p:txBody>
          <a:bodyPr wrap="square" anchor="t">
            <a:spAutoFit/>
          </a:bodyPr>
          <a:lstStyle/>
          <a:p>
            <a:pPr algn="l">
              <a:spcAft>
                <a:spcPts val="400"/>
              </a:spcAft>
            </a:pPr>
            <a:r>
              <a:rPr sz="1600" b="1">
                <a:solidFill>
                  <a:srgbClr val="7C3AED"/>
                </a:solidFill>
                <a:latin typeface="Arial"/>
              </a:rPr>
              <a:t>Make It Easy to Say Yes</a:t>
            </a:r>
          </a:p>
        </p:txBody>
      </p:sp>
      <p:sp>
        <p:nvSpPr>
          <p:cNvPr id="15" name="TextBox 14"/>
          <p:cNvSpPr txBox="1"/>
          <p:nvPr/>
        </p:nvSpPr>
        <p:spPr>
          <a:xfrm>
            <a:off x="6249924"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Justify value, simplify the process, and follow up properly (LU3).</a:t>
            </a:r>
          </a:p>
        </p:txBody>
      </p:sp>
      <p:sp>
        <p:nvSpPr>
          <p:cNvPr id="16" name="TextBox 15"/>
          <p:cNvSpPr txBox="1"/>
          <p:nvPr/>
        </p:nvSpPr>
        <p:spPr>
          <a:xfrm>
            <a:off x="8986266"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04</a:t>
            </a:r>
          </a:p>
        </p:txBody>
      </p:sp>
      <p:sp>
        <p:nvSpPr>
          <p:cNvPr id="17" name="TextBox 16"/>
          <p:cNvSpPr txBox="1"/>
          <p:nvPr/>
        </p:nvSpPr>
        <p:spPr>
          <a:xfrm>
            <a:off x="8986266" y="2697480"/>
            <a:ext cx="2425446" cy="685800"/>
          </a:xfrm>
          <a:prstGeom prst="rect">
            <a:avLst/>
          </a:prstGeom>
          <a:noFill/>
        </p:spPr>
        <p:txBody>
          <a:bodyPr wrap="square" anchor="t">
            <a:spAutoFit/>
          </a:bodyPr>
          <a:lstStyle/>
          <a:p>
            <a:pPr algn="l">
              <a:spcAft>
                <a:spcPts val="400"/>
              </a:spcAft>
            </a:pPr>
            <a:r>
              <a:rPr sz="1600" b="1">
                <a:solidFill>
                  <a:srgbClr val="F59E0B"/>
                </a:solidFill>
                <a:latin typeface="Arial"/>
              </a:rPr>
              <a:t>Turn Objections Into Trust</a:t>
            </a:r>
          </a:p>
        </p:txBody>
      </p:sp>
      <p:sp>
        <p:nvSpPr>
          <p:cNvPr id="18" name="TextBox 17"/>
          <p:cNvSpPr txBox="1"/>
          <p:nvPr/>
        </p:nvSpPr>
        <p:spPr>
          <a:xfrm>
            <a:off x="8986266"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Answer, ask and use evidence instead of arguing (LU4).</a:t>
            </a:r>
          </a:p>
        </p:txBody>
      </p:sp>
      <p:sp>
        <p:nvSpPr>
          <p:cNvPr id="19" name="Rectangle 18"/>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Every technique in this course fails without empathy underneath it. Lead with the human being in front of you, and the close takes care of itself.</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Foundations of Selling</a:t>
            </a:r>
          </a:p>
          <a:p>
            <a:pPr algn="l">
              <a:spcAft>
                <a:spcPts val="300"/>
              </a:spcAft>
            </a:pPr>
            <a:r>
              <a:rPr sz="1200" b="0">
                <a:solidFill>
                  <a:srgbClr val="5B6372"/>
                </a:solidFill>
                <a:latin typeface="Arial"/>
              </a:rPr>
              <a:t>Built a confident, human, empathy-driven mindset and a real discovery skillset.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Selling Techniques &amp; Problem-Solving</a:t>
            </a:r>
          </a:p>
          <a:p>
            <a:pPr algn="l">
              <a:spcAft>
                <a:spcPts val="300"/>
              </a:spcAft>
            </a:pPr>
            <a:r>
              <a:rPr sz="1200" b="0">
                <a:solidFill>
                  <a:srgbClr val="5B6372"/>
                </a:solidFill>
                <a:latin typeface="Arial"/>
              </a:rPr>
              <a:t>Ran a tailored demo and applied upselling/cross-selling with the right timing.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Closing the Sale</a:t>
            </a:r>
          </a:p>
          <a:p>
            <a:pPr algn="l">
              <a:spcAft>
                <a:spcPts val="300"/>
              </a:spcAft>
            </a:pPr>
            <a:r>
              <a:rPr sz="1200" b="0">
                <a:solidFill>
                  <a:srgbClr val="5B6372"/>
                </a:solidFill>
                <a:latin typeface="Arial"/>
              </a:rPr>
              <a:t>Justified price with value, used mini closes and followed up properly.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Handling Objections &amp; Rejections</a:t>
            </a:r>
          </a:p>
          <a:p>
            <a:pPr algn="l">
              <a:spcAft>
                <a:spcPts val="300"/>
              </a:spcAft>
            </a:pPr>
            <a:r>
              <a:rPr sz="1200" b="0">
                <a:solidFill>
                  <a:srgbClr val="5B6372"/>
                </a:solidFill>
                <a:latin typeface="Arial"/>
              </a:rPr>
              <a:t>Told objection, deflection and rejection apart, and responded to each correctly.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FEEDBACK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Complete the course feedback form shared by your trainer before you leave.</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Tell us what worked and what we can improve — every response is read.</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Your certificate of completion will be emailed to you after the course.</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Keep the slides and Learner Guide as your reference after class.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are now equipped to close sales with empathy-driven, people-focused selling that earns trust and drives results.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Achieving Sales Goals with Customer-Centric Selling Techniques  ·  C1088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